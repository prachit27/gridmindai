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problem, not the tech. The card on the right lets judges see the mandatory stack without me reciting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criterion. Keep it short; the next slide is the one that lands.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the pitch rests on. Say the numbers, then pause.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a rubric question head-on: the split is enforced by infrastructure, not by asking the model to stay in its lane.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negotiation turns four opinions into one plan. Stress that the orchestrator does not count votes.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the boxes. Say the shape: the most exposed service holds the least privilege, and everything else is off the internet entirely.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Rules point is the strongest technical finding here. Say it plainly — most teams get this wrong.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Maps one-to-one onto a rubric question. Guardrails block 6 of 6 bad verdicts, including one hiding an impossible zone in its proposed alternative.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video shows all three running unedited — that is the 'proof of action' the rubric asks for.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straight about the partial one buys credibility for the other six.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trust a team more when it draws its own boundary before they have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one-liner, not a thank-you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685800" y="1783080"/>
            <a:ext cx="7680960" cy="1051560"/>
          </a:xfrm>
          <a:prstGeom prst="rect">
            <a:avLst/>
          </a:prstGeom>
          <a:noFill/>
        </p:spPr>
        <p:txBody>
          <a:bodyPr wrap="square" anchor="t" lIns="0" rIns="0" tIns="0" bIns="0">
            <a:spAutoFit/>
          </a:bodyPr>
          <a:lstStyle/>
          <a:p>
            <a:pPr algn="l"/>
            <a:r>
              <a:rPr sz="6000" b="1" i="0">
                <a:solidFill>
                  <a:srgbClr val="EEF2F7"/>
                </a:solidFill>
                <a:latin typeface="Arial"/>
              </a:rPr>
              <a:t>GridMind</a:t>
            </a:r>
          </a:p>
        </p:txBody>
      </p:sp>
      <p:sp>
        <p:nvSpPr>
          <p:cNvPr id="3" name="TextBox 2"/>
          <p:cNvSpPr txBox="1"/>
          <p:nvPr/>
        </p:nvSpPr>
        <p:spPr>
          <a:xfrm>
            <a:off x="713232" y="2834640"/>
            <a:ext cx="7863840" cy="457200"/>
          </a:xfrm>
          <a:prstGeom prst="rect">
            <a:avLst/>
          </a:prstGeom>
          <a:noFill/>
        </p:spPr>
        <p:txBody>
          <a:bodyPr wrap="square" anchor="t" lIns="0" rIns="0" tIns="0" bIns="0">
            <a:spAutoFit/>
          </a:bodyPr>
          <a:lstStyle/>
          <a:p>
            <a:pPr algn="l"/>
            <a:r>
              <a:rPr sz="2100" b="0" i="0">
                <a:solidFill>
                  <a:srgbClr val="4DD6FF"/>
                </a:solidFill>
                <a:latin typeface="Calibri"/>
              </a:rPr>
              <a:t>Four agents that disagree, into one workable plan.</a:t>
            </a:r>
          </a:p>
        </p:txBody>
      </p:sp>
      <p:sp>
        <p:nvSpPr>
          <p:cNvPr id="4" name="TextBox 3"/>
          <p:cNvSpPr txBox="1"/>
          <p:nvPr/>
        </p:nvSpPr>
        <p:spPr>
          <a:xfrm>
            <a:off x="713232" y="3438144"/>
            <a:ext cx="7589520" cy="1005840"/>
          </a:xfrm>
          <a:prstGeom prst="rect">
            <a:avLst/>
          </a:prstGeom>
          <a:noFill/>
        </p:spPr>
        <p:txBody>
          <a:bodyPr wrap="square" anchor="t" lIns="0" rIns="0" tIns="0" bIns="0">
            <a:spAutoFit/>
          </a:bodyPr>
          <a:lstStyle/>
          <a:p>
            <a:pPr algn="l">
              <a:lnSpc>
                <a:spcPts val="2100"/>
              </a:lnSpc>
            </a:pPr>
            <a:r>
              <a:rPr sz="1400" b="0" i="0">
                <a:solidFill>
                  <a:srgbClr val="9AA8BA"/>
                </a:solidFill>
                <a:latin typeface="Calibri"/>
              </a:rPr>
              <a:t>A data center capacity request has to clear power, cooling, floor space and budget at the same time. Four teams check four things, in four inboxes, over several days — and nobody checks them together.</a:t>
            </a:r>
          </a:p>
        </p:txBody>
      </p:sp>
      <p:sp>
        <p:nvSpPr>
          <p:cNvPr id="5" name="Rounded Rectangle 4"/>
          <p:cNvSpPr/>
          <p:nvPr/>
        </p:nvSpPr>
        <p:spPr>
          <a:xfrm>
            <a:off x="8732520" y="1737360"/>
            <a:ext cx="2834640" cy="324612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006840" y="1993392"/>
            <a:ext cx="2377440" cy="237744"/>
          </a:xfrm>
          <a:prstGeom prst="rect">
            <a:avLst/>
          </a:prstGeom>
          <a:noFill/>
        </p:spPr>
        <p:txBody>
          <a:bodyPr wrap="square" anchor="t" lIns="0" rIns="0" tIns="0" bIns="0">
            <a:spAutoFit/>
          </a:bodyPr>
          <a:lstStyle/>
          <a:p>
            <a:pPr algn="l"/>
            <a:r>
              <a:rPr sz="1050" b="0" i="0">
                <a:solidFill>
                  <a:srgbClr val="6B7A8D"/>
                </a:solidFill>
                <a:latin typeface="Calibri"/>
              </a:rPr>
              <a:t>Track</a:t>
            </a:r>
          </a:p>
        </p:txBody>
      </p:sp>
      <p:sp>
        <p:nvSpPr>
          <p:cNvPr id="7" name="TextBox 6"/>
          <p:cNvSpPr txBox="1"/>
          <p:nvPr/>
        </p:nvSpPr>
        <p:spPr>
          <a:xfrm>
            <a:off x="9006840" y="2221992"/>
            <a:ext cx="2377440" cy="621792"/>
          </a:xfrm>
          <a:prstGeom prst="rect">
            <a:avLst/>
          </a:prstGeom>
          <a:noFill/>
        </p:spPr>
        <p:txBody>
          <a:bodyPr wrap="square" anchor="t" lIns="0" rIns="0" tIns="0" bIns="0">
            <a:spAutoFit/>
          </a:bodyPr>
          <a:lstStyle/>
          <a:p>
            <a:pPr algn="l">
              <a:lnSpc>
                <a:spcPts val="1600"/>
              </a:lnSpc>
            </a:pPr>
            <a:r>
              <a:rPr sz="1300" b="1" i="0">
                <a:solidFill>
                  <a:srgbClr val="EEF2F7"/>
                </a:solidFill>
                <a:latin typeface="Arial"/>
              </a:rPr>
              <a:t>The Fortified</a:t>
            </a:r>
          </a:p>
          <a:p>
            <a:pPr algn="l">
              <a:lnSpc>
                <a:spcPts val="1600"/>
              </a:lnSpc>
            </a:pPr>
            <a:r>
              <a:rPr sz="1300" b="1" i="0">
                <a:solidFill>
                  <a:srgbClr val="EEF2F7"/>
                </a:solidFill>
                <a:latin typeface="Arial"/>
              </a:rPr>
              <a:t>Enterprise Fleet</a:t>
            </a:r>
          </a:p>
        </p:txBody>
      </p:sp>
      <p:sp>
        <p:nvSpPr>
          <p:cNvPr id="8" name="TextBox 7"/>
          <p:cNvSpPr txBox="1"/>
          <p:nvPr/>
        </p:nvSpPr>
        <p:spPr>
          <a:xfrm>
            <a:off x="9006840" y="2999232"/>
            <a:ext cx="2377440" cy="237744"/>
          </a:xfrm>
          <a:prstGeom prst="rect">
            <a:avLst/>
          </a:prstGeom>
          <a:noFill/>
        </p:spPr>
        <p:txBody>
          <a:bodyPr wrap="square" anchor="t" lIns="0" rIns="0" tIns="0" bIns="0">
            <a:spAutoFit/>
          </a:bodyPr>
          <a:lstStyle/>
          <a:p>
            <a:pPr algn="l"/>
            <a:r>
              <a:rPr sz="1050" b="0" i="0">
                <a:solidFill>
                  <a:srgbClr val="6B7A8D"/>
                </a:solidFill>
                <a:latin typeface="Calibri"/>
              </a:rPr>
              <a:t>Live</a:t>
            </a:r>
          </a:p>
        </p:txBody>
      </p:sp>
      <p:sp>
        <p:nvSpPr>
          <p:cNvPr id="9" name="TextBox 8"/>
          <p:cNvSpPr txBox="1"/>
          <p:nvPr/>
        </p:nvSpPr>
        <p:spPr>
          <a:xfrm>
            <a:off x="9006840" y="3227832"/>
            <a:ext cx="2377440" cy="621792"/>
          </a:xfrm>
          <a:prstGeom prst="rect">
            <a:avLst/>
          </a:prstGeom>
          <a:noFill/>
        </p:spPr>
        <p:txBody>
          <a:bodyPr wrap="square" anchor="t" lIns="0" rIns="0" tIns="0" bIns="0">
            <a:spAutoFit/>
          </a:bodyPr>
          <a:lstStyle/>
          <a:p>
            <a:pPr algn="l">
              <a:lnSpc>
                <a:spcPts val="1600"/>
              </a:lnSpc>
            </a:pPr>
            <a:r>
              <a:rPr sz="1150" b="0" i="0">
                <a:solidFill>
                  <a:srgbClr val="4DD6FF"/>
                </a:solidFill>
                <a:latin typeface="Calibri"/>
              </a:rPr>
              <a:t>gridmind-wuvfpvopoq</a:t>
            </a:r>
          </a:p>
          <a:p>
            <a:pPr algn="l">
              <a:lnSpc>
                <a:spcPts val="1600"/>
              </a:lnSpc>
            </a:pPr>
            <a:r>
              <a:rPr sz="1150" b="0" i="0">
                <a:solidFill>
                  <a:srgbClr val="4DD6FF"/>
                </a:solidFill>
                <a:latin typeface="Calibri"/>
              </a:rPr>
              <a:t>-uk.a.run.app</a:t>
            </a:r>
          </a:p>
        </p:txBody>
      </p:sp>
      <p:sp>
        <p:nvSpPr>
          <p:cNvPr id="10" name="TextBox 9"/>
          <p:cNvSpPr txBox="1"/>
          <p:nvPr/>
        </p:nvSpPr>
        <p:spPr>
          <a:xfrm>
            <a:off x="9006840" y="4005072"/>
            <a:ext cx="2377440" cy="237744"/>
          </a:xfrm>
          <a:prstGeom prst="rect">
            <a:avLst/>
          </a:prstGeom>
          <a:noFill/>
        </p:spPr>
        <p:txBody>
          <a:bodyPr wrap="square" anchor="t" lIns="0" rIns="0" tIns="0" bIns="0">
            <a:spAutoFit/>
          </a:bodyPr>
          <a:lstStyle/>
          <a:p>
            <a:pPr algn="l"/>
            <a:r>
              <a:rPr sz="1050" b="0" i="0">
                <a:solidFill>
                  <a:srgbClr val="6B7A8D"/>
                </a:solidFill>
                <a:latin typeface="Calibri"/>
              </a:rPr>
              <a:t>Built on</a:t>
            </a:r>
          </a:p>
        </p:txBody>
      </p:sp>
      <p:sp>
        <p:nvSpPr>
          <p:cNvPr id="11" name="TextBox 10"/>
          <p:cNvSpPr txBox="1"/>
          <p:nvPr/>
        </p:nvSpPr>
        <p:spPr>
          <a:xfrm>
            <a:off x="9006840" y="4233672"/>
            <a:ext cx="2377440" cy="621792"/>
          </a:xfrm>
          <a:prstGeom prst="rect">
            <a:avLst/>
          </a:prstGeom>
          <a:noFill/>
        </p:spPr>
        <p:txBody>
          <a:bodyPr wrap="square" anchor="t" lIns="0" rIns="0" tIns="0" bIns="0">
            <a:spAutoFit/>
          </a:bodyPr>
          <a:lstStyle/>
          <a:p>
            <a:pPr algn="l">
              <a:lnSpc>
                <a:spcPts val="1600"/>
              </a:lnSpc>
            </a:pPr>
            <a:r>
              <a:rPr sz="1150" b="0" i="0">
                <a:solidFill>
                  <a:srgbClr val="9AA8BA"/>
                </a:solidFill>
                <a:latin typeface="Calibri"/>
              </a:rPr>
              <a:t>Gemini 3.5 · Vertex AI</a:t>
            </a:r>
          </a:p>
          <a:p>
            <a:pPr algn="l">
              <a:lnSpc>
                <a:spcPts val="1600"/>
              </a:lnSpc>
            </a:pPr>
            <a:r>
              <a:rPr sz="1150" b="0" i="0">
                <a:solidFill>
                  <a:srgbClr val="9AA8BA"/>
                </a:solidFill>
                <a:latin typeface="Calibri"/>
              </a:rPr>
              <a:t>Cloud Run · Firestore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i="0">
                <a:solidFill>
                  <a:srgbClr val="EEF2F7"/>
                </a:solidFill>
                <a:latin typeface="Arial"/>
              </a:rPr>
              <a:t>The friction we set out to remove</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i="0">
                <a:solidFill>
                  <a:srgbClr val="9AA8BA"/>
                </a:solidFill>
                <a:latin typeface="Calibri"/>
              </a:rPr>
              <a:t>Innovation &amp; Operational Utility — 40% of the score</a:t>
            </a:r>
          </a:p>
        </p:txBody>
      </p:sp>
      <p:sp>
        <p:nvSpPr>
          <p:cNvPr id="4" name="Rounded Rectangle 3"/>
          <p:cNvSpPr/>
          <p:nvPr/>
        </p:nvSpPr>
        <p:spPr>
          <a:xfrm>
            <a:off x="548640" y="1572768"/>
            <a:ext cx="5943600" cy="65836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86384" y="1773936"/>
            <a:ext cx="256032" cy="256032"/>
          </a:xfrm>
          <a:prstGeom prst="ellipse">
            <a:avLst/>
          </a:prstGeom>
          <a:solidFill>
            <a:srgbClr val="4D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664208"/>
            <a:ext cx="2560320" cy="256032"/>
          </a:xfrm>
          <a:prstGeom prst="rect">
            <a:avLst/>
          </a:prstGeom>
          <a:noFill/>
        </p:spPr>
        <p:txBody>
          <a:bodyPr wrap="square" anchor="t" lIns="0" rIns="0" tIns="0" bIns="0">
            <a:spAutoFit/>
          </a:bodyPr>
          <a:lstStyle/>
          <a:p>
            <a:pPr algn="l"/>
            <a:r>
              <a:rPr sz="1350" b="1" i="0">
                <a:solidFill>
                  <a:srgbClr val="EEF2F7"/>
                </a:solidFill>
                <a:latin typeface="Calibri"/>
              </a:rPr>
              <a:t>Power engineering</a:t>
            </a:r>
          </a:p>
        </p:txBody>
      </p:sp>
      <p:sp>
        <p:nvSpPr>
          <p:cNvPr id="7" name="TextBox 6"/>
          <p:cNvSpPr txBox="1"/>
          <p:nvPr/>
        </p:nvSpPr>
        <p:spPr>
          <a:xfrm>
            <a:off x="1188720" y="1920240"/>
            <a:ext cx="4937760" cy="256032"/>
          </a:xfrm>
          <a:prstGeom prst="rect">
            <a:avLst/>
          </a:prstGeom>
          <a:noFill/>
        </p:spPr>
        <p:txBody>
          <a:bodyPr wrap="square" anchor="t" lIns="0" rIns="0" tIns="0" bIns="0">
            <a:spAutoFit/>
          </a:bodyPr>
          <a:lstStyle/>
          <a:p>
            <a:pPr algn="l"/>
            <a:r>
              <a:rPr sz="1150" b="0" i="0">
                <a:solidFill>
                  <a:srgbClr val="9AA8BA"/>
                </a:solidFill>
                <a:latin typeface="Calibri"/>
              </a:rPr>
              <a:t>breaker capacity, spare circuits, grid events</a:t>
            </a:r>
          </a:p>
        </p:txBody>
      </p:sp>
      <p:sp>
        <p:nvSpPr>
          <p:cNvPr id="8" name="Rounded Rectangle 7"/>
          <p:cNvSpPr/>
          <p:nvPr/>
        </p:nvSpPr>
        <p:spPr>
          <a:xfrm>
            <a:off x="548640" y="2331720"/>
            <a:ext cx="5943600" cy="65836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86384" y="2532888"/>
            <a:ext cx="256032" cy="256032"/>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2423160"/>
            <a:ext cx="2560320" cy="256032"/>
          </a:xfrm>
          <a:prstGeom prst="rect">
            <a:avLst/>
          </a:prstGeom>
          <a:noFill/>
        </p:spPr>
        <p:txBody>
          <a:bodyPr wrap="square" anchor="t" lIns="0" rIns="0" tIns="0" bIns="0">
            <a:spAutoFit/>
          </a:bodyPr>
          <a:lstStyle/>
          <a:p>
            <a:pPr algn="l"/>
            <a:r>
              <a:rPr sz="1350" b="1" i="0">
                <a:solidFill>
                  <a:srgbClr val="EEF2F7"/>
                </a:solidFill>
                <a:latin typeface="Calibri"/>
              </a:rPr>
              <a:t>Cooling / thermal ops</a:t>
            </a:r>
          </a:p>
        </p:txBody>
      </p:sp>
      <p:sp>
        <p:nvSpPr>
          <p:cNvPr id="11" name="TextBox 10"/>
          <p:cNvSpPr txBox="1"/>
          <p:nvPr/>
        </p:nvSpPr>
        <p:spPr>
          <a:xfrm>
            <a:off x="1188720" y="2679191"/>
            <a:ext cx="4937760" cy="256032"/>
          </a:xfrm>
          <a:prstGeom prst="rect">
            <a:avLst/>
          </a:prstGeom>
          <a:noFill/>
        </p:spPr>
        <p:txBody>
          <a:bodyPr wrap="square" anchor="t" lIns="0" rIns="0" tIns="0" bIns="0">
            <a:spAutoFit/>
          </a:bodyPr>
          <a:lstStyle/>
          <a:p>
            <a:pPr algn="l"/>
            <a:r>
              <a:rPr sz="1150" b="0" i="0">
                <a:solidFill>
                  <a:srgbClr val="9AA8BA"/>
                </a:solidFill>
                <a:latin typeface="Calibri"/>
              </a:rPr>
              <a:t>heat removal, efficiency, water permits</a:t>
            </a:r>
          </a:p>
        </p:txBody>
      </p:sp>
      <p:sp>
        <p:nvSpPr>
          <p:cNvPr id="12" name="Rounded Rectangle 11"/>
          <p:cNvSpPr/>
          <p:nvPr/>
        </p:nvSpPr>
        <p:spPr>
          <a:xfrm>
            <a:off x="548640" y="3090672"/>
            <a:ext cx="5943600" cy="65836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86384" y="3291840"/>
            <a:ext cx="256032" cy="256032"/>
          </a:xfrm>
          <a:prstGeom prst="ellipse">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182112"/>
            <a:ext cx="2560320" cy="256032"/>
          </a:xfrm>
          <a:prstGeom prst="rect">
            <a:avLst/>
          </a:prstGeom>
          <a:noFill/>
        </p:spPr>
        <p:txBody>
          <a:bodyPr wrap="square" anchor="t" lIns="0" rIns="0" tIns="0" bIns="0">
            <a:spAutoFit/>
          </a:bodyPr>
          <a:lstStyle/>
          <a:p>
            <a:pPr algn="l"/>
            <a:r>
              <a:rPr sz="1350" b="1" i="0">
                <a:solidFill>
                  <a:srgbClr val="EEF2F7"/>
                </a:solidFill>
                <a:latin typeface="Calibri"/>
              </a:rPr>
              <a:t>Facilities / DCOps</a:t>
            </a:r>
          </a:p>
        </p:txBody>
      </p:sp>
      <p:sp>
        <p:nvSpPr>
          <p:cNvPr id="15" name="TextBox 14"/>
          <p:cNvSpPr txBox="1"/>
          <p:nvPr/>
        </p:nvSpPr>
        <p:spPr>
          <a:xfrm>
            <a:off x="1188720" y="3438144"/>
            <a:ext cx="4937760" cy="256032"/>
          </a:xfrm>
          <a:prstGeom prst="rect">
            <a:avLst/>
          </a:prstGeom>
          <a:noFill/>
        </p:spPr>
        <p:txBody>
          <a:bodyPr wrap="square" anchor="t" lIns="0" rIns="0" tIns="0" bIns="0">
            <a:spAutoFit/>
          </a:bodyPr>
          <a:lstStyle/>
          <a:p>
            <a:pPr algn="l"/>
            <a:r>
              <a:rPr sz="1150" b="0" i="0">
                <a:solidFill>
                  <a:srgbClr val="9AA8BA"/>
                </a:solidFill>
                <a:latin typeface="Calibri"/>
              </a:rPr>
              <a:t>rack space, floor loading, install crews</a:t>
            </a:r>
          </a:p>
        </p:txBody>
      </p:sp>
      <p:sp>
        <p:nvSpPr>
          <p:cNvPr id="16" name="Rounded Rectangle 15"/>
          <p:cNvSpPr/>
          <p:nvPr/>
        </p:nvSpPr>
        <p:spPr>
          <a:xfrm>
            <a:off x="548640" y="3849624"/>
            <a:ext cx="5943600" cy="65836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86384" y="4050791"/>
            <a:ext cx="256032" cy="256032"/>
          </a:xfrm>
          <a:prstGeom prst="ellipse">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3941063"/>
            <a:ext cx="2560320" cy="256032"/>
          </a:xfrm>
          <a:prstGeom prst="rect">
            <a:avLst/>
          </a:prstGeom>
          <a:noFill/>
        </p:spPr>
        <p:txBody>
          <a:bodyPr wrap="square" anchor="t" lIns="0" rIns="0" tIns="0" bIns="0">
            <a:spAutoFit/>
          </a:bodyPr>
          <a:lstStyle/>
          <a:p>
            <a:pPr algn="l"/>
            <a:r>
              <a:rPr sz="1350" b="1" i="0">
                <a:solidFill>
                  <a:srgbClr val="EEF2F7"/>
                </a:solidFill>
                <a:latin typeface="Calibri"/>
              </a:rPr>
              <a:t>Finance / procurement</a:t>
            </a:r>
          </a:p>
        </p:txBody>
      </p:sp>
      <p:sp>
        <p:nvSpPr>
          <p:cNvPr id="19" name="TextBox 18"/>
          <p:cNvSpPr txBox="1"/>
          <p:nvPr/>
        </p:nvSpPr>
        <p:spPr>
          <a:xfrm>
            <a:off x="1188720" y="4197096"/>
            <a:ext cx="4937760" cy="256032"/>
          </a:xfrm>
          <a:prstGeom prst="rect">
            <a:avLst/>
          </a:prstGeom>
          <a:noFill/>
        </p:spPr>
        <p:txBody>
          <a:bodyPr wrap="square" anchor="t" lIns="0" rIns="0" tIns="0" bIns="0">
            <a:spAutoFit/>
          </a:bodyPr>
          <a:lstStyle/>
          <a:p>
            <a:pPr algn="l"/>
            <a:r>
              <a:rPr sz="1150" b="0" i="0">
                <a:solidFill>
                  <a:srgbClr val="9AA8BA"/>
                </a:solidFill>
                <a:latin typeface="Calibri"/>
              </a:rPr>
              <a:t>budget, cost per GPU-hour, capex</a:t>
            </a:r>
          </a:p>
        </p:txBody>
      </p:sp>
      <p:sp>
        <p:nvSpPr>
          <p:cNvPr id="20" name="Rounded Rectangle 19"/>
          <p:cNvSpPr/>
          <p:nvPr/>
        </p:nvSpPr>
        <p:spPr>
          <a:xfrm>
            <a:off x="6858000" y="1572768"/>
            <a:ext cx="4754880" cy="324612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78040" y="1847088"/>
            <a:ext cx="4114800" cy="777240"/>
          </a:xfrm>
          <a:prstGeom prst="rect">
            <a:avLst/>
          </a:prstGeom>
          <a:noFill/>
        </p:spPr>
        <p:txBody>
          <a:bodyPr wrap="square" anchor="t" lIns="0" rIns="0" tIns="0" bIns="0">
            <a:spAutoFit/>
          </a:bodyPr>
          <a:lstStyle/>
          <a:p>
            <a:pPr algn="l">
              <a:lnSpc>
                <a:spcPts val="2500"/>
              </a:lnSpc>
            </a:pPr>
            <a:r>
              <a:rPr sz="1900" b="1" i="0">
                <a:solidFill>
                  <a:srgbClr val="EEF2F7"/>
                </a:solidFill>
                <a:latin typeface="Arial"/>
              </a:rPr>
              <a:t>Each one is right.</a:t>
            </a:r>
          </a:p>
          <a:p>
            <a:pPr algn="l">
              <a:lnSpc>
                <a:spcPts val="2500"/>
              </a:lnSpc>
            </a:pPr>
            <a:r>
              <a:rPr sz="1900" b="1" i="0">
                <a:solidFill>
                  <a:srgbClr val="EEF2F7"/>
                </a:solidFill>
                <a:latin typeface="Arial"/>
              </a:rPr>
              <a:t>Nobody owns the joint check.</a:t>
            </a:r>
          </a:p>
        </p:txBody>
      </p:sp>
      <p:sp>
        <p:nvSpPr>
          <p:cNvPr id="22" name="TextBox 21"/>
          <p:cNvSpPr txBox="1"/>
          <p:nvPr/>
        </p:nvSpPr>
        <p:spPr>
          <a:xfrm>
            <a:off x="7178040" y="2743200"/>
            <a:ext cx="4114800" cy="1920240"/>
          </a:xfrm>
          <a:prstGeom prst="rect">
            <a:avLst/>
          </a:prstGeom>
          <a:noFill/>
        </p:spPr>
        <p:txBody>
          <a:bodyPr wrap="square" anchor="t" lIns="0" rIns="0" tIns="0" bIns="0">
            <a:spAutoFit/>
          </a:bodyPr>
          <a:lstStyle/>
          <a:p>
            <a:pPr algn="l">
              <a:lnSpc>
                <a:spcPts val="1900"/>
              </a:lnSpc>
            </a:pPr>
            <a:r>
              <a:rPr sz="1250" b="0" i="0">
                <a:solidFill>
                  <a:srgbClr val="9AA8BA"/>
                </a:solidFill>
                <a:latin typeface="Calibri"/>
              </a:rPr>
              <a:t>Requests are routed sequentially — email, Slack, spreadsheets. Every approval is correct on its own axis, and no one checks whether they describe the same plan.</a:t>
            </a:r>
          </a:p>
          <a:p>
            <a:pPr algn="l">
              <a:lnSpc>
                <a:spcPts val="1900"/>
              </a:lnSpc>
            </a:pPr>
            <a:r>
              <a:rPr sz="1250" b="0" i="0">
                <a:solidFill>
                  <a:srgbClr val="9AA8BA"/>
                </a:solidFill>
                <a:latin typeface="Calibri"/>
              </a:rPr>
              <a:t/>
            </a:r>
          </a:p>
          <a:p>
            <a:pPr algn="l">
              <a:lnSpc>
                <a:spcPts val="1900"/>
              </a:lnSpc>
            </a:pPr>
            <a:r>
              <a:rPr sz="1250" b="0" i="0">
                <a:solidFill>
                  <a:srgbClr val="9AA8BA"/>
                </a:solidFill>
                <a:latin typeface="Calibri"/>
              </a:rPr>
              <a:t>What that leaves behind has a name in the industry: stranded capacity. Megawatts you have paid for and cannot use.</a:t>
            </a:r>
          </a:p>
        </p:txBody>
      </p:sp>
      <p:sp>
        <p:nvSpPr>
          <p:cNvPr id="23" name="TextBox 22"/>
          <p:cNvSpPr txBox="1"/>
          <p:nvPr/>
        </p:nvSpPr>
        <p:spPr>
          <a:xfrm>
            <a:off x="548640" y="5074920"/>
            <a:ext cx="2743200" cy="640080"/>
          </a:xfrm>
          <a:prstGeom prst="rect">
            <a:avLst/>
          </a:prstGeom>
          <a:noFill/>
        </p:spPr>
        <p:txBody>
          <a:bodyPr wrap="square" anchor="t" lIns="0" rIns="0" tIns="0" bIns="0">
            <a:spAutoFit/>
          </a:bodyPr>
          <a:lstStyle/>
          <a:p>
            <a:pPr algn="l"/>
            <a:r>
              <a:rPr sz="3800" b="1" i="0">
                <a:solidFill>
                  <a:srgbClr val="FBBF24"/>
                </a:solidFill>
                <a:latin typeface="Arial"/>
              </a:rPr>
              <a:t>days</a:t>
            </a:r>
          </a:p>
        </p:txBody>
      </p:sp>
      <p:sp>
        <p:nvSpPr>
          <p:cNvPr id="24" name="TextBox 23"/>
          <p:cNvSpPr txBox="1"/>
          <p:nvPr/>
        </p:nvSpPr>
        <p:spPr>
          <a:xfrm>
            <a:off x="548640" y="5705856"/>
            <a:ext cx="2743200" cy="274320"/>
          </a:xfrm>
          <a:prstGeom prst="rect">
            <a:avLst/>
          </a:prstGeom>
          <a:noFill/>
        </p:spPr>
        <p:txBody>
          <a:bodyPr wrap="square" anchor="t" lIns="0" rIns="0" tIns="0" bIns="0">
            <a:spAutoFit/>
          </a:bodyPr>
          <a:lstStyle/>
          <a:p>
            <a:pPr algn="l"/>
            <a:r>
              <a:rPr sz="1200" b="0" i="0">
                <a:solidFill>
                  <a:srgbClr val="9AA8BA"/>
                </a:solidFill>
                <a:latin typeface="Calibri"/>
              </a:rPr>
              <a:t>to place one workload</a:t>
            </a:r>
          </a:p>
        </p:txBody>
      </p:sp>
      <p:sp>
        <p:nvSpPr>
          <p:cNvPr id="25" name="TextBox 24"/>
          <p:cNvSpPr txBox="1"/>
          <p:nvPr/>
        </p:nvSpPr>
        <p:spPr>
          <a:xfrm>
            <a:off x="3566160" y="5074920"/>
            <a:ext cx="2743200" cy="640080"/>
          </a:xfrm>
          <a:prstGeom prst="rect">
            <a:avLst/>
          </a:prstGeom>
          <a:noFill/>
        </p:spPr>
        <p:txBody>
          <a:bodyPr wrap="square" anchor="t" lIns="0" rIns="0" tIns="0" bIns="0">
            <a:spAutoFit/>
          </a:bodyPr>
          <a:lstStyle/>
          <a:p>
            <a:pPr algn="l"/>
            <a:r>
              <a:rPr sz="3800" b="1" i="0">
                <a:solidFill>
                  <a:srgbClr val="F87171"/>
                </a:solidFill>
                <a:latin typeface="Arial"/>
              </a:rPr>
              <a:t>0</a:t>
            </a:r>
          </a:p>
        </p:txBody>
      </p:sp>
      <p:sp>
        <p:nvSpPr>
          <p:cNvPr id="26" name="TextBox 25"/>
          <p:cNvSpPr txBox="1"/>
          <p:nvPr/>
        </p:nvSpPr>
        <p:spPr>
          <a:xfrm>
            <a:off x="3566160" y="5705856"/>
            <a:ext cx="2743200" cy="274320"/>
          </a:xfrm>
          <a:prstGeom prst="rect">
            <a:avLst/>
          </a:prstGeom>
          <a:noFill/>
        </p:spPr>
        <p:txBody>
          <a:bodyPr wrap="square" anchor="t" lIns="0" rIns="0" tIns="0" bIns="0">
            <a:spAutoFit/>
          </a:bodyPr>
          <a:lstStyle/>
          <a:p>
            <a:pPr algn="l"/>
            <a:r>
              <a:rPr sz="1200" b="0" i="0">
                <a:solidFill>
                  <a:srgbClr val="9AA8BA"/>
                </a:solidFill>
                <a:latin typeface="Calibri"/>
              </a:rPr>
              <a:t>teams checking jointly</a:t>
            </a:r>
          </a:p>
        </p:txBody>
      </p:sp>
      <p:sp>
        <p:nvSpPr>
          <p:cNvPr id="27" name="TextBox 26"/>
          <p:cNvSpPr txBox="1"/>
          <p:nvPr/>
        </p:nvSpPr>
        <p:spPr>
          <a:xfrm>
            <a:off x="6858000" y="5074920"/>
            <a:ext cx="4754880" cy="640080"/>
          </a:xfrm>
          <a:prstGeom prst="rect">
            <a:avLst/>
          </a:prstGeom>
          <a:noFill/>
        </p:spPr>
        <p:txBody>
          <a:bodyPr wrap="square" anchor="t" lIns="0" rIns="0" tIns="0" bIns="0">
            <a:spAutoFit/>
          </a:bodyPr>
          <a:lstStyle/>
          <a:p>
            <a:pPr algn="l"/>
            <a:r>
              <a:rPr sz="3800" b="1" i="0">
                <a:solidFill>
                  <a:srgbClr val="34D399"/>
                </a:solidFill>
                <a:latin typeface="Arial"/>
              </a:rPr>
              <a:t>~90 sec</a:t>
            </a:r>
          </a:p>
        </p:txBody>
      </p:sp>
      <p:sp>
        <p:nvSpPr>
          <p:cNvPr id="28" name="TextBox 27"/>
          <p:cNvSpPr txBox="1"/>
          <p:nvPr/>
        </p:nvSpPr>
        <p:spPr>
          <a:xfrm>
            <a:off x="6858000" y="5705856"/>
            <a:ext cx="4754880" cy="365760"/>
          </a:xfrm>
          <a:prstGeom prst="rect">
            <a:avLst/>
          </a:prstGeom>
          <a:noFill/>
        </p:spPr>
        <p:txBody>
          <a:bodyPr wrap="square" anchor="t" lIns="0" rIns="0" tIns="0" bIns="0">
            <a:spAutoFit/>
          </a:bodyPr>
          <a:lstStyle/>
          <a:p>
            <a:pPr algn="l"/>
            <a:r>
              <a:rPr sz="1200" b="0" i="0">
                <a:solidFill>
                  <a:srgbClr val="9AA8BA"/>
                </a:solidFill>
                <a:latin typeface="Calibri"/>
              </a:rPr>
              <a:t>with GridMind — and the reasoning is written down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i="0">
                <a:solidFill>
                  <a:srgbClr val="EEF2F7"/>
                </a:solidFill>
                <a:latin typeface="Arial"/>
              </a:rPr>
              <a:t>Four correct answers. Zero valid plans.</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i="0">
                <a:solidFill>
                  <a:srgbClr val="9AA8BA"/>
                </a:solidFill>
                <a:latin typeface="Calibri"/>
              </a:rPr>
              <a:t>Round one of a real run — 6 racks of GB200 NVL72, 792 kW, liquid cooled</a:t>
            </a:r>
          </a:p>
        </p:txBody>
      </p:sp>
      <p:sp>
        <p:nvSpPr>
          <p:cNvPr id="4" name="Rounded Rectangle 3"/>
          <p:cNvSpPr/>
          <p:nvPr/>
        </p:nvSpPr>
        <p:spPr>
          <a:xfrm>
            <a:off x="548640" y="1627632"/>
            <a:ext cx="2670048" cy="173736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86384" y="1792224"/>
            <a:ext cx="2194560" cy="274320"/>
          </a:xfrm>
          <a:prstGeom prst="rect">
            <a:avLst/>
          </a:prstGeom>
          <a:noFill/>
        </p:spPr>
        <p:txBody>
          <a:bodyPr wrap="square" anchor="t" lIns="0" rIns="0" tIns="0" bIns="0">
            <a:spAutoFit/>
          </a:bodyPr>
          <a:lstStyle/>
          <a:p>
            <a:pPr algn="l"/>
            <a:r>
              <a:rPr sz="1300" b="1" i="0">
                <a:solidFill>
                  <a:srgbClr val="9AA8BA"/>
                </a:solidFill>
                <a:latin typeface="Calibri"/>
              </a:rPr>
              <a:t>Power</a:t>
            </a:r>
          </a:p>
        </p:txBody>
      </p:sp>
      <p:sp>
        <p:nvSpPr>
          <p:cNvPr id="6" name="TextBox 5"/>
          <p:cNvSpPr txBox="1"/>
          <p:nvPr/>
        </p:nvSpPr>
        <p:spPr>
          <a:xfrm>
            <a:off x="786384" y="2103120"/>
            <a:ext cx="2194560" cy="457200"/>
          </a:xfrm>
          <a:prstGeom prst="rect">
            <a:avLst/>
          </a:prstGeom>
          <a:noFill/>
        </p:spPr>
        <p:txBody>
          <a:bodyPr wrap="square" anchor="t" lIns="0" rIns="0" tIns="0" bIns="0">
            <a:spAutoFit/>
          </a:bodyPr>
          <a:lstStyle/>
          <a:p>
            <a:pPr algn="l"/>
            <a:r>
              <a:rPr sz="2500" b="1" i="0">
                <a:solidFill>
                  <a:srgbClr val="F87171"/>
                </a:solidFill>
                <a:latin typeface="Courier New"/>
              </a:rPr>
              <a:t>zone-a</a:t>
            </a:r>
          </a:p>
        </p:txBody>
      </p:sp>
      <p:sp>
        <p:nvSpPr>
          <p:cNvPr id="7" name="TextBox 6"/>
          <p:cNvSpPr txBox="1"/>
          <p:nvPr/>
        </p:nvSpPr>
        <p:spPr>
          <a:xfrm>
            <a:off x="786384" y="2633472"/>
            <a:ext cx="2212848" cy="640080"/>
          </a:xfrm>
          <a:prstGeom prst="rect">
            <a:avLst/>
          </a:prstGeom>
          <a:noFill/>
        </p:spPr>
        <p:txBody>
          <a:bodyPr wrap="square" anchor="t" lIns="0" rIns="0" tIns="0" bIns="0">
            <a:spAutoFit/>
          </a:bodyPr>
          <a:lstStyle/>
          <a:p>
            <a:pPr algn="l">
              <a:lnSpc>
                <a:spcPts val="1500"/>
              </a:lnSpc>
            </a:pPr>
            <a:r>
              <a:rPr sz="1100" b="0" i="0">
                <a:solidFill>
                  <a:srgbClr val="6B7A8D"/>
                </a:solidFill>
                <a:latin typeface="Calibri"/>
              </a:rPr>
              <a:t>most electrical headroom</a:t>
            </a:r>
          </a:p>
        </p:txBody>
      </p:sp>
      <p:sp>
        <p:nvSpPr>
          <p:cNvPr id="8" name="Rounded Rectangle 7"/>
          <p:cNvSpPr/>
          <p:nvPr/>
        </p:nvSpPr>
        <p:spPr>
          <a:xfrm>
            <a:off x="3346704" y="1627632"/>
            <a:ext cx="2670048" cy="173736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84448" y="1792224"/>
            <a:ext cx="2194560" cy="274320"/>
          </a:xfrm>
          <a:prstGeom prst="rect">
            <a:avLst/>
          </a:prstGeom>
          <a:noFill/>
        </p:spPr>
        <p:txBody>
          <a:bodyPr wrap="square" anchor="t" lIns="0" rIns="0" tIns="0" bIns="0">
            <a:spAutoFit/>
          </a:bodyPr>
          <a:lstStyle/>
          <a:p>
            <a:pPr algn="l"/>
            <a:r>
              <a:rPr sz="1300" b="1" i="0">
                <a:solidFill>
                  <a:srgbClr val="9AA8BA"/>
                </a:solidFill>
                <a:latin typeface="Calibri"/>
              </a:rPr>
              <a:t>Cooling</a:t>
            </a:r>
          </a:p>
        </p:txBody>
      </p:sp>
      <p:sp>
        <p:nvSpPr>
          <p:cNvPr id="10" name="TextBox 9"/>
          <p:cNvSpPr txBox="1"/>
          <p:nvPr/>
        </p:nvSpPr>
        <p:spPr>
          <a:xfrm>
            <a:off x="3584448" y="2103120"/>
            <a:ext cx="2194560" cy="457200"/>
          </a:xfrm>
          <a:prstGeom prst="rect">
            <a:avLst/>
          </a:prstGeom>
          <a:noFill/>
        </p:spPr>
        <p:txBody>
          <a:bodyPr wrap="square" anchor="t" lIns="0" rIns="0" tIns="0" bIns="0">
            <a:spAutoFit/>
          </a:bodyPr>
          <a:lstStyle/>
          <a:p>
            <a:pPr algn="l"/>
            <a:r>
              <a:rPr sz="2500" b="1" i="0">
                <a:solidFill>
                  <a:srgbClr val="34D399"/>
                </a:solidFill>
                <a:latin typeface="Courier New"/>
              </a:rPr>
              <a:t>zone-c</a:t>
            </a:r>
          </a:p>
        </p:txBody>
      </p:sp>
      <p:sp>
        <p:nvSpPr>
          <p:cNvPr id="11" name="TextBox 10"/>
          <p:cNvSpPr txBox="1"/>
          <p:nvPr/>
        </p:nvSpPr>
        <p:spPr>
          <a:xfrm>
            <a:off x="3584448" y="2633472"/>
            <a:ext cx="2212848" cy="640080"/>
          </a:xfrm>
          <a:prstGeom prst="rect">
            <a:avLst/>
          </a:prstGeom>
          <a:noFill/>
        </p:spPr>
        <p:txBody>
          <a:bodyPr wrap="square" anchor="t" lIns="0" rIns="0" tIns="0" bIns="0">
            <a:spAutoFit/>
          </a:bodyPr>
          <a:lstStyle/>
          <a:p>
            <a:pPr algn="l">
              <a:lnSpc>
                <a:spcPts val="1500"/>
              </a:lnSpc>
            </a:pPr>
            <a:r>
              <a:rPr sz="1100" b="0" i="0">
                <a:solidFill>
                  <a:srgbClr val="6B7A8D"/>
                </a:solidFill>
                <a:latin typeface="Calibri"/>
              </a:rPr>
              <a:t>only zone that can remove the heat</a:t>
            </a:r>
          </a:p>
        </p:txBody>
      </p:sp>
      <p:sp>
        <p:nvSpPr>
          <p:cNvPr id="12" name="Rounded Rectangle 11"/>
          <p:cNvSpPr/>
          <p:nvPr/>
        </p:nvSpPr>
        <p:spPr>
          <a:xfrm>
            <a:off x="6144768" y="1627632"/>
            <a:ext cx="2670048" cy="173736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82512" y="1792224"/>
            <a:ext cx="2194560" cy="274320"/>
          </a:xfrm>
          <a:prstGeom prst="rect">
            <a:avLst/>
          </a:prstGeom>
          <a:noFill/>
        </p:spPr>
        <p:txBody>
          <a:bodyPr wrap="square" anchor="t" lIns="0" rIns="0" tIns="0" bIns="0">
            <a:spAutoFit/>
          </a:bodyPr>
          <a:lstStyle/>
          <a:p>
            <a:pPr algn="l"/>
            <a:r>
              <a:rPr sz="1300" b="1" i="0">
                <a:solidFill>
                  <a:srgbClr val="9AA8BA"/>
                </a:solidFill>
                <a:latin typeface="Calibri"/>
              </a:rPr>
              <a:t>Facilities</a:t>
            </a:r>
          </a:p>
        </p:txBody>
      </p:sp>
      <p:sp>
        <p:nvSpPr>
          <p:cNvPr id="14" name="TextBox 13"/>
          <p:cNvSpPr txBox="1"/>
          <p:nvPr/>
        </p:nvSpPr>
        <p:spPr>
          <a:xfrm>
            <a:off x="6382512" y="2103120"/>
            <a:ext cx="2194560" cy="457200"/>
          </a:xfrm>
          <a:prstGeom prst="rect">
            <a:avLst/>
          </a:prstGeom>
          <a:noFill/>
        </p:spPr>
        <p:txBody>
          <a:bodyPr wrap="square" anchor="t" lIns="0" rIns="0" tIns="0" bIns="0">
            <a:spAutoFit/>
          </a:bodyPr>
          <a:lstStyle/>
          <a:p>
            <a:pPr algn="l"/>
            <a:r>
              <a:rPr sz="2500" b="1" i="0">
                <a:solidFill>
                  <a:srgbClr val="FBBF24"/>
                </a:solidFill>
                <a:latin typeface="Courier New"/>
              </a:rPr>
              <a:t>zone-b</a:t>
            </a:r>
          </a:p>
        </p:txBody>
      </p:sp>
      <p:sp>
        <p:nvSpPr>
          <p:cNvPr id="15" name="TextBox 14"/>
          <p:cNvSpPr txBox="1"/>
          <p:nvPr/>
        </p:nvSpPr>
        <p:spPr>
          <a:xfrm>
            <a:off x="6382512" y="2633472"/>
            <a:ext cx="2212848" cy="640080"/>
          </a:xfrm>
          <a:prstGeom prst="rect">
            <a:avLst/>
          </a:prstGeom>
          <a:noFill/>
        </p:spPr>
        <p:txBody>
          <a:bodyPr wrap="square" anchor="t" lIns="0" rIns="0" tIns="0" bIns="0">
            <a:spAutoFit/>
          </a:bodyPr>
          <a:lstStyle/>
          <a:p>
            <a:pPr algn="l">
              <a:lnSpc>
                <a:spcPts val="1500"/>
              </a:lnSpc>
            </a:pPr>
            <a:r>
              <a:rPr sz="1100" b="0" i="0">
                <a:solidFill>
                  <a:srgbClr val="6B7A8D"/>
                </a:solidFill>
                <a:latin typeface="Calibri"/>
              </a:rPr>
              <a:t>only zone with 6 free liquid racks</a:t>
            </a:r>
          </a:p>
        </p:txBody>
      </p:sp>
      <p:sp>
        <p:nvSpPr>
          <p:cNvPr id="16" name="Rounded Rectangle 15"/>
          <p:cNvSpPr/>
          <p:nvPr/>
        </p:nvSpPr>
        <p:spPr>
          <a:xfrm>
            <a:off x="8942832" y="1627632"/>
            <a:ext cx="2670048" cy="173736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80576" y="1792224"/>
            <a:ext cx="2194560" cy="274320"/>
          </a:xfrm>
          <a:prstGeom prst="rect">
            <a:avLst/>
          </a:prstGeom>
          <a:noFill/>
        </p:spPr>
        <p:txBody>
          <a:bodyPr wrap="square" anchor="t" lIns="0" rIns="0" tIns="0" bIns="0">
            <a:spAutoFit/>
          </a:bodyPr>
          <a:lstStyle/>
          <a:p>
            <a:pPr algn="l"/>
            <a:r>
              <a:rPr sz="1300" b="1" i="0">
                <a:solidFill>
                  <a:srgbClr val="9AA8BA"/>
                </a:solidFill>
                <a:latin typeface="Calibri"/>
              </a:rPr>
              <a:t>Cost</a:t>
            </a:r>
          </a:p>
        </p:txBody>
      </p:sp>
      <p:sp>
        <p:nvSpPr>
          <p:cNvPr id="18" name="TextBox 17"/>
          <p:cNvSpPr txBox="1"/>
          <p:nvPr/>
        </p:nvSpPr>
        <p:spPr>
          <a:xfrm>
            <a:off x="9180576" y="2103120"/>
            <a:ext cx="2194560" cy="457200"/>
          </a:xfrm>
          <a:prstGeom prst="rect">
            <a:avLst/>
          </a:prstGeom>
          <a:noFill/>
        </p:spPr>
        <p:txBody>
          <a:bodyPr wrap="square" anchor="t" lIns="0" rIns="0" tIns="0" bIns="0">
            <a:spAutoFit/>
          </a:bodyPr>
          <a:lstStyle/>
          <a:p>
            <a:pPr algn="l"/>
            <a:r>
              <a:rPr sz="2500" b="1" i="0">
                <a:solidFill>
                  <a:srgbClr val="FBBF24"/>
                </a:solidFill>
                <a:latin typeface="Courier New"/>
              </a:rPr>
              <a:t>zone-b</a:t>
            </a:r>
          </a:p>
        </p:txBody>
      </p:sp>
      <p:sp>
        <p:nvSpPr>
          <p:cNvPr id="19" name="TextBox 18"/>
          <p:cNvSpPr txBox="1"/>
          <p:nvPr/>
        </p:nvSpPr>
        <p:spPr>
          <a:xfrm>
            <a:off x="9180576" y="2633472"/>
            <a:ext cx="2212848" cy="640080"/>
          </a:xfrm>
          <a:prstGeom prst="rect">
            <a:avLst/>
          </a:prstGeom>
          <a:noFill/>
        </p:spPr>
        <p:txBody>
          <a:bodyPr wrap="square" anchor="t" lIns="0" rIns="0" tIns="0" bIns="0">
            <a:spAutoFit/>
          </a:bodyPr>
          <a:lstStyle/>
          <a:p>
            <a:pPr algn="l">
              <a:lnSpc>
                <a:spcPts val="1500"/>
              </a:lnSpc>
            </a:pPr>
            <a:r>
              <a:rPr sz="1100" b="0" i="0">
                <a:solidFill>
                  <a:srgbClr val="6B7A8D"/>
                </a:solidFill>
                <a:latin typeface="Calibri"/>
              </a:rPr>
              <a:t>avoids $48k/rack retrofit</a:t>
            </a:r>
          </a:p>
        </p:txBody>
      </p:sp>
      <p:sp>
        <p:nvSpPr>
          <p:cNvPr id="20" name="Rounded Rectangle 19"/>
          <p:cNvSpPr/>
          <p:nvPr/>
        </p:nvSpPr>
        <p:spPr>
          <a:xfrm>
            <a:off x="548640" y="3657600"/>
            <a:ext cx="11064240" cy="118872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 y="3840480"/>
            <a:ext cx="10424160" cy="384048"/>
          </a:xfrm>
          <a:prstGeom prst="rect">
            <a:avLst/>
          </a:prstGeom>
          <a:noFill/>
        </p:spPr>
        <p:txBody>
          <a:bodyPr wrap="square" anchor="t" lIns="0" rIns="0" tIns="0" bIns="0">
            <a:spAutoFit/>
          </a:bodyPr>
          <a:lstStyle/>
          <a:p>
            <a:pPr algn="l"/>
            <a:r>
              <a:rPr sz="1600" b="1" i="0">
                <a:solidFill>
                  <a:srgbClr val="EEF2F7"/>
                </a:solidFill>
                <a:latin typeface="Arial"/>
              </a:rPr>
              <a:t>Three different rooms. Every verdict correct on its own axis — together, nothing buildable.</a:t>
            </a:r>
          </a:p>
        </p:txBody>
      </p:sp>
      <p:sp>
        <p:nvSpPr>
          <p:cNvPr id="22" name="TextBox 21"/>
          <p:cNvSpPr txBox="1"/>
          <p:nvPr/>
        </p:nvSpPr>
        <p:spPr>
          <a:xfrm>
            <a:off x="868680" y="4261104"/>
            <a:ext cx="10424160" cy="384048"/>
          </a:xfrm>
          <a:prstGeom prst="rect">
            <a:avLst/>
          </a:prstGeom>
          <a:noFill/>
        </p:spPr>
        <p:txBody>
          <a:bodyPr wrap="square" anchor="t" lIns="0" rIns="0" tIns="0" bIns="0">
            <a:spAutoFit/>
          </a:bodyPr>
          <a:lstStyle/>
          <a:p>
            <a:pPr algn="l"/>
            <a:r>
              <a:rPr sz="1300" b="0" i="0">
                <a:solidFill>
                  <a:srgbClr val="9AA8BA"/>
                </a:solidFill>
                <a:latin typeface="Calibri"/>
              </a:rPr>
              <a:t>A system that counted votes would see four approvals and ship it. Then the racks arrive and the room cannot cool them.</a:t>
            </a:r>
          </a:p>
        </p:txBody>
      </p:sp>
      <p:sp>
        <p:nvSpPr>
          <p:cNvPr id="23" name="TextBox 22"/>
          <p:cNvSpPr txBox="1"/>
          <p:nvPr/>
        </p:nvSpPr>
        <p:spPr>
          <a:xfrm>
            <a:off x="548640" y="5138928"/>
            <a:ext cx="11064240" cy="384048"/>
          </a:xfrm>
          <a:prstGeom prst="rect">
            <a:avLst/>
          </a:prstGeom>
          <a:noFill/>
        </p:spPr>
        <p:txBody>
          <a:bodyPr wrap="square" anchor="t" lIns="0" rIns="0" tIns="0" bIns="0">
            <a:spAutoFit/>
          </a:bodyPr>
          <a:lstStyle/>
          <a:p>
            <a:pPr algn="l"/>
            <a:r>
              <a:rPr sz="1350" b="0" i="1">
                <a:solidFill>
                  <a:srgbClr val="4DD6FF"/>
                </a:solidFill>
                <a:latin typeface="Calibri"/>
              </a:rPr>
              <a:t>This is the failure mode we built for — not agents contradicting each other, but agents all being right and still adding up to garbage.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i="0">
                <a:solidFill>
                  <a:srgbClr val="EEF2F7"/>
                </a:solidFill>
                <a:latin typeface="Arial"/>
              </a:rPr>
              <a:t>Why this genuinely needs four agents</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i="0">
                <a:solidFill>
                  <a:srgbClr val="9AA8BA"/>
                </a:solidFill>
                <a:latin typeface="Calibri"/>
              </a:rPr>
              <a:t>The rubric asks: is the task complex enough to warrant a multi-agent system?</a:t>
            </a:r>
          </a:p>
        </p:txBody>
      </p:sp>
      <p:graphicFrame>
        <p:nvGraphicFramePr>
          <p:cNvPr id="4" name="Table 3"/>
          <p:cNvGraphicFramePr>
            <a:graphicFrameLocks noGrp="1"/>
          </p:cNvGraphicFramePr>
          <p:nvPr/>
        </p:nvGraphicFramePr>
        <p:xfrm>
          <a:off x="548640" y="1645920"/>
          <a:ext cx="11064240" cy="2103120"/>
        </p:xfrm>
        <a:graphic>
          <a:graphicData uri="http://schemas.openxmlformats.org/drawingml/2006/table">
            <a:tbl>
              <a:tblPr firstRow="1" bandRow="1">
                <a:tableStyleId>{5C22544A-7EE6-4342-B048-85BDC9FD1C3A}</a:tableStyleId>
              </a:tblPr>
              <a:tblGrid>
                <a:gridCol w="1645920"/>
                <a:gridCol w="2926080"/>
                <a:gridCol w="4389120"/>
                <a:gridCol w="2103120"/>
              </a:tblGrid>
              <a:tr h="420624">
                <a:tc>
                  <a:txBody>
                    <a:bodyPr/>
                    <a:lstStyle/>
                    <a:p>
                      <a:r>
                        <a:rPr sz="1250" b="1">
                          <a:solidFill>
                            <a:srgbClr val="6B7A8D"/>
                          </a:solidFill>
                          <a:latin typeface="Calibri"/>
                        </a:rPr>
                        <a:t>Agent</a:t>
                      </a:r>
                    </a:p>
                  </a:txBody>
                  <a:tcPr anchor="ctr" marL="128016">
                    <a:solidFill>
                      <a:srgbClr val="1E2735"/>
                    </a:solidFill>
                  </a:tcPr>
                </a:tc>
                <a:tc>
                  <a:txBody>
                    <a:bodyPr/>
                    <a:lstStyle/>
                    <a:p>
                      <a:r>
                        <a:rPr sz="1250" b="1">
                          <a:solidFill>
                            <a:srgbClr val="6B7A8D"/>
                          </a:solidFill>
                          <a:latin typeface="Calibri"/>
                        </a:rPr>
                        <a:t>A different question</a:t>
                      </a:r>
                    </a:p>
                  </a:txBody>
                  <a:tcPr anchor="ctr" marL="128016">
                    <a:solidFill>
                      <a:srgbClr val="1E2735"/>
                    </a:solidFill>
                  </a:tcPr>
                </a:tc>
                <a:tc>
                  <a:txBody>
                    <a:bodyPr/>
                    <a:lstStyle/>
                    <a:p>
                      <a:r>
                        <a:rPr sz="1250" b="1">
                          <a:solidFill>
                            <a:srgbClr val="6B7A8D"/>
                          </a:solidFill>
                          <a:latin typeface="Calibri"/>
                        </a:rPr>
                        <a:t>Evidence only it can see</a:t>
                      </a:r>
                    </a:p>
                  </a:txBody>
                  <a:tcPr anchor="ctr" marL="128016">
                    <a:solidFill>
                      <a:srgbClr val="1E2735"/>
                    </a:solidFill>
                  </a:tcPr>
                </a:tc>
                <a:tc>
                  <a:txBody>
                    <a:bodyPr/>
                    <a:lstStyle/>
                    <a:p>
                      <a:r>
                        <a:rPr sz="1250" b="1">
                          <a:solidFill>
                            <a:srgbClr val="6B7A8D"/>
                          </a:solidFill>
                          <a:latin typeface="Calibri"/>
                        </a:rPr>
                        <a:t>Its store</a:t>
                      </a:r>
                    </a:p>
                  </a:txBody>
                  <a:tcPr anchor="ctr" marL="128016">
                    <a:solidFill>
                      <a:srgbClr val="1E2735"/>
                    </a:solidFill>
                  </a:tcPr>
                </a:tc>
              </a:tr>
              <a:tr h="420624">
                <a:tc>
                  <a:txBody>
                    <a:bodyPr/>
                    <a:lstStyle/>
                    <a:p>
                      <a:r>
                        <a:rPr sz="1250" b="1">
                          <a:solidFill>
                            <a:srgbClr val="EEF2F7"/>
                          </a:solidFill>
                          <a:latin typeface="Calibri"/>
                        </a:rPr>
                        <a:t>Power</a:t>
                      </a:r>
                    </a:p>
                  </a:txBody>
                  <a:tcPr anchor="ctr" marL="128016">
                    <a:solidFill>
                      <a:srgbClr val="18202C"/>
                    </a:solidFill>
                  </a:tcPr>
                </a:tc>
                <a:tc>
                  <a:txBody>
                    <a:bodyPr/>
                    <a:lstStyle/>
                    <a:p>
                      <a:r>
                        <a:rPr sz="1250" b="0">
                          <a:solidFill>
                            <a:srgbClr val="4DD6FF"/>
                          </a:solidFill>
                          <a:latin typeface="Calibri"/>
                        </a:rPr>
                        <a:t>Is there electricity?</a:t>
                      </a:r>
                    </a:p>
                  </a:txBody>
                  <a:tcPr anchor="ctr" marL="128016">
                    <a:solidFill>
                      <a:srgbClr val="18202C"/>
                    </a:solidFill>
                  </a:tcPr>
                </a:tc>
                <a:tc>
                  <a:txBody>
                    <a:bodyPr/>
                    <a:lstStyle/>
                    <a:p>
                      <a:r>
                        <a:rPr sz="1250" b="0">
                          <a:solidFill>
                            <a:srgbClr val="9AA8BA"/>
                          </a:solidFill>
                          <a:latin typeface="Calibri"/>
                        </a:rPr>
                        <a:t>breaker headroom, circuits, outages</a:t>
                      </a:r>
                    </a:p>
                  </a:txBody>
                  <a:tcPr anchor="ctr" marL="128016">
                    <a:solidFill>
                      <a:srgbClr val="18202C"/>
                    </a:solidFill>
                  </a:tcPr>
                </a:tc>
                <a:tc>
                  <a:txBody>
                    <a:bodyPr/>
                    <a:lstStyle/>
                    <a:p>
                      <a:r>
                        <a:rPr sz="1250" b="0">
                          <a:solidFill>
                            <a:srgbClr val="34D399"/>
                          </a:solidFill>
                          <a:latin typeface="Courier New"/>
                        </a:rPr>
                        <a:t>power-db</a:t>
                      </a:r>
                    </a:p>
                  </a:txBody>
                  <a:tcPr anchor="ctr" marL="128016">
                    <a:solidFill>
                      <a:srgbClr val="18202C"/>
                    </a:solidFill>
                  </a:tcPr>
                </a:tc>
              </a:tr>
              <a:tr h="420624">
                <a:tc>
                  <a:txBody>
                    <a:bodyPr/>
                    <a:lstStyle/>
                    <a:p>
                      <a:r>
                        <a:rPr sz="1250" b="1">
                          <a:solidFill>
                            <a:srgbClr val="EEF2F7"/>
                          </a:solidFill>
                          <a:latin typeface="Calibri"/>
                        </a:rPr>
                        <a:t>Cooling</a:t>
                      </a:r>
                    </a:p>
                  </a:txBody>
                  <a:tcPr anchor="ctr" marL="128016">
                    <a:solidFill>
                      <a:srgbClr val="18202C"/>
                    </a:solidFill>
                  </a:tcPr>
                </a:tc>
                <a:tc>
                  <a:txBody>
                    <a:bodyPr/>
                    <a:lstStyle/>
                    <a:p>
                      <a:r>
                        <a:rPr sz="1250" b="0">
                          <a:solidFill>
                            <a:srgbClr val="4DD6FF"/>
                          </a:solidFill>
                          <a:latin typeface="Calibri"/>
                        </a:rPr>
                        <a:t>Can we remove the heat?</a:t>
                      </a:r>
                    </a:p>
                  </a:txBody>
                  <a:tcPr anchor="ctr" marL="128016">
                    <a:solidFill>
                      <a:srgbClr val="18202C"/>
                    </a:solidFill>
                  </a:tcPr>
                </a:tc>
                <a:tc>
                  <a:txBody>
                    <a:bodyPr/>
                    <a:lstStyle/>
                    <a:p>
                      <a:r>
                        <a:rPr sz="1250" b="0">
                          <a:solidFill>
                            <a:srgbClr val="9AA8BA"/>
                          </a:solidFill>
                          <a:latin typeface="Calibri"/>
                        </a:rPr>
                        <a:t>per-rack ceiling, CDU ports, PUE</a:t>
                      </a:r>
                    </a:p>
                  </a:txBody>
                  <a:tcPr anchor="ctr" marL="128016">
                    <a:solidFill>
                      <a:srgbClr val="18202C"/>
                    </a:solidFill>
                  </a:tcPr>
                </a:tc>
                <a:tc>
                  <a:txBody>
                    <a:bodyPr/>
                    <a:lstStyle/>
                    <a:p>
                      <a:r>
                        <a:rPr sz="1250" b="0">
                          <a:solidFill>
                            <a:srgbClr val="34D399"/>
                          </a:solidFill>
                          <a:latin typeface="Courier New"/>
                        </a:rPr>
                        <a:t>cooling-db</a:t>
                      </a:r>
                    </a:p>
                  </a:txBody>
                  <a:tcPr anchor="ctr" marL="128016">
                    <a:solidFill>
                      <a:srgbClr val="18202C"/>
                    </a:solidFill>
                  </a:tcPr>
                </a:tc>
              </a:tr>
              <a:tr h="420624">
                <a:tc>
                  <a:txBody>
                    <a:bodyPr/>
                    <a:lstStyle/>
                    <a:p>
                      <a:r>
                        <a:rPr sz="1250" b="1">
                          <a:solidFill>
                            <a:srgbClr val="EEF2F7"/>
                          </a:solidFill>
                          <a:latin typeface="Calibri"/>
                        </a:rPr>
                        <a:t>Facilities</a:t>
                      </a:r>
                    </a:p>
                  </a:txBody>
                  <a:tcPr anchor="ctr" marL="128016">
                    <a:solidFill>
                      <a:srgbClr val="18202C"/>
                    </a:solidFill>
                  </a:tcPr>
                </a:tc>
                <a:tc>
                  <a:txBody>
                    <a:bodyPr/>
                    <a:lstStyle/>
                    <a:p>
                      <a:r>
                        <a:rPr sz="1250" b="0">
                          <a:solidFill>
                            <a:srgbClr val="4DD6FF"/>
                          </a:solidFill>
                          <a:latin typeface="Calibri"/>
                        </a:rPr>
                        <a:t>Does it physically fit?</a:t>
                      </a:r>
                    </a:p>
                  </a:txBody>
                  <a:tcPr anchor="ctr" marL="128016">
                    <a:solidFill>
                      <a:srgbClr val="18202C"/>
                    </a:solidFill>
                  </a:tcPr>
                </a:tc>
                <a:tc>
                  <a:txBody>
                    <a:bodyPr/>
                    <a:lstStyle/>
                    <a:p>
                      <a:r>
                        <a:rPr sz="1250" b="0">
                          <a:solidFill>
                            <a:srgbClr val="9AA8BA"/>
                          </a:solidFill>
                          <a:latin typeface="Calibri"/>
                        </a:rPr>
                        <a:t>free racks, floor rating, crew</a:t>
                      </a:r>
                    </a:p>
                  </a:txBody>
                  <a:tcPr anchor="ctr" marL="128016">
                    <a:solidFill>
                      <a:srgbClr val="18202C"/>
                    </a:solidFill>
                  </a:tcPr>
                </a:tc>
                <a:tc>
                  <a:txBody>
                    <a:bodyPr/>
                    <a:lstStyle/>
                    <a:p>
                      <a:r>
                        <a:rPr sz="1250" b="0">
                          <a:solidFill>
                            <a:srgbClr val="34D399"/>
                          </a:solidFill>
                          <a:latin typeface="Courier New"/>
                        </a:rPr>
                        <a:t>facilities-db</a:t>
                      </a:r>
                    </a:p>
                  </a:txBody>
                  <a:tcPr anchor="ctr" marL="128016">
                    <a:solidFill>
                      <a:srgbClr val="18202C"/>
                    </a:solidFill>
                  </a:tcPr>
                </a:tc>
              </a:tr>
              <a:tr h="420624">
                <a:tc>
                  <a:txBody>
                    <a:bodyPr/>
                    <a:lstStyle/>
                    <a:p>
                      <a:r>
                        <a:rPr sz="1250" b="1">
                          <a:solidFill>
                            <a:srgbClr val="EEF2F7"/>
                          </a:solidFill>
                          <a:latin typeface="Calibri"/>
                        </a:rPr>
                        <a:t>Cost</a:t>
                      </a:r>
                    </a:p>
                  </a:txBody>
                  <a:tcPr anchor="ctr" marL="128016">
                    <a:solidFill>
                      <a:srgbClr val="18202C"/>
                    </a:solidFill>
                  </a:tcPr>
                </a:tc>
                <a:tc>
                  <a:txBody>
                    <a:bodyPr/>
                    <a:lstStyle/>
                    <a:p>
                      <a:r>
                        <a:rPr sz="1250" b="0">
                          <a:solidFill>
                            <a:srgbClr val="4DD6FF"/>
                          </a:solidFill>
                          <a:latin typeface="Calibri"/>
                        </a:rPr>
                        <a:t>Can we afford it?</a:t>
                      </a:r>
                    </a:p>
                  </a:txBody>
                  <a:tcPr anchor="ctr" marL="128016">
                    <a:solidFill>
                      <a:srgbClr val="18202C"/>
                    </a:solidFill>
                  </a:tcPr>
                </a:tc>
                <a:tc>
                  <a:txBody>
                    <a:bodyPr/>
                    <a:lstStyle/>
                    <a:p>
                      <a:r>
                        <a:rPr sz="1250" b="0">
                          <a:solidFill>
                            <a:srgbClr val="9AA8BA"/>
                          </a:solidFill>
                          <a:latin typeface="Calibri"/>
                        </a:rPr>
                        <a:t>budget, $/GPU-hour, payback</a:t>
                      </a:r>
                    </a:p>
                  </a:txBody>
                  <a:tcPr anchor="ctr" marL="128016">
                    <a:solidFill>
                      <a:srgbClr val="18202C"/>
                    </a:solidFill>
                  </a:tcPr>
                </a:tc>
                <a:tc>
                  <a:txBody>
                    <a:bodyPr/>
                    <a:lstStyle/>
                    <a:p>
                      <a:r>
                        <a:rPr sz="1250" b="0">
                          <a:solidFill>
                            <a:srgbClr val="34D399"/>
                          </a:solidFill>
                          <a:latin typeface="Courier New"/>
                        </a:rPr>
                        <a:t>cost-db</a:t>
                      </a:r>
                    </a:p>
                  </a:txBody>
                  <a:tcPr anchor="ctr" marL="128016">
                    <a:solidFill>
                      <a:srgbClr val="18202C"/>
                    </a:solidFill>
                  </a:tcPr>
                </a:tc>
              </a:tr>
            </a:tbl>
          </a:graphicData>
        </a:graphic>
      </p:graphicFrame>
      <p:sp>
        <p:nvSpPr>
          <p:cNvPr id="5" name="Rounded Rectangle 4"/>
          <p:cNvSpPr/>
          <p:nvPr/>
        </p:nvSpPr>
        <p:spPr>
          <a:xfrm>
            <a:off x="548640" y="4023360"/>
            <a:ext cx="5394960" cy="173736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4224528"/>
            <a:ext cx="4754880" cy="292608"/>
          </a:xfrm>
          <a:prstGeom prst="rect">
            <a:avLst/>
          </a:prstGeom>
          <a:noFill/>
        </p:spPr>
        <p:txBody>
          <a:bodyPr wrap="square" anchor="t" lIns="0" rIns="0" tIns="0" bIns="0">
            <a:spAutoFit/>
          </a:bodyPr>
          <a:lstStyle/>
          <a:p>
            <a:pPr algn="l"/>
            <a:r>
              <a:rPr sz="1500" b="1" i="0">
                <a:solidFill>
                  <a:srgbClr val="EEF2F7"/>
                </a:solidFill>
                <a:latin typeface="Arial"/>
              </a:rPr>
              <a:t>Not four copies of one opinion</a:t>
            </a:r>
          </a:p>
        </p:txBody>
      </p:sp>
      <p:sp>
        <p:nvSpPr>
          <p:cNvPr id="7" name="TextBox 6"/>
          <p:cNvSpPr txBox="1"/>
          <p:nvPr/>
        </p:nvSpPr>
        <p:spPr>
          <a:xfrm>
            <a:off x="868680" y="4572000"/>
            <a:ext cx="4754880" cy="1097280"/>
          </a:xfrm>
          <a:prstGeom prst="rect">
            <a:avLst/>
          </a:prstGeom>
          <a:noFill/>
        </p:spPr>
        <p:txBody>
          <a:bodyPr wrap="square" anchor="t" lIns="0" rIns="0" tIns="0" bIns="0">
            <a:spAutoFit/>
          </a:bodyPr>
          <a:lstStyle/>
          <a:p>
            <a:pPr algn="l">
              <a:lnSpc>
                <a:spcPts val="1700"/>
              </a:lnSpc>
            </a:pPr>
            <a:r>
              <a:rPr sz="1200" b="0" i="0">
                <a:solidFill>
                  <a:srgbClr val="9AA8BA"/>
                </a:solidFill>
                <a:latin typeface="Calibri"/>
              </a:rPr>
              <a:t>Four different questions, answered from four disjoint datasets. Cooling cannot see rack inventory. Facilities cannot see cooling capacity. That is why four answers carry more information than one.</a:t>
            </a:r>
          </a:p>
        </p:txBody>
      </p:sp>
      <p:sp>
        <p:nvSpPr>
          <p:cNvPr id="8" name="Rounded Rectangle 7"/>
          <p:cNvSpPr/>
          <p:nvPr/>
        </p:nvSpPr>
        <p:spPr>
          <a:xfrm>
            <a:off x="6217920" y="4023360"/>
            <a:ext cx="5394960" cy="173736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37959" y="4224528"/>
            <a:ext cx="4754880" cy="292608"/>
          </a:xfrm>
          <a:prstGeom prst="rect">
            <a:avLst/>
          </a:prstGeom>
          <a:noFill/>
        </p:spPr>
        <p:txBody>
          <a:bodyPr wrap="square" anchor="t" lIns="0" rIns="0" tIns="0" bIns="0">
            <a:spAutoFit/>
          </a:bodyPr>
          <a:lstStyle/>
          <a:p>
            <a:pPr algn="l"/>
            <a:r>
              <a:rPr sz="1500" b="1" i="0">
                <a:solidFill>
                  <a:srgbClr val="EEF2F7"/>
                </a:solidFill>
                <a:latin typeface="Arial"/>
              </a:rPr>
              <a:t>Delegation is structural, not prompted</a:t>
            </a:r>
          </a:p>
        </p:txBody>
      </p:sp>
      <p:sp>
        <p:nvSpPr>
          <p:cNvPr id="10" name="TextBox 9"/>
          <p:cNvSpPr txBox="1"/>
          <p:nvPr/>
        </p:nvSpPr>
        <p:spPr>
          <a:xfrm>
            <a:off x="6537959" y="4572000"/>
            <a:ext cx="4754880" cy="1097280"/>
          </a:xfrm>
          <a:prstGeom prst="rect">
            <a:avLst/>
          </a:prstGeom>
          <a:noFill/>
        </p:spPr>
        <p:txBody>
          <a:bodyPr wrap="square" anchor="t" lIns="0" rIns="0" tIns="0" bIns="0">
            <a:spAutoFit/>
          </a:bodyPr>
          <a:lstStyle/>
          <a:p>
            <a:pPr algn="l">
              <a:lnSpc>
                <a:spcPts val="1700"/>
              </a:lnSpc>
            </a:pPr>
            <a:r>
              <a:rPr sz="1200" b="0" i="0">
                <a:solidFill>
                  <a:srgbClr val="9AA8BA"/>
                </a:solidFill>
                <a:latin typeface="Calibri"/>
              </a:rPr>
              <a:t>Each agent runs as its own Cloud Run service under its own identity and can open exactly one database. An agent cannot answer outside its axis because it cannot see outside its axis.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i="0">
                <a:solidFill>
                  <a:srgbClr val="EEF2F7"/>
                </a:solidFill>
                <a:latin typeface="Arial"/>
              </a:rPr>
              <a:t>The answer no single agent could compute</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i="0">
                <a:solidFill>
                  <a:srgbClr val="9AA8BA"/>
                </a:solidFill>
                <a:latin typeface="Calibri"/>
              </a:rPr>
              <a:t>Every agent also reports what its axis rules OUT — the intersection is the plan</a:t>
            </a:r>
          </a:p>
        </p:txBody>
      </p:sp>
      <p:sp>
        <p:nvSpPr>
          <p:cNvPr id="4" name="TextBox 3"/>
          <p:cNvSpPr txBox="1"/>
          <p:nvPr/>
        </p:nvSpPr>
        <p:spPr>
          <a:xfrm>
            <a:off x="548640" y="1719072"/>
            <a:ext cx="2286000" cy="329184"/>
          </a:xfrm>
          <a:prstGeom prst="rect">
            <a:avLst/>
          </a:prstGeom>
          <a:noFill/>
        </p:spPr>
        <p:txBody>
          <a:bodyPr wrap="square" anchor="t" lIns="0" rIns="0" tIns="0" bIns="0">
            <a:spAutoFit/>
          </a:bodyPr>
          <a:lstStyle/>
          <a:p>
            <a:pPr algn="r"/>
            <a:r>
              <a:rPr sz="1300" b="0" i="0">
                <a:solidFill>
                  <a:srgbClr val="9AA8BA"/>
                </a:solidFill>
                <a:latin typeface="Calibri"/>
              </a:rPr>
              <a:t>Cooling rules out</a:t>
            </a:r>
          </a:p>
        </p:txBody>
      </p:sp>
      <p:sp>
        <p:nvSpPr>
          <p:cNvPr id="5" name="TextBox 4"/>
          <p:cNvSpPr txBox="1"/>
          <p:nvPr/>
        </p:nvSpPr>
        <p:spPr>
          <a:xfrm>
            <a:off x="2971800" y="1719072"/>
            <a:ext cx="3200400" cy="329184"/>
          </a:xfrm>
          <a:prstGeom prst="rect">
            <a:avLst/>
          </a:prstGeom>
          <a:noFill/>
        </p:spPr>
        <p:txBody>
          <a:bodyPr wrap="square" anchor="t" lIns="0" rIns="0" tIns="0" bIns="0">
            <a:spAutoFit/>
          </a:bodyPr>
          <a:lstStyle/>
          <a:p>
            <a:pPr algn="l"/>
            <a:r>
              <a:rPr sz="1300" b="0" i="0">
                <a:solidFill>
                  <a:srgbClr val="F87171"/>
                </a:solidFill>
                <a:latin typeface="Courier New"/>
              </a:rPr>
              <a:t>zone-a   zone-b   zone-d</a:t>
            </a:r>
          </a:p>
        </p:txBody>
      </p:sp>
      <p:sp>
        <p:nvSpPr>
          <p:cNvPr id="6" name="TextBox 5"/>
          <p:cNvSpPr txBox="1"/>
          <p:nvPr/>
        </p:nvSpPr>
        <p:spPr>
          <a:xfrm>
            <a:off x="548640" y="2286000"/>
            <a:ext cx="2286000" cy="329184"/>
          </a:xfrm>
          <a:prstGeom prst="rect">
            <a:avLst/>
          </a:prstGeom>
          <a:noFill/>
        </p:spPr>
        <p:txBody>
          <a:bodyPr wrap="square" anchor="t" lIns="0" rIns="0" tIns="0" bIns="0">
            <a:spAutoFit/>
          </a:bodyPr>
          <a:lstStyle/>
          <a:p>
            <a:pPr algn="r"/>
            <a:r>
              <a:rPr sz="1300" b="0" i="0">
                <a:solidFill>
                  <a:srgbClr val="9AA8BA"/>
                </a:solidFill>
                <a:latin typeface="Calibri"/>
              </a:rPr>
              <a:t>Power rules out</a:t>
            </a:r>
          </a:p>
        </p:txBody>
      </p:sp>
      <p:sp>
        <p:nvSpPr>
          <p:cNvPr id="7" name="TextBox 6"/>
          <p:cNvSpPr txBox="1"/>
          <p:nvPr/>
        </p:nvSpPr>
        <p:spPr>
          <a:xfrm>
            <a:off x="2971800" y="2286000"/>
            <a:ext cx="3200400" cy="329184"/>
          </a:xfrm>
          <a:prstGeom prst="rect">
            <a:avLst/>
          </a:prstGeom>
          <a:noFill/>
        </p:spPr>
        <p:txBody>
          <a:bodyPr wrap="square" anchor="t" lIns="0" rIns="0" tIns="0" bIns="0">
            <a:spAutoFit/>
          </a:bodyPr>
          <a:lstStyle/>
          <a:p>
            <a:pPr algn="l"/>
            <a:r>
              <a:rPr sz="1300" b="0" i="0">
                <a:solidFill>
                  <a:srgbClr val="F87171"/>
                </a:solidFill>
                <a:latin typeface="Courier New"/>
              </a:rPr>
              <a:t>zone-b   zone-d</a:t>
            </a:r>
          </a:p>
        </p:txBody>
      </p:sp>
      <p:sp>
        <p:nvSpPr>
          <p:cNvPr id="8" name="TextBox 7"/>
          <p:cNvSpPr txBox="1"/>
          <p:nvPr/>
        </p:nvSpPr>
        <p:spPr>
          <a:xfrm>
            <a:off x="548640" y="2852928"/>
            <a:ext cx="2286000" cy="329184"/>
          </a:xfrm>
          <a:prstGeom prst="rect">
            <a:avLst/>
          </a:prstGeom>
          <a:noFill/>
        </p:spPr>
        <p:txBody>
          <a:bodyPr wrap="square" anchor="t" lIns="0" rIns="0" tIns="0" bIns="0">
            <a:spAutoFit/>
          </a:bodyPr>
          <a:lstStyle/>
          <a:p>
            <a:pPr algn="r"/>
            <a:r>
              <a:rPr sz="1300" b="0" i="0">
                <a:solidFill>
                  <a:srgbClr val="9AA8BA"/>
                </a:solidFill>
                <a:latin typeface="Calibri"/>
              </a:rPr>
              <a:t>Facilities rules out</a:t>
            </a:r>
          </a:p>
        </p:txBody>
      </p:sp>
      <p:sp>
        <p:nvSpPr>
          <p:cNvPr id="9" name="TextBox 8"/>
          <p:cNvSpPr txBox="1"/>
          <p:nvPr/>
        </p:nvSpPr>
        <p:spPr>
          <a:xfrm>
            <a:off x="2971800" y="2852928"/>
            <a:ext cx="3200400" cy="329184"/>
          </a:xfrm>
          <a:prstGeom prst="rect">
            <a:avLst/>
          </a:prstGeom>
          <a:noFill/>
        </p:spPr>
        <p:txBody>
          <a:bodyPr wrap="square" anchor="t" lIns="0" rIns="0" tIns="0" bIns="0">
            <a:spAutoFit/>
          </a:bodyPr>
          <a:lstStyle/>
          <a:p>
            <a:pPr algn="l"/>
            <a:r>
              <a:rPr sz="1300" b="0" i="0">
                <a:solidFill>
                  <a:srgbClr val="F87171"/>
                </a:solidFill>
                <a:latin typeface="Courier New"/>
              </a:rPr>
              <a:t>zone-a   zone-d</a:t>
            </a:r>
          </a:p>
        </p:txBody>
      </p:sp>
      <p:sp>
        <p:nvSpPr>
          <p:cNvPr id="10" name="TextBox 9"/>
          <p:cNvSpPr txBox="1"/>
          <p:nvPr/>
        </p:nvSpPr>
        <p:spPr>
          <a:xfrm>
            <a:off x="548640" y="3419856"/>
            <a:ext cx="2286000" cy="329184"/>
          </a:xfrm>
          <a:prstGeom prst="rect">
            <a:avLst/>
          </a:prstGeom>
          <a:noFill/>
        </p:spPr>
        <p:txBody>
          <a:bodyPr wrap="square" anchor="t" lIns="0" rIns="0" tIns="0" bIns="0">
            <a:spAutoFit/>
          </a:bodyPr>
          <a:lstStyle/>
          <a:p>
            <a:pPr algn="r"/>
            <a:r>
              <a:rPr sz="1300" b="0" i="0">
                <a:solidFill>
                  <a:srgbClr val="9AA8BA"/>
                </a:solidFill>
                <a:latin typeface="Calibri"/>
              </a:rPr>
              <a:t>Cost rules out</a:t>
            </a:r>
          </a:p>
        </p:txBody>
      </p:sp>
      <p:sp>
        <p:nvSpPr>
          <p:cNvPr id="11" name="TextBox 10"/>
          <p:cNvSpPr txBox="1"/>
          <p:nvPr/>
        </p:nvSpPr>
        <p:spPr>
          <a:xfrm>
            <a:off x="2971800" y="3419856"/>
            <a:ext cx="3200400" cy="329184"/>
          </a:xfrm>
          <a:prstGeom prst="rect">
            <a:avLst/>
          </a:prstGeom>
          <a:noFill/>
        </p:spPr>
        <p:txBody>
          <a:bodyPr wrap="square" anchor="t" lIns="0" rIns="0" tIns="0" bIns="0">
            <a:spAutoFit/>
          </a:bodyPr>
          <a:lstStyle/>
          <a:p>
            <a:pPr algn="l"/>
            <a:r>
              <a:rPr sz="1300" b="0" i="0">
                <a:solidFill>
                  <a:srgbClr val="F87171"/>
                </a:solidFill>
                <a:latin typeface="Courier New"/>
              </a:rPr>
              <a:t>zone-a   zone-d</a:t>
            </a:r>
          </a:p>
        </p:txBody>
      </p:sp>
      <p:sp>
        <p:nvSpPr>
          <p:cNvPr id="12" name="Rectangle 11"/>
          <p:cNvSpPr/>
          <p:nvPr/>
        </p:nvSpPr>
        <p:spPr>
          <a:xfrm>
            <a:off x="2971800" y="4041648"/>
            <a:ext cx="3017520" cy="15240"/>
          </a:xfrm>
          <a:prstGeom prst="rect">
            <a:avLst/>
          </a:prstGeom>
          <a:solidFill>
            <a:srgbClr val="2A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4206240"/>
            <a:ext cx="2286000" cy="329184"/>
          </a:xfrm>
          <a:prstGeom prst="rect">
            <a:avLst/>
          </a:prstGeom>
          <a:noFill/>
        </p:spPr>
        <p:txBody>
          <a:bodyPr wrap="square" anchor="t" lIns="0" rIns="0" tIns="0" bIns="0">
            <a:spAutoFit/>
          </a:bodyPr>
          <a:lstStyle/>
          <a:p>
            <a:pPr algn="r"/>
            <a:r>
              <a:rPr sz="1300" b="1" i="0">
                <a:solidFill>
                  <a:srgbClr val="EEF2F7"/>
                </a:solidFill>
                <a:latin typeface="Calibri"/>
              </a:rPr>
              <a:t>survives everything</a:t>
            </a:r>
          </a:p>
        </p:txBody>
      </p:sp>
      <p:sp>
        <p:nvSpPr>
          <p:cNvPr id="14" name="TextBox 13"/>
          <p:cNvSpPr txBox="1"/>
          <p:nvPr/>
        </p:nvSpPr>
        <p:spPr>
          <a:xfrm>
            <a:off x="2971800" y="4151376"/>
            <a:ext cx="3200400" cy="457200"/>
          </a:xfrm>
          <a:prstGeom prst="rect">
            <a:avLst/>
          </a:prstGeom>
          <a:noFill/>
        </p:spPr>
        <p:txBody>
          <a:bodyPr wrap="square" anchor="t" lIns="0" rIns="0" tIns="0" bIns="0">
            <a:spAutoFit/>
          </a:bodyPr>
          <a:lstStyle/>
          <a:p>
            <a:pPr algn="l"/>
            <a:r>
              <a:rPr sz="2000" b="1" i="0">
                <a:solidFill>
                  <a:srgbClr val="34D399"/>
                </a:solidFill>
                <a:latin typeface="Courier New"/>
              </a:rPr>
              <a:t>zone-c</a:t>
            </a:r>
          </a:p>
        </p:txBody>
      </p:sp>
      <p:sp>
        <p:nvSpPr>
          <p:cNvPr id="15" name="Rounded Rectangle 14"/>
          <p:cNvSpPr/>
          <p:nvPr/>
        </p:nvSpPr>
        <p:spPr>
          <a:xfrm>
            <a:off x="6583680" y="1645920"/>
            <a:ext cx="5029200" cy="365760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903720" y="1883664"/>
            <a:ext cx="4389120" cy="731520"/>
          </a:xfrm>
          <a:prstGeom prst="rect">
            <a:avLst/>
          </a:prstGeom>
          <a:noFill/>
        </p:spPr>
        <p:txBody>
          <a:bodyPr wrap="square" anchor="t" lIns="0" rIns="0" tIns="0" bIns="0">
            <a:spAutoFit/>
          </a:bodyPr>
          <a:lstStyle/>
          <a:p>
            <a:pPr algn="l">
              <a:lnSpc>
                <a:spcPts val="2500"/>
              </a:lnSpc>
            </a:pPr>
            <a:r>
              <a:rPr sz="1900" b="1" i="0">
                <a:solidFill>
                  <a:srgbClr val="34D399"/>
                </a:solidFill>
                <a:latin typeface="Arial"/>
              </a:rPr>
              <a:t>And in round one, not one agent had picked it.</a:t>
            </a:r>
          </a:p>
        </p:txBody>
      </p:sp>
      <p:sp>
        <p:nvSpPr>
          <p:cNvPr id="17" name="TextBox 16"/>
          <p:cNvSpPr txBox="1"/>
          <p:nvPr/>
        </p:nvSpPr>
        <p:spPr>
          <a:xfrm>
            <a:off x="6903720" y="2724912"/>
            <a:ext cx="4389120" cy="2468880"/>
          </a:xfrm>
          <a:prstGeom prst="rect">
            <a:avLst/>
          </a:prstGeom>
          <a:noFill/>
        </p:spPr>
        <p:txBody>
          <a:bodyPr wrap="square" anchor="t" lIns="0" rIns="0" tIns="0" bIns="0">
            <a:spAutoFit/>
          </a:bodyPr>
          <a:lstStyle/>
          <a:p>
            <a:pPr algn="l">
              <a:lnSpc>
                <a:spcPts val="1800"/>
              </a:lnSpc>
            </a:pPr>
            <a:r>
              <a:rPr sz="1200" b="0" i="0">
                <a:solidFill>
                  <a:srgbClr val="9AA8BA"/>
                </a:solidFill>
                <a:latin typeface="Calibri"/>
              </a:rPr>
              <a:t>Power wanted zone-a. Facilities and Cost wanted zone-b. The zone that actually works was nobody's first choice.</a:t>
            </a:r>
          </a:p>
          <a:p>
            <a:pPr algn="l">
              <a:lnSpc>
                <a:spcPts val="1800"/>
              </a:lnSpc>
            </a:pPr>
            <a:r>
              <a:rPr sz="1200" b="0" i="0">
                <a:solidFill>
                  <a:srgbClr val="9AA8BA"/>
                </a:solidFill>
                <a:latin typeface="Calibri"/>
              </a:rPr>
              <a:t/>
            </a:r>
          </a:p>
          <a:p>
            <a:pPr algn="l">
              <a:lnSpc>
                <a:spcPts val="1800"/>
              </a:lnSpc>
            </a:pPr>
            <a:r>
              <a:rPr sz="1200" b="0" i="0">
                <a:solidFill>
                  <a:srgbClr val="9AA8BA"/>
                </a:solidFill>
                <a:latin typeface="Calibri"/>
              </a:rPr>
              <a:t>It only appears when you intersect four independent exclusion lists — exactly what no team can do from inside its own silo.</a:t>
            </a:r>
          </a:p>
          <a:p>
            <a:pPr algn="l">
              <a:lnSpc>
                <a:spcPts val="1800"/>
              </a:lnSpc>
            </a:pPr>
            <a:r>
              <a:rPr sz="1200" b="0" i="0">
                <a:solidFill>
                  <a:srgbClr val="9AA8BA"/>
                </a:solidFill>
                <a:latin typeface="Calibri"/>
              </a:rPr>
              <a:t/>
            </a:r>
          </a:p>
          <a:p>
            <a:pPr algn="l">
              <a:lnSpc>
                <a:spcPts val="1800"/>
              </a:lnSpc>
            </a:pPr>
            <a:r>
              <a:rPr sz="1200" b="0" i="0">
                <a:solidFill>
                  <a:srgbClr val="9AA8BA"/>
                </a:solidFill>
                <a:latin typeface="Calibri"/>
              </a:rPr>
              <a:t>Final plan: zone-c, five liquid-ready racks plus one retrofitted, 14 hours' delay, $48,000 one-off. Facilities knew the retrofit existed; Cost had priced it at $288,000 assuming all six racks needed 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i="0">
                <a:solidFill>
                  <a:srgbClr val="EEF2F7"/>
                </a:solidFill>
                <a:latin typeface="Arial"/>
              </a:rPr>
              <a:t>Architecture</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i="0">
                <a:solidFill>
                  <a:srgbClr val="9AA8BA"/>
                </a:solidFill>
                <a:latin typeface="Calibri"/>
              </a:rPr>
              <a:t>Architectural Discipline &amp; Tech Stack — 30% of the score</a:t>
            </a:r>
          </a:p>
        </p:txBody>
      </p:sp>
      <p:sp>
        <p:nvSpPr>
          <p:cNvPr id="4" name="Rounded Rectangle 3"/>
          <p:cNvSpPr/>
          <p:nvPr/>
        </p:nvSpPr>
        <p:spPr>
          <a:xfrm>
            <a:off x="548640" y="1536192"/>
            <a:ext cx="11064240" cy="896112"/>
          </a:xfrm>
          <a:prstGeom prst="roundRect">
            <a:avLst>
              <a:gd name="adj" fmla="val 4000"/>
            </a:avLst>
          </a:prstGeom>
          <a:solidFill>
            <a:srgbClr val="141B25"/>
          </a:solidFill>
          <a:ln w="12700">
            <a:solidFill>
              <a:srgbClr val="6B7A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863840" y="1609344"/>
            <a:ext cx="3657600" cy="237744"/>
          </a:xfrm>
          <a:prstGeom prst="rect">
            <a:avLst/>
          </a:prstGeom>
          <a:noFill/>
        </p:spPr>
        <p:txBody>
          <a:bodyPr wrap="square" anchor="t" lIns="0" rIns="0" tIns="0" bIns="0">
            <a:spAutoFit/>
          </a:bodyPr>
          <a:lstStyle/>
          <a:p>
            <a:pPr algn="r"/>
            <a:r>
              <a:rPr sz="1000" b="1" i="0">
                <a:solidFill>
                  <a:srgbClr val="6B7A8D"/>
                </a:solidFill>
                <a:latin typeface="Calibri"/>
              </a:rPr>
              <a:t>PUBLIC</a:t>
            </a:r>
          </a:p>
        </p:txBody>
      </p:sp>
      <p:sp>
        <p:nvSpPr>
          <p:cNvPr id="6" name="Rounded Rectangle 5"/>
          <p:cNvSpPr/>
          <p:nvPr/>
        </p:nvSpPr>
        <p:spPr>
          <a:xfrm>
            <a:off x="777240" y="1719072"/>
            <a:ext cx="2834640" cy="56692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1783080"/>
            <a:ext cx="2560320" cy="237744"/>
          </a:xfrm>
          <a:prstGeom prst="rect">
            <a:avLst/>
          </a:prstGeom>
          <a:noFill/>
        </p:spPr>
        <p:txBody>
          <a:bodyPr wrap="square" anchor="t" lIns="0" rIns="0" tIns="0" bIns="0">
            <a:spAutoFit/>
          </a:bodyPr>
          <a:lstStyle/>
          <a:p>
            <a:pPr algn="l"/>
            <a:r>
              <a:rPr sz="1250" b="1" i="0">
                <a:solidFill>
                  <a:srgbClr val="4DD6FF"/>
                </a:solidFill>
                <a:latin typeface="Calibri"/>
              </a:rPr>
              <a:t>gridmind · web tier</a:t>
            </a:r>
          </a:p>
        </p:txBody>
      </p:sp>
      <p:sp>
        <p:nvSpPr>
          <p:cNvPr id="8" name="TextBox 7"/>
          <p:cNvSpPr txBox="1"/>
          <p:nvPr/>
        </p:nvSpPr>
        <p:spPr>
          <a:xfrm>
            <a:off x="960120" y="2011680"/>
            <a:ext cx="2560320" cy="237744"/>
          </a:xfrm>
          <a:prstGeom prst="rect">
            <a:avLst/>
          </a:prstGeom>
          <a:noFill/>
        </p:spPr>
        <p:txBody>
          <a:bodyPr wrap="square" anchor="t" lIns="0" rIns="0" tIns="0" bIns="0">
            <a:spAutoFit/>
          </a:bodyPr>
          <a:lstStyle/>
          <a:p>
            <a:pPr algn="l"/>
            <a:r>
              <a:rPr sz="1000" b="0" i="0">
                <a:solidFill>
                  <a:srgbClr val="6B7A8D"/>
                </a:solidFill>
                <a:latin typeface="Calibri"/>
              </a:rPr>
              <a:t>read-only · no model access</a:t>
            </a:r>
          </a:p>
        </p:txBody>
      </p:sp>
      <p:sp>
        <p:nvSpPr>
          <p:cNvPr id="9" name="TextBox 8"/>
          <p:cNvSpPr txBox="1"/>
          <p:nvPr/>
        </p:nvSpPr>
        <p:spPr>
          <a:xfrm>
            <a:off x="3886200" y="1828800"/>
            <a:ext cx="5669280" cy="411480"/>
          </a:xfrm>
          <a:prstGeom prst="rect">
            <a:avLst/>
          </a:prstGeom>
          <a:noFill/>
        </p:spPr>
        <p:txBody>
          <a:bodyPr wrap="square" anchor="t" lIns="0" rIns="0" tIns="0" bIns="0">
            <a:spAutoFit/>
          </a:bodyPr>
          <a:lstStyle/>
          <a:p>
            <a:pPr algn="l"/>
            <a:r>
              <a:rPr sz="1150" b="0" i="0">
                <a:solidFill>
                  <a:srgbClr val="9AA8BA"/>
                </a:solidFill>
                <a:latin typeface="Calibri"/>
              </a:rPr>
              <a:t>the only service reachable from the internet — and the least privileged in the system</a:t>
            </a:r>
          </a:p>
        </p:txBody>
      </p:sp>
      <p:sp>
        <p:nvSpPr>
          <p:cNvPr id="10" name="Rounded Rectangle 9"/>
          <p:cNvSpPr/>
          <p:nvPr/>
        </p:nvSpPr>
        <p:spPr>
          <a:xfrm>
            <a:off x="548640" y="2578608"/>
            <a:ext cx="11064240" cy="2212848"/>
          </a:xfrm>
          <a:prstGeom prst="roundRect">
            <a:avLst>
              <a:gd name="adj" fmla="val 4000"/>
            </a:avLst>
          </a:prstGeom>
          <a:solidFill>
            <a:srgbClr val="141B25"/>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863840" y="2651760"/>
            <a:ext cx="3657600" cy="237744"/>
          </a:xfrm>
          <a:prstGeom prst="rect">
            <a:avLst/>
          </a:prstGeom>
          <a:noFill/>
        </p:spPr>
        <p:txBody>
          <a:bodyPr wrap="square" anchor="t" lIns="0" rIns="0" tIns="0" bIns="0">
            <a:spAutoFit/>
          </a:bodyPr>
          <a:lstStyle/>
          <a:p>
            <a:pPr algn="r"/>
            <a:r>
              <a:rPr sz="1000" b="1" i="0">
                <a:solidFill>
                  <a:srgbClr val="A78BFA"/>
                </a:solidFill>
                <a:latin typeface="Calibri"/>
              </a:rPr>
              <a:t>PRIVATE VPC · ingress=internal · 404 from the internet</a:t>
            </a:r>
          </a:p>
        </p:txBody>
      </p:sp>
      <p:sp>
        <p:nvSpPr>
          <p:cNvPr id="12" name="Rounded Rectangle 11"/>
          <p:cNvSpPr/>
          <p:nvPr/>
        </p:nvSpPr>
        <p:spPr>
          <a:xfrm>
            <a:off x="777240" y="2834640"/>
            <a:ext cx="3383280" cy="713232"/>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60120" y="2916936"/>
            <a:ext cx="3017520" cy="256032"/>
          </a:xfrm>
          <a:prstGeom prst="rect">
            <a:avLst/>
          </a:prstGeom>
          <a:noFill/>
        </p:spPr>
        <p:txBody>
          <a:bodyPr wrap="square" anchor="t" lIns="0" rIns="0" tIns="0" bIns="0">
            <a:spAutoFit/>
          </a:bodyPr>
          <a:lstStyle/>
          <a:p>
            <a:pPr algn="l"/>
            <a:r>
              <a:rPr sz="1300" b="1" i="0">
                <a:solidFill>
                  <a:srgbClr val="4DD6FF"/>
                </a:solidFill>
                <a:latin typeface="Calibri"/>
              </a:rPr>
              <a:t>Orchestrator</a:t>
            </a:r>
          </a:p>
        </p:txBody>
      </p:sp>
      <p:sp>
        <p:nvSpPr>
          <p:cNvPr id="14" name="TextBox 13"/>
          <p:cNvSpPr txBox="1"/>
          <p:nvPr/>
        </p:nvSpPr>
        <p:spPr>
          <a:xfrm>
            <a:off x="960120" y="3172968"/>
            <a:ext cx="3017520" cy="256032"/>
          </a:xfrm>
          <a:prstGeom prst="rect">
            <a:avLst/>
          </a:prstGeom>
          <a:noFill/>
        </p:spPr>
        <p:txBody>
          <a:bodyPr wrap="square" anchor="t" lIns="0" rIns="0" tIns="0" bIns="0">
            <a:spAutoFit/>
          </a:bodyPr>
          <a:lstStyle/>
          <a:p>
            <a:pPr algn="l"/>
            <a:r>
              <a:rPr sz="1050" b="0" i="0">
                <a:solidFill>
                  <a:srgbClr val="6B7A8D"/>
                </a:solidFill>
                <a:latin typeface="Calibri"/>
              </a:rPr>
              <a:t>shared store only</a:t>
            </a:r>
          </a:p>
        </p:txBody>
      </p:sp>
      <p:sp>
        <p:nvSpPr>
          <p:cNvPr id="15" name="Rounded Rectangle 14"/>
          <p:cNvSpPr/>
          <p:nvPr/>
        </p:nvSpPr>
        <p:spPr>
          <a:xfrm>
            <a:off x="4389120" y="2834640"/>
            <a:ext cx="3383280" cy="713232"/>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72000" y="2916936"/>
            <a:ext cx="3017520" cy="256032"/>
          </a:xfrm>
          <a:prstGeom prst="rect">
            <a:avLst/>
          </a:prstGeom>
          <a:noFill/>
        </p:spPr>
        <p:txBody>
          <a:bodyPr wrap="square" anchor="t" lIns="0" rIns="0" tIns="0" bIns="0">
            <a:spAutoFit/>
          </a:bodyPr>
          <a:lstStyle/>
          <a:p>
            <a:pPr algn="l"/>
            <a:r>
              <a:rPr sz="1300" b="1" i="0">
                <a:solidFill>
                  <a:srgbClr val="FBBF24"/>
                </a:solidFill>
                <a:latin typeface="Calibri"/>
              </a:rPr>
              <a:t>Gateway</a:t>
            </a:r>
          </a:p>
        </p:txBody>
      </p:sp>
      <p:sp>
        <p:nvSpPr>
          <p:cNvPr id="17" name="TextBox 16"/>
          <p:cNvSpPr txBox="1"/>
          <p:nvPr/>
        </p:nvSpPr>
        <p:spPr>
          <a:xfrm>
            <a:off x="4572000" y="3172968"/>
            <a:ext cx="3017520" cy="256032"/>
          </a:xfrm>
          <a:prstGeom prst="rect">
            <a:avLst/>
          </a:prstGeom>
          <a:noFill/>
        </p:spPr>
        <p:txBody>
          <a:bodyPr wrap="square" anchor="t" lIns="0" rIns="0" tIns="0" bIns="0">
            <a:spAutoFit/>
          </a:bodyPr>
          <a:lstStyle/>
          <a:p>
            <a:pPr algn="l"/>
            <a:r>
              <a:rPr sz="1050" b="0" i="0">
                <a:solidFill>
                  <a:srgbClr val="6B7A8D"/>
                </a:solidFill>
                <a:latin typeface="Calibri"/>
              </a:rPr>
              <a:t>identity · routing · Model Armor</a:t>
            </a:r>
          </a:p>
        </p:txBody>
      </p:sp>
      <p:sp>
        <p:nvSpPr>
          <p:cNvPr id="18" name="Rounded Rectangle 17"/>
          <p:cNvSpPr/>
          <p:nvPr/>
        </p:nvSpPr>
        <p:spPr>
          <a:xfrm>
            <a:off x="8001000" y="2834640"/>
            <a:ext cx="3383280" cy="713232"/>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183879" y="2916936"/>
            <a:ext cx="3017520" cy="256032"/>
          </a:xfrm>
          <a:prstGeom prst="rect">
            <a:avLst/>
          </a:prstGeom>
          <a:noFill/>
        </p:spPr>
        <p:txBody>
          <a:bodyPr wrap="square" anchor="t" lIns="0" rIns="0" tIns="0" bIns="0">
            <a:spAutoFit/>
          </a:bodyPr>
          <a:lstStyle/>
          <a:p>
            <a:pPr algn="l"/>
            <a:r>
              <a:rPr sz="1300" b="1" i="0">
                <a:solidFill>
                  <a:srgbClr val="34D399"/>
                </a:solidFill>
                <a:latin typeface="Calibri"/>
              </a:rPr>
              <a:t>4 assessors</a:t>
            </a:r>
          </a:p>
        </p:txBody>
      </p:sp>
      <p:sp>
        <p:nvSpPr>
          <p:cNvPr id="20" name="TextBox 19"/>
          <p:cNvSpPr txBox="1"/>
          <p:nvPr/>
        </p:nvSpPr>
        <p:spPr>
          <a:xfrm>
            <a:off x="8183879" y="3172968"/>
            <a:ext cx="3017520" cy="256032"/>
          </a:xfrm>
          <a:prstGeom prst="rect">
            <a:avLst/>
          </a:prstGeom>
          <a:noFill/>
        </p:spPr>
        <p:txBody>
          <a:bodyPr wrap="square" anchor="t" lIns="0" rIns="0" tIns="0" bIns="0">
            <a:spAutoFit/>
          </a:bodyPr>
          <a:lstStyle/>
          <a:p>
            <a:pPr algn="l"/>
            <a:r>
              <a:rPr sz="1050" b="0" i="0">
                <a:solidFill>
                  <a:srgbClr val="6B7A8D"/>
                </a:solidFill>
                <a:latin typeface="Calibri"/>
              </a:rPr>
              <a:t>one store each</a:t>
            </a:r>
          </a:p>
        </p:txBody>
      </p:sp>
      <p:sp>
        <p:nvSpPr>
          <p:cNvPr id="21" name="TextBox 20"/>
          <p:cNvSpPr txBox="1"/>
          <p:nvPr/>
        </p:nvSpPr>
        <p:spPr>
          <a:xfrm>
            <a:off x="777240" y="3712463"/>
            <a:ext cx="10607040" cy="292608"/>
          </a:xfrm>
          <a:prstGeom prst="rect">
            <a:avLst/>
          </a:prstGeom>
          <a:noFill/>
        </p:spPr>
        <p:txBody>
          <a:bodyPr wrap="square" anchor="t" lIns="0" rIns="0" tIns="0" bIns="0">
            <a:spAutoFit/>
          </a:bodyPr>
          <a:lstStyle/>
          <a:p>
            <a:pPr algn="l"/>
            <a:r>
              <a:rPr sz="1150" b="1" i="0">
                <a:solidFill>
                  <a:srgbClr val="FBBF24"/>
                </a:solidFill>
                <a:latin typeface="Calibri"/>
              </a:rPr>
              <a:t>HARNESS around every assessor — scoped read · schema-validated I/O · guardrail re-check · retry with correction · fail safe</a:t>
            </a:r>
          </a:p>
        </p:txBody>
      </p:sp>
      <p:sp>
        <p:nvSpPr>
          <p:cNvPr id="22" name="TextBox 21"/>
          <p:cNvSpPr txBox="1"/>
          <p:nvPr/>
        </p:nvSpPr>
        <p:spPr>
          <a:xfrm>
            <a:off x="777240" y="4041648"/>
            <a:ext cx="10607040" cy="548640"/>
          </a:xfrm>
          <a:prstGeom prst="rect">
            <a:avLst/>
          </a:prstGeom>
          <a:noFill/>
        </p:spPr>
        <p:txBody>
          <a:bodyPr wrap="square" anchor="t" lIns="0" rIns="0" tIns="0" bIns="0">
            <a:spAutoFit/>
          </a:bodyPr>
          <a:lstStyle/>
          <a:p>
            <a:pPr algn="l"/>
            <a:r>
              <a:rPr sz="1150" b="0" i="0">
                <a:solidFill>
                  <a:srgbClr val="A78BFA"/>
                </a:solidFill>
                <a:latin typeface="Calibri"/>
              </a:rPr>
              <a:t>Gemini 3.5 on Vertex AI (global endpoint) — flash-lite per assessor, flash with a 4,096-token thinking budget for reconciliation</a:t>
            </a:r>
          </a:p>
        </p:txBody>
      </p:sp>
      <p:sp>
        <p:nvSpPr>
          <p:cNvPr id="23" name="Rounded Rectangle 22"/>
          <p:cNvSpPr/>
          <p:nvPr/>
        </p:nvSpPr>
        <p:spPr>
          <a:xfrm>
            <a:off x="548640" y="4901184"/>
            <a:ext cx="11064240" cy="877824"/>
          </a:xfrm>
          <a:prstGeom prst="roundRect">
            <a:avLst>
              <a:gd name="adj" fmla="val 4000"/>
            </a:avLst>
          </a:prstGeom>
          <a:solidFill>
            <a:srgbClr val="141B25"/>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863840" y="4974336"/>
            <a:ext cx="3657600" cy="237744"/>
          </a:xfrm>
          <a:prstGeom prst="rect">
            <a:avLst/>
          </a:prstGeom>
          <a:noFill/>
        </p:spPr>
        <p:txBody>
          <a:bodyPr wrap="square" anchor="t" lIns="0" rIns="0" tIns="0" bIns="0">
            <a:spAutoFit/>
          </a:bodyPr>
          <a:lstStyle/>
          <a:p>
            <a:pPr algn="r"/>
            <a:r>
              <a:rPr sz="1000" b="1" i="0">
                <a:solidFill>
                  <a:srgbClr val="34D399"/>
                </a:solidFill>
                <a:latin typeface="Calibri"/>
              </a:rPr>
              <a:t>DATA</a:t>
            </a:r>
          </a:p>
        </p:txBody>
      </p:sp>
      <p:sp>
        <p:nvSpPr>
          <p:cNvPr id="25" name="Rounded Rectangle 24"/>
          <p:cNvSpPr/>
          <p:nvPr/>
        </p:nvSpPr>
        <p:spPr>
          <a:xfrm>
            <a:off x="777240" y="5065776"/>
            <a:ext cx="1975104" cy="54864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7240" y="5138928"/>
            <a:ext cx="1975104" cy="237744"/>
          </a:xfrm>
          <a:prstGeom prst="rect">
            <a:avLst/>
          </a:prstGeom>
          <a:noFill/>
        </p:spPr>
        <p:txBody>
          <a:bodyPr wrap="square" anchor="t" lIns="0" rIns="0" tIns="0" bIns="0">
            <a:spAutoFit/>
          </a:bodyPr>
          <a:lstStyle/>
          <a:p>
            <a:pPr algn="ctr"/>
            <a:r>
              <a:rPr sz="1100" b="1" i="0">
                <a:solidFill>
                  <a:srgbClr val="34D399"/>
                </a:solidFill>
                <a:latin typeface="Courier New"/>
              </a:rPr>
              <a:t>power-db</a:t>
            </a:r>
          </a:p>
        </p:txBody>
      </p:sp>
      <p:sp>
        <p:nvSpPr>
          <p:cNvPr id="27" name="TextBox 26"/>
          <p:cNvSpPr txBox="1"/>
          <p:nvPr/>
        </p:nvSpPr>
        <p:spPr>
          <a:xfrm>
            <a:off x="777240" y="5358384"/>
            <a:ext cx="1975104" cy="219456"/>
          </a:xfrm>
          <a:prstGeom prst="rect">
            <a:avLst/>
          </a:prstGeom>
          <a:noFill/>
        </p:spPr>
        <p:txBody>
          <a:bodyPr wrap="square" anchor="t" lIns="0" rIns="0" tIns="0" bIns="0">
            <a:spAutoFit/>
          </a:bodyPr>
          <a:lstStyle/>
          <a:p>
            <a:pPr algn="ctr"/>
            <a:r>
              <a:rPr sz="950" b="0" i="0">
                <a:solidFill>
                  <a:srgbClr val="F87171"/>
                </a:solidFill>
                <a:latin typeface="Calibri"/>
              </a:rPr>
              <a:t>all others → 403</a:t>
            </a:r>
          </a:p>
        </p:txBody>
      </p:sp>
      <p:sp>
        <p:nvSpPr>
          <p:cNvPr id="28" name="Rounded Rectangle 27"/>
          <p:cNvSpPr/>
          <p:nvPr/>
        </p:nvSpPr>
        <p:spPr>
          <a:xfrm>
            <a:off x="2935224" y="5065776"/>
            <a:ext cx="1975104" cy="54864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2935224" y="5138928"/>
            <a:ext cx="1975104" cy="237744"/>
          </a:xfrm>
          <a:prstGeom prst="rect">
            <a:avLst/>
          </a:prstGeom>
          <a:noFill/>
        </p:spPr>
        <p:txBody>
          <a:bodyPr wrap="square" anchor="t" lIns="0" rIns="0" tIns="0" bIns="0">
            <a:spAutoFit/>
          </a:bodyPr>
          <a:lstStyle/>
          <a:p>
            <a:pPr algn="ctr"/>
            <a:r>
              <a:rPr sz="1100" b="1" i="0">
                <a:solidFill>
                  <a:srgbClr val="34D399"/>
                </a:solidFill>
                <a:latin typeface="Courier New"/>
              </a:rPr>
              <a:t>cooling-db</a:t>
            </a:r>
          </a:p>
        </p:txBody>
      </p:sp>
      <p:sp>
        <p:nvSpPr>
          <p:cNvPr id="30" name="TextBox 29"/>
          <p:cNvSpPr txBox="1"/>
          <p:nvPr/>
        </p:nvSpPr>
        <p:spPr>
          <a:xfrm>
            <a:off x="2935224" y="5358384"/>
            <a:ext cx="1975104" cy="219456"/>
          </a:xfrm>
          <a:prstGeom prst="rect">
            <a:avLst/>
          </a:prstGeom>
          <a:noFill/>
        </p:spPr>
        <p:txBody>
          <a:bodyPr wrap="square" anchor="t" lIns="0" rIns="0" tIns="0" bIns="0">
            <a:spAutoFit/>
          </a:bodyPr>
          <a:lstStyle/>
          <a:p>
            <a:pPr algn="ctr"/>
            <a:r>
              <a:rPr sz="950" b="0" i="0">
                <a:solidFill>
                  <a:srgbClr val="F87171"/>
                </a:solidFill>
                <a:latin typeface="Calibri"/>
              </a:rPr>
              <a:t>all others → 403</a:t>
            </a:r>
          </a:p>
        </p:txBody>
      </p:sp>
      <p:sp>
        <p:nvSpPr>
          <p:cNvPr id="31" name="Rounded Rectangle 30"/>
          <p:cNvSpPr/>
          <p:nvPr/>
        </p:nvSpPr>
        <p:spPr>
          <a:xfrm>
            <a:off x="5093207" y="5065776"/>
            <a:ext cx="1975104" cy="54864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093207" y="5138928"/>
            <a:ext cx="1975104" cy="237744"/>
          </a:xfrm>
          <a:prstGeom prst="rect">
            <a:avLst/>
          </a:prstGeom>
          <a:noFill/>
        </p:spPr>
        <p:txBody>
          <a:bodyPr wrap="square" anchor="t" lIns="0" rIns="0" tIns="0" bIns="0">
            <a:spAutoFit/>
          </a:bodyPr>
          <a:lstStyle/>
          <a:p>
            <a:pPr algn="ctr"/>
            <a:r>
              <a:rPr sz="1100" b="1" i="0">
                <a:solidFill>
                  <a:srgbClr val="34D399"/>
                </a:solidFill>
                <a:latin typeface="Courier New"/>
              </a:rPr>
              <a:t>facilities-db</a:t>
            </a:r>
          </a:p>
        </p:txBody>
      </p:sp>
      <p:sp>
        <p:nvSpPr>
          <p:cNvPr id="33" name="TextBox 32"/>
          <p:cNvSpPr txBox="1"/>
          <p:nvPr/>
        </p:nvSpPr>
        <p:spPr>
          <a:xfrm>
            <a:off x="5093207" y="5358384"/>
            <a:ext cx="1975104" cy="219456"/>
          </a:xfrm>
          <a:prstGeom prst="rect">
            <a:avLst/>
          </a:prstGeom>
          <a:noFill/>
        </p:spPr>
        <p:txBody>
          <a:bodyPr wrap="square" anchor="t" lIns="0" rIns="0" tIns="0" bIns="0">
            <a:spAutoFit/>
          </a:bodyPr>
          <a:lstStyle/>
          <a:p>
            <a:pPr algn="ctr"/>
            <a:r>
              <a:rPr sz="950" b="0" i="0">
                <a:solidFill>
                  <a:srgbClr val="F87171"/>
                </a:solidFill>
                <a:latin typeface="Calibri"/>
              </a:rPr>
              <a:t>all others → 403</a:t>
            </a:r>
          </a:p>
        </p:txBody>
      </p:sp>
      <p:sp>
        <p:nvSpPr>
          <p:cNvPr id="34" name="Rounded Rectangle 33"/>
          <p:cNvSpPr/>
          <p:nvPr/>
        </p:nvSpPr>
        <p:spPr>
          <a:xfrm>
            <a:off x="7251192" y="5065776"/>
            <a:ext cx="1975104" cy="54864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251192" y="5138928"/>
            <a:ext cx="1975104" cy="237744"/>
          </a:xfrm>
          <a:prstGeom prst="rect">
            <a:avLst/>
          </a:prstGeom>
          <a:noFill/>
        </p:spPr>
        <p:txBody>
          <a:bodyPr wrap="square" anchor="t" lIns="0" rIns="0" tIns="0" bIns="0">
            <a:spAutoFit/>
          </a:bodyPr>
          <a:lstStyle/>
          <a:p>
            <a:pPr algn="ctr"/>
            <a:r>
              <a:rPr sz="1100" b="1" i="0">
                <a:solidFill>
                  <a:srgbClr val="34D399"/>
                </a:solidFill>
                <a:latin typeface="Courier New"/>
              </a:rPr>
              <a:t>cost-db</a:t>
            </a:r>
          </a:p>
        </p:txBody>
      </p:sp>
      <p:sp>
        <p:nvSpPr>
          <p:cNvPr id="36" name="TextBox 35"/>
          <p:cNvSpPr txBox="1"/>
          <p:nvPr/>
        </p:nvSpPr>
        <p:spPr>
          <a:xfrm>
            <a:off x="7251192" y="5358384"/>
            <a:ext cx="1975104" cy="219456"/>
          </a:xfrm>
          <a:prstGeom prst="rect">
            <a:avLst/>
          </a:prstGeom>
          <a:noFill/>
        </p:spPr>
        <p:txBody>
          <a:bodyPr wrap="square" anchor="t" lIns="0" rIns="0" tIns="0" bIns="0">
            <a:spAutoFit/>
          </a:bodyPr>
          <a:lstStyle/>
          <a:p>
            <a:pPr algn="ctr"/>
            <a:r>
              <a:rPr sz="950" b="0" i="0">
                <a:solidFill>
                  <a:srgbClr val="F87171"/>
                </a:solidFill>
                <a:latin typeface="Calibri"/>
              </a:rPr>
              <a:t>all others → 403</a:t>
            </a:r>
          </a:p>
        </p:txBody>
      </p:sp>
      <p:sp>
        <p:nvSpPr>
          <p:cNvPr id="37" name="Rounded Rectangle 36"/>
          <p:cNvSpPr/>
          <p:nvPr/>
        </p:nvSpPr>
        <p:spPr>
          <a:xfrm>
            <a:off x="9409176" y="5065776"/>
            <a:ext cx="1975104" cy="54864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409176" y="5138928"/>
            <a:ext cx="1975104" cy="237744"/>
          </a:xfrm>
          <a:prstGeom prst="rect">
            <a:avLst/>
          </a:prstGeom>
          <a:noFill/>
        </p:spPr>
        <p:txBody>
          <a:bodyPr wrap="square" anchor="t" lIns="0" rIns="0" tIns="0" bIns="0">
            <a:spAutoFit/>
          </a:bodyPr>
          <a:lstStyle/>
          <a:p>
            <a:pPr algn="ctr"/>
            <a:r>
              <a:rPr sz="1100" b="1" i="0">
                <a:solidFill>
                  <a:srgbClr val="34D399"/>
                </a:solidFill>
                <a:latin typeface="Courier New"/>
              </a:rPr>
              <a:t>shared-db</a:t>
            </a:r>
          </a:p>
        </p:txBody>
      </p:sp>
      <p:sp>
        <p:nvSpPr>
          <p:cNvPr id="39" name="TextBox 38"/>
          <p:cNvSpPr txBox="1"/>
          <p:nvPr/>
        </p:nvSpPr>
        <p:spPr>
          <a:xfrm>
            <a:off x="9409176" y="5358384"/>
            <a:ext cx="1975104" cy="219456"/>
          </a:xfrm>
          <a:prstGeom prst="rect">
            <a:avLst/>
          </a:prstGeom>
          <a:noFill/>
        </p:spPr>
        <p:txBody>
          <a:bodyPr wrap="square" anchor="t" lIns="0" rIns="0" tIns="0" bIns="0">
            <a:spAutoFit/>
          </a:bodyPr>
          <a:lstStyle/>
          <a:p>
            <a:pPr algn="ctr"/>
            <a:r>
              <a:rPr sz="950" b="0" i="0">
                <a:solidFill>
                  <a:srgbClr val="F87171"/>
                </a:solidFill>
                <a:latin typeface="Calibri"/>
              </a:rPr>
              <a:t>all others → 403</a:t>
            </a:r>
          </a:p>
        </p:txBody>
      </p:sp>
      <p:sp>
        <p:nvSpPr>
          <p:cNvPr id="40" name="TextBox 39"/>
          <p:cNvSpPr txBox="1"/>
          <p:nvPr/>
        </p:nvSpPr>
        <p:spPr>
          <a:xfrm>
            <a:off x="548640" y="5989320"/>
            <a:ext cx="11064240" cy="292608"/>
          </a:xfrm>
          <a:prstGeom prst="rect">
            <a:avLst/>
          </a:prstGeom>
          <a:noFill/>
        </p:spPr>
        <p:txBody>
          <a:bodyPr wrap="square" anchor="t" lIns="0" rIns="0" tIns="0" bIns="0">
            <a:spAutoFit/>
          </a:bodyPr>
          <a:lstStyle/>
          <a:p>
            <a:pPr algn="l"/>
            <a:r>
              <a:rPr sz="1200" b="0" i="0">
                <a:solidFill>
                  <a:srgbClr val="9AA8BA"/>
                </a:solidFill>
                <a:latin typeface="Calibri"/>
              </a:rPr>
              <a:t>7 Cloud Run services · 7 service accounts · 5 isolated Firestore databases · 1 VPC · full diagram and reproducible setup scripts in the repo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i="0">
                <a:solidFill>
                  <a:srgbClr val="EEF2F7"/>
                </a:solidFill>
                <a:latin typeface="Arial"/>
              </a:rPr>
              <a:t>Separation of concerns, enforced by the platform</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i="0">
                <a:solidFill>
                  <a:srgbClr val="9AA8BA"/>
                </a:solidFill>
                <a:latin typeface="Calibri"/>
              </a:rPr>
              <a:t>Not a convention in our code — an IAM condition Firestore itself applies</a:t>
            </a:r>
          </a:p>
        </p:txBody>
      </p:sp>
      <p:sp>
        <p:nvSpPr>
          <p:cNvPr id="4" name="TextBox 3"/>
          <p:cNvSpPr txBox="1"/>
          <p:nvPr/>
        </p:nvSpPr>
        <p:spPr>
          <a:xfrm>
            <a:off x="548640" y="1554480"/>
            <a:ext cx="11064240" cy="548640"/>
          </a:xfrm>
          <a:prstGeom prst="rect">
            <a:avLst/>
          </a:prstGeom>
          <a:noFill/>
        </p:spPr>
        <p:txBody>
          <a:bodyPr wrap="square" anchor="t" lIns="0" rIns="0" tIns="0" bIns="0">
            <a:spAutoFit/>
          </a:bodyPr>
          <a:lstStyle/>
          <a:p>
            <a:pPr algn="l">
              <a:lnSpc>
                <a:spcPts val="2000"/>
              </a:lnSpc>
            </a:pPr>
            <a:r>
              <a:rPr sz="1350" b="0" i="0">
                <a:solidFill>
                  <a:srgbClr val="FBBF24"/>
                </a:solidFill>
                <a:latin typeface="Calibri"/>
              </a:rPr>
              <a:t>Firestore Security Rules are not evaluated for server-side Admin SDK access. A design that scoped agents with per-collection rules would have enforced nothing at all — and looked correct in a diagram.</a:t>
            </a:r>
          </a:p>
        </p:txBody>
      </p:sp>
      <p:graphicFrame>
        <p:nvGraphicFramePr>
          <p:cNvPr id="5" name="Table 4"/>
          <p:cNvGraphicFramePr>
            <a:graphicFrameLocks noGrp="1"/>
          </p:cNvGraphicFramePr>
          <p:nvPr/>
        </p:nvGraphicFramePr>
        <p:xfrm>
          <a:off x="548640" y="2286000"/>
          <a:ext cx="11064240" cy="1828800"/>
        </p:xfrm>
        <a:graphic>
          <a:graphicData uri="http://schemas.openxmlformats.org/drawingml/2006/table">
            <a:tbl>
              <a:tblPr firstRow="1" bandRow="1">
                <a:tableStyleId>{5C22544A-7EE6-4342-B048-85BDC9FD1C3A}</a:tableStyleId>
              </a:tblPr>
              <a:tblGrid>
                <a:gridCol w="4023360"/>
                <a:gridCol w="2286000"/>
                <a:gridCol w="2468880"/>
                <a:gridCol w="2286000"/>
              </a:tblGrid>
              <a:tr h="457200">
                <a:tc>
                  <a:txBody>
                    <a:bodyPr/>
                    <a:lstStyle/>
                    <a:p>
                      <a:r>
                        <a:rPr sz="1300" b="1">
                          <a:solidFill>
                            <a:srgbClr val="6B7A8D"/>
                          </a:solidFill>
                          <a:latin typeface="Calibri"/>
                        </a:rPr>
                        <a:t>Identity</a:t>
                      </a:r>
                    </a:p>
                  </a:txBody>
                  <a:tcPr anchor="ctr" marL="128016">
                    <a:solidFill>
                      <a:srgbClr val="1E2735"/>
                    </a:solidFill>
                  </a:tcPr>
                </a:tc>
                <a:tc>
                  <a:txBody>
                    <a:bodyPr/>
                    <a:lstStyle/>
                    <a:p>
                      <a:r>
                        <a:rPr sz="1300" b="1">
                          <a:solidFill>
                            <a:srgbClr val="6B7A8D"/>
                          </a:solidFill>
                          <a:latin typeface="Calibri"/>
                        </a:rPr>
                        <a:t>Its own store</a:t>
                      </a:r>
                    </a:p>
                  </a:txBody>
                  <a:tcPr anchor="ctr" marL="128016">
                    <a:solidFill>
                      <a:srgbClr val="1E2735"/>
                    </a:solidFill>
                  </a:tcPr>
                </a:tc>
                <a:tc>
                  <a:txBody>
                    <a:bodyPr/>
                    <a:lstStyle/>
                    <a:p>
                      <a:r>
                        <a:rPr sz="1300" b="1">
                          <a:solidFill>
                            <a:srgbClr val="6B7A8D"/>
                          </a:solidFill>
                          <a:latin typeface="Calibri"/>
                        </a:rPr>
                        <a:t>The other stores</a:t>
                      </a:r>
                    </a:p>
                  </a:txBody>
                  <a:tcPr anchor="ctr" marL="128016">
                    <a:solidFill>
                      <a:srgbClr val="1E2735"/>
                    </a:solidFill>
                  </a:tcPr>
                </a:tc>
                <a:tc>
                  <a:txBody>
                    <a:bodyPr/>
                    <a:lstStyle/>
                    <a:p>
                      <a:r>
                        <a:rPr sz="1300" b="1">
                          <a:solidFill>
                            <a:srgbClr val="6B7A8D"/>
                          </a:solidFill>
                          <a:latin typeface="Calibri"/>
                        </a:rPr>
                        <a:t>From the internet</a:t>
                      </a:r>
                    </a:p>
                  </a:txBody>
                  <a:tcPr anchor="ctr" marL="128016">
                    <a:solidFill>
                      <a:srgbClr val="1E2735"/>
                    </a:solidFill>
                  </a:tcPr>
                </a:tc>
              </a:tr>
              <a:tr h="457200">
                <a:tc>
                  <a:txBody>
                    <a:bodyPr/>
                    <a:lstStyle/>
                    <a:p>
                      <a:r>
                        <a:rPr sz="1300" b="0">
                          <a:solidFill>
                            <a:srgbClr val="EEF2F7"/>
                          </a:solidFill>
                          <a:latin typeface="Calibri"/>
                        </a:rPr>
                        <a:t>power / cooling / facilities / cost</a:t>
                      </a:r>
                    </a:p>
                  </a:txBody>
                  <a:tcPr anchor="ctr" marL="128016">
                    <a:solidFill>
                      <a:srgbClr val="18202C"/>
                    </a:solidFill>
                  </a:tcPr>
                </a:tc>
                <a:tc>
                  <a:txBody>
                    <a:bodyPr/>
                    <a:lstStyle/>
                    <a:p>
                      <a:r>
                        <a:rPr sz="1300" b="1">
                          <a:solidFill>
                            <a:srgbClr val="34D399"/>
                          </a:solidFill>
                          <a:latin typeface="Calibri"/>
                        </a:rPr>
                        <a:t>200</a:t>
                      </a:r>
                    </a:p>
                  </a:txBody>
                  <a:tcPr anchor="ctr" marL="128016">
                    <a:solidFill>
                      <a:srgbClr val="18202C"/>
                    </a:solidFill>
                  </a:tcPr>
                </a:tc>
                <a:tc>
                  <a:txBody>
                    <a:bodyPr/>
                    <a:lstStyle/>
                    <a:p>
                      <a:r>
                        <a:rPr sz="1300" b="1">
                          <a:solidFill>
                            <a:srgbClr val="F87171"/>
                          </a:solidFill>
                          <a:latin typeface="Calibri"/>
                        </a:rPr>
                        <a:t>403</a:t>
                      </a:r>
                    </a:p>
                  </a:txBody>
                  <a:tcPr anchor="ctr" marL="128016">
                    <a:solidFill>
                      <a:srgbClr val="18202C"/>
                    </a:solidFill>
                  </a:tcPr>
                </a:tc>
                <a:tc>
                  <a:txBody>
                    <a:bodyPr/>
                    <a:lstStyle/>
                    <a:p>
                      <a:r>
                        <a:rPr sz="1300" b="1">
                          <a:solidFill>
                            <a:srgbClr val="F87171"/>
                          </a:solidFill>
                          <a:latin typeface="Calibri"/>
                        </a:rPr>
                        <a:t>404</a:t>
                      </a:r>
                    </a:p>
                  </a:txBody>
                  <a:tcPr anchor="ctr" marL="128016">
                    <a:solidFill>
                      <a:srgbClr val="18202C"/>
                    </a:solidFill>
                  </a:tcPr>
                </a:tc>
              </a:tr>
              <a:tr h="457200">
                <a:tc>
                  <a:txBody>
                    <a:bodyPr/>
                    <a:lstStyle/>
                    <a:p>
                      <a:r>
                        <a:rPr sz="1300" b="0">
                          <a:solidFill>
                            <a:srgbClr val="EEF2F7"/>
                          </a:solidFill>
                          <a:latin typeface="Calibri"/>
                        </a:rPr>
                        <a:t>orchestrator</a:t>
                      </a:r>
                    </a:p>
                  </a:txBody>
                  <a:tcPr anchor="ctr" marL="128016">
                    <a:solidFill>
                      <a:srgbClr val="18202C"/>
                    </a:solidFill>
                  </a:tcPr>
                </a:tc>
                <a:tc>
                  <a:txBody>
                    <a:bodyPr/>
                    <a:lstStyle/>
                    <a:p>
                      <a:r>
                        <a:rPr sz="1300" b="0">
                          <a:solidFill>
                            <a:srgbClr val="34D399"/>
                          </a:solidFill>
                          <a:latin typeface="Calibri"/>
                        </a:rPr>
                        <a:t>shared only</a:t>
                      </a:r>
                    </a:p>
                  </a:txBody>
                  <a:tcPr anchor="ctr" marL="128016">
                    <a:solidFill>
                      <a:srgbClr val="18202C"/>
                    </a:solidFill>
                  </a:tcPr>
                </a:tc>
                <a:tc>
                  <a:txBody>
                    <a:bodyPr/>
                    <a:lstStyle/>
                    <a:p>
                      <a:r>
                        <a:rPr sz="1300" b="1">
                          <a:solidFill>
                            <a:srgbClr val="F87171"/>
                          </a:solidFill>
                          <a:latin typeface="Calibri"/>
                        </a:rPr>
                        <a:t>403 — all four</a:t>
                      </a:r>
                    </a:p>
                  </a:txBody>
                  <a:tcPr anchor="ctr" marL="128016">
                    <a:solidFill>
                      <a:srgbClr val="18202C"/>
                    </a:solidFill>
                  </a:tcPr>
                </a:tc>
                <a:tc>
                  <a:txBody>
                    <a:bodyPr/>
                    <a:lstStyle/>
                    <a:p>
                      <a:r>
                        <a:rPr sz="1300" b="1">
                          <a:solidFill>
                            <a:srgbClr val="F87171"/>
                          </a:solidFill>
                          <a:latin typeface="Calibri"/>
                        </a:rPr>
                        <a:t>404</a:t>
                      </a:r>
                    </a:p>
                  </a:txBody>
                  <a:tcPr anchor="ctr" marL="128016">
                    <a:solidFill>
                      <a:srgbClr val="18202C"/>
                    </a:solidFill>
                  </a:tcPr>
                </a:tc>
              </a:tr>
              <a:tr h="457200">
                <a:tc>
                  <a:txBody>
                    <a:bodyPr/>
                    <a:lstStyle/>
                    <a:p>
                      <a:r>
                        <a:rPr sz="1300" b="0">
                          <a:solidFill>
                            <a:srgbClr val="EEF2F7"/>
                          </a:solidFill>
                          <a:latin typeface="Calibri"/>
                        </a:rPr>
                        <a:t>public web tier</a:t>
                      </a:r>
                    </a:p>
                  </a:txBody>
                  <a:tcPr anchor="ctr" marL="128016">
                    <a:solidFill>
                      <a:srgbClr val="18202C"/>
                    </a:solidFill>
                  </a:tcPr>
                </a:tc>
                <a:tc>
                  <a:txBody>
                    <a:bodyPr/>
                    <a:lstStyle/>
                    <a:p>
                      <a:r>
                        <a:rPr sz="1300" b="0">
                          <a:solidFill>
                            <a:srgbClr val="34D399"/>
                          </a:solidFill>
                          <a:latin typeface="Calibri"/>
                        </a:rPr>
                        <a:t>shared, read-only</a:t>
                      </a:r>
                    </a:p>
                  </a:txBody>
                  <a:tcPr anchor="ctr" marL="128016">
                    <a:solidFill>
                      <a:srgbClr val="18202C"/>
                    </a:solidFill>
                  </a:tcPr>
                </a:tc>
                <a:tc>
                  <a:txBody>
                    <a:bodyPr/>
                    <a:lstStyle/>
                    <a:p>
                      <a:r>
                        <a:rPr sz="1300" b="1">
                          <a:solidFill>
                            <a:srgbClr val="F87171"/>
                          </a:solidFill>
                          <a:latin typeface="Calibri"/>
                        </a:rPr>
                        <a:t>403</a:t>
                      </a:r>
                    </a:p>
                  </a:txBody>
                  <a:tcPr anchor="ctr" marL="128016">
                    <a:solidFill>
                      <a:srgbClr val="18202C"/>
                    </a:solidFill>
                  </a:tcPr>
                </a:tc>
                <a:tc>
                  <a:txBody>
                    <a:bodyPr/>
                    <a:lstStyle/>
                    <a:p>
                      <a:r>
                        <a:rPr sz="1300" b="1">
                          <a:solidFill>
                            <a:srgbClr val="4DD6FF"/>
                          </a:solidFill>
                          <a:latin typeface="Calibri"/>
                        </a:rPr>
                        <a:t>200 — the only door</a:t>
                      </a:r>
                    </a:p>
                  </a:txBody>
                  <a:tcPr anchor="ctr" marL="128016">
                    <a:solidFill>
                      <a:srgbClr val="18202C"/>
                    </a:solidFill>
                  </a:tcPr>
                </a:tc>
              </a:tr>
            </a:tbl>
          </a:graphicData>
        </a:graphic>
      </p:graphicFrame>
      <p:sp>
        <p:nvSpPr>
          <p:cNvPr id="6" name="Rounded Rectangle 5"/>
          <p:cNvSpPr/>
          <p:nvPr/>
        </p:nvSpPr>
        <p:spPr>
          <a:xfrm>
            <a:off x="548640" y="4526280"/>
            <a:ext cx="5394960" cy="141732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4709160"/>
            <a:ext cx="4754880" cy="274320"/>
          </a:xfrm>
          <a:prstGeom prst="rect">
            <a:avLst/>
          </a:prstGeom>
          <a:noFill/>
        </p:spPr>
        <p:txBody>
          <a:bodyPr wrap="square" anchor="t" lIns="0" rIns="0" tIns="0" bIns="0">
            <a:spAutoFit/>
          </a:bodyPr>
          <a:lstStyle/>
          <a:p>
            <a:pPr algn="l"/>
            <a:r>
              <a:rPr sz="1450" b="1" i="0">
                <a:solidFill>
                  <a:srgbClr val="EEF2F7"/>
                </a:solidFill>
                <a:latin typeface="Arial"/>
              </a:rPr>
              <a:t>The orchestrator cannot read facility data</a:t>
            </a:r>
          </a:p>
        </p:txBody>
      </p:sp>
      <p:sp>
        <p:nvSpPr>
          <p:cNvPr id="8" name="TextBox 7"/>
          <p:cNvSpPr txBox="1"/>
          <p:nvPr/>
        </p:nvSpPr>
        <p:spPr>
          <a:xfrm>
            <a:off x="868680" y="5029200"/>
            <a:ext cx="4754880" cy="822960"/>
          </a:xfrm>
          <a:prstGeom prst="rect">
            <a:avLst/>
          </a:prstGeom>
          <a:noFill/>
        </p:spPr>
        <p:txBody>
          <a:bodyPr wrap="square" anchor="t" lIns="0" rIns="0" tIns="0" bIns="0">
            <a:spAutoFit/>
          </a:bodyPr>
          <a:lstStyle/>
          <a:p>
            <a:pPr algn="l">
              <a:lnSpc>
                <a:spcPts val="1700"/>
              </a:lnSpc>
            </a:pPr>
            <a:r>
              <a:rPr sz="1200" b="0" i="0">
                <a:solidFill>
                  <a:srgbClr val="9AA8BA"/>
                </a:solidFill>
                <a:latin typeface="Calibri"/>
              </a:rPr>
              <a:t>So "it only sees the agents' verdicts" is a property of the platform, not a promise in a README. It is bound to one store and cannot open the others.</a:t>
            </a:r>
          </a:p>
        </p:txBody>
      </p:sp>
      <p:sp>
        <p:nvSpPr>
          <p:cNvPr id="9" name="Rounded Rectangle 8"/>
          <p:cNvSpPr/>
          <p:nvPr/>
        </p:nvSpPr>
        <p:spPr>
          <a:xfrm>
            <a:off x="6217920" y="4526280"/>
            <a:ext cx="5394960" cy="141732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59" y="4709160"/>
            <a:ext cx="4754880" cy="274320"/>
          </a:xfrm>
          <a:prstGeom prst="rect">
            <a:avLst/>
          </a:prstGeom>
          <a:noFill/>
        </p:spPr>
        <p:txBody>
          <a:bodyPr wrap="square" anchor="t" lIns="0" rIns="0" tIns="0" bIns="0">
            <a:spAutoFit/>
          </a:bodyPr>
          <a:lstStyle/>
          <a:p>
            <a:pPr algn="l"/>
            <a:r>
              <a:rPr sz="1450" b="1" i="0">
                <a:solidFill>
                  <a:srgbClr val="EEF2F7"/>
                </a:solidFill>
                <a:latin typeface="Arial"/>
              </a:rPr>
              <a:t>21 checks, run live in the demo</a:t>
            </a:r>
          </a:p>
        </p:txBody>
      </p:sp>
      <p:sp>
        <p:nvSpPr>
          <p:cNvPr id="11" name="TextBox 10"/>
          <p:cNvSpPr txBox="1"/>
          <p:nvPr/>
        </p:nvSpPr>
        <p:spPr>
          <a:xfrm>
            <a:off x="6537959" y="5029200"/>
            <a:ext cx="4754880" cy="548640"/>
          </a:xfrm>
          <a:prstGeom prst="rect">
            <a:avLst/>
          </a:prstGeom>
          <a:noFill/>
        </p:spPr>
        <p:txBody>
          <a:bodyPr wrap="square" anchor="t" lIns="0" rIns="0" tIns="0" bIns="0">
            <a:spAutoFit/>
          </a:bodyPr>
          <a:lstStyle/>
          <a:p>
            <a:pPr algn="l">
              <a:lnSpc>
                <a:spcPts val="1700"/>
              </a:lnSpc>
            </a:pPr>
            <a:r>
              <a:rPr sz="1150" b="0" i="0">
                <a:solidFill>
                  <a:srgbClr val="34D399"/>
                </a:solidFill>
                <a:latin typeface="Courier New"/>
              </a:rPr>
              <a:t>bash infra/iam/03_verify_isolation.sh</a:t>
            </a:r>
          </a:p>
          <a:p>
            <a:pPr algn="l">
              <a:lnSpc>
                <a:spcPts val="1700"/>
              </a:lnSpc>
            </a:pPr>
            <a:r>
              <a:rPr sz="1150" b="0" i="0">
                <a:solidFill>
                  <a:srgbClr val="34D399"/>
                </a:solidFill>
                <a:latin typeface="Courier New"/>
              </a:rPr>
              <a:t>bash scripts/demo_denial.sh</a:t>
            </a:r>
          </a:p>
        </p:txBody>
      </p:sp>
      <p:sp>
        <p:nvSpPr>
          <p:cNvPr id="12" name="TextBox 11"/>
          <p:cNvSpPr txBox="1"/>
          <p:nvPr/>
        </p:nvSpPr>
        <p:spPr>
          <a:xfrm>
            <a:off x="6537959" y="5559552"/>
            <a:ext cx="4754880" cy="274320"/>
          </a:xfrm>
          <a:prstGeom prst="rect">
            <a:avLst/>
          </a:prstGeom>
          <a:noFill/>
        </p:spPr>
        <p:txBody>
          <a:bodyPr wrap="square" anchor="t" lIns="0" rIns="0" tIns="0" bIns="0">
            <a:spAutoFit/>
          </a:bodyPr>
          <a:lstStyle/>
          <a:p>
            <a:pPr algn="l"/>
            <a:r>
              <a:rPr sz="1100" b="0" i="0">
                <a:solidFill>
                  <a:srgbClr val="6B7A8D"/>
                </a:solidFill>
                <a:latin typeface="Calibri"/>
              </a:rPr>
              <a:t>Every denial comes from Google Cloud, not from our code.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i="0">
                <a:solidFill>
                  <a:srgbClr val="EEF2F7"/>
                </a:solidFill>
                <a:latin typeface="Arial"/>
              </a:rPr>
              <a:t>What happens when an agent hallucinates</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i="0">
                <a:solidFill>
                  <a:srgbClr val="9AA8BA"/>
                </a:solidFill>
                <a:latin typeface="Calibri"/>
              </a:rPr>
              <a:t>The rubric asks this directly: how does the system recover if a worker agent loops or returns a hallucination?</a:t>
            </a:r>
          </a:p>
        </p:txBody>
      </p:sp>
      <p:sp>
        <p:nvSpPr>
          <p:cNvPr id="4" name="Rounded Rectangle 3"/>
          <p:cNvSpPr/>
          <p:nvPr/>
        </p:nvSpPr>
        <p:spPr>
          <a:xfrm>
            <a:off x="548640" y="1737360"/>
            <a:ext cx="5394960" cy="201168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901952"/>
            <a:ext cx="4754880" cy="256032"/>
          </a:xfrm>
          <a:prstGeom prst="rect">
            <a:avLst/>
          </a:prstGeom>
          <a:noFill/>
        </p:spPr>
        <p:txBody>
          <a:bodyPr wrap="square" anchor="t" lIns="0" rIns="0" tIns="0" bIns="0">
            <a:spAutoFit/>
          </a:bodyPr>
          <a:lstStyle/>
          <a:p>
            <a:pPr algn="l"/>
            <a:r>
              <a:rPr sz="1200" b="0" i="0">
                <a:solidFill>
                  <a:srgbClr val="6B7A8D"/>
                </a:solidFill>
                <a:latin typeface="Calibri"/>
              </a:rPr>
              <a:t>A real verdict the model produced</a:t>
            </a:r>
          </a:p>
        </p:txBody>
      </p:sp>
      <p:sp>
        <p:nvSpPr>
          <p:cNvPr id="6" name="TextBox 5"/>
          <p:cNvSpPr txBox="1"/>
          <p:nvPr/>
        </p:nvSpPr>
        <p:spPr>
          <a:xfrm>
            <a:off x="868680" y="2194560"/>
            <a:ext cx="4754880" cy="1005840"/>
          </a:xfrm>
          <a:prstGeom prst="rect">
            <a:avLst/>
          </a:prstGeom>
          <a:noFill/>
        </p:spPr>
        <p:txBody>
          <a:bodyPr wrap="square" anchor="t" lIns="0" rIns="0" tIns="0" bIns="0">
            <a:spAutoFit/>
          </a:bodyPr>
          <a:lstStyle/>
          <a:p>
            <a:pPr algn="l">
              <a:lnSpc>
                <a:spcPts val="1700"/>
              </a:lnSpc>
            </a:pPr>
            <a:r>
              <a:rPr sz="1150" b="0" i="0">
                <a:solidFill>
                  <a:srgbClr val="EEF2F7"/>
                </a:solidFill>
                <a:latin typeface="Courier New"/>
              </a:rPr>
              <a:t>"status": "feasible",</a:t>
            </a:r>
          </a:p>
          <a:p>
            <a:pPr algn="l">
              <a:lnSpc>
                <a:spcPts val="1700"/>
              </a:lnSpc>
            </a:pPr>
            <a:r>
              <a:rPr sz="1150" b="0" i="0">
                <a:solidFill>
                  <a:srgbClr val="EEF2F7"/>
                </a:solidFill>
                <a:latin typeface="Courier New"/>
              </a:rPr>
              <a:t>"target_zone": "zone-b",</a:t>
            </a:r>
          </a:p>
          <a:p>
            <a:pPr algn="l">
              <a:lnSpc>
                <a:spcPts val="1700"/>
              </a:lnSpc>
            </a:pPr>
            <a:r>
              <a:rPr sz="1150" b="0" i="0">
                <a:solidFill>
                  <a:srgbClr val="EEF2F7"/>
                </a:solidFill>
                <a:latin typeface="Courier New"/>
              </a:rPr>
              <a:t>"reasoning": "Zone B has ample</a:t>
            </a:r>
          </a:p>
          <a:p>
            <a:pPr algn="l">
              <a:lnSpc>
                <a:spcPts val="1700"/>
              </a:lnSpc>
            </a:pPr>
            <a:r>
              <a:rPr sz="1150" b="0" i="0">
                <a:solidFill>
                  <a:srgbClr val="EEF2F7"/>
                </a:solidFill>
                <a:latin typeface="Courier New"/>
              </a:rPr>
              <a:t>  headroom for this deployment."</a:t>
            </a:r>
          </a:p>
        </p:txBody>
      </p:sp>
      <p:sp>
        <p:nvSpPr>
          <p:cNvPr id="7" name="TextBox 6"/>
          <p:cNvSpPr txBox="1"/>
          <p:nvPr/>
        </p:nvSpPr>
        <p:spPr>
          <a:xfrm>
            <a:off x="868680" y="3200400"/>
            <a:ext cx="4754880" cy="274320"/>
          </a:xfrm>
          <a:prstGeom prst="rect">
            <a:avLst/>
          </a:prstGeom>
          <a:noFill/>
        </p:spPr>
        <p:txBody>
          <a:bodyPr wrap="square" anchor="t" lIns="0" rIns="0" tIns="0" bIns="0">
            <a:spAutoFit/>
          </a:bodyPr>
          <a:lstStyle/>
          <a:p>
            <a:pPr algn="l"/>
            <a:r>
              <a:rPr sz="1300" b="1" i="0">
                <a:solidFill>
                  <a:srgbClr val="F87171"/>
                </a:solidFill>
                <a:latin typeface="Calibri"/>
              </a:rPr>
              <a:t>zone-b has 561 kW. The request needs 792 kW.</a:t>
            </a:r>
          </a:p>
        </p:txBody>
      </p:sp>
      <p:sp>
        <p:nvSpPr>
          <p:cNvPr id="8" name="TextBox 7"/>
          <p:cNvSpPr txBox="1"/>
          <p:nvPr/>
        </p:nvSpPr>
        <p:spPr>
          <a:xfrm>
            <a:off x="868680" y="3456432"/>
            <a:ext cx="4754880" cy="256032"/>
          </a:xfrm>
          <a:prstGeom prst="rect">
            <a:avLst/>
          </a:prstGeom>
          <a:noFill/>
        </p:spPr>
        <p:txBody>
          <a:bodyPr wrap="square" anchor="t" lIns="0" rIns="0" tIns="0" bIns="0">
            <a:spAutoFit/>
          </a:bodyPr>
          <a:lstStyle/>
          <a:p>
            <a:pPr algn="l"/>
            <a:r>
              <a:rPr sz="1150" b="0" i="0">
                <a:solidFill>
                  <a:srgbClr val="9AA8BA"/>
                </a:solidFill>
                <a:latin typeface="Calibri"/>
              </a:rPr>
              <a:t>Confident, well-formed, and wrong by 231 kW.</a:t>
            </a:r>
          </a:p>
        </p:txBody>
      </p:sp>
      <p:sp>
        <p:nvSpPr>
          <p:cNvPr id="9" name="Rounded Rectangle 8"/>
          <p:cNvSpPr/>
          <p:nvPr/>
        </p:nvSpPr>
        <p:spPr>
          <a:xfrm>
            <a:off x="6217920" y="1737360"/>
            <a:ext cx="5394960" cy="1170432"/>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446520" y="1975104"/>
            <a:ext cx="310896" cy="310896"/>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011679"/>
            <a:ext cx="310896" cy="256032"/>
          </a:xfrm>
          <a:prstGeom prst="rect">
            <a:avLst/>
          </a:prstGeom>
          <a:noFill/>
        </p:spPr>
        <p:txBody>
          <a:bodyPr wrap="square" anchor="t" lIns="0" rIns="0" tIns="0" bIns="0">
            <a:spAutoFit/>
          </a:bodyPr>
          <a:lstStyle/>
          <a:p>
            <a:pPr algn="ctr"/>
            <a:r>
              <a:rPr sz="1300" b="1" i="0">
                <a:solidFill>
                  <a:srgbClr val="0E1319"/>
                </a:solidFill>
                <a:latin typeface="Arial"/>
              </a:rPr>
              <a:t>1</a:t>
            </a:r>
          </a:p>
        </p:txBody>
      </p:sp>
      <p:sp>
        <p:nvSpPr>
          <p:cNvPr id="12" name="TextBox 11"/>
          <p:cNvSpPr txBox="1"/>
          <p:nvPr/>
        </p:nvSpPr>
        <p:spPr>
          <a:xfrm>
            <a:off x="6903720" y="1920240"/>
            <a:ext cx="4480560" cy="274320"/>
          </a:xfrm>
          <a:prstGeom prst="rect">
            <a:avLst/>
          </a:prstGeom>
          <a:noFill/>
        </p:spPr>
        <p:txBody>
          <a:bodyPr wrap="square" anchor="t" lIns="0" rIns="0" tIns="0" bIns="0">
            <a:spAutoFit/>
          </a:bodyPr>
          <a:lstStyle/>
          <a:p>
            <a:pPr algn="l"/>
            <a:r>
              <a:rPr sz="1400" b="1" i="0">
                <a:solidFill>
                  <a:srgbClr val="34D399"/>
                </a:solidFill>
                <a:latin typeface="Calibri"/>
              </a:rPr>
              <a:t>Guardrail</a:t>
            </a:r>
          </a:p>
        </p:txBody>
      </p:sp>
      <p:sp>
        <p:nvSpPr>
          <p:cNvPr id="13" name="TextBox 12"/>
          <p:cNvSpPr txBox="1"/>
          <p:nvPr/>
        </p:nvSpPr>
        <p:spPr>
          <a:xfrm>
            <a:off x="6903720" y="2212848"/>
            <a:ext cx="4526280" cy="640080"/>
          </a:xfrm>
          <a:prstGeom prst="rect">
            <a:avLst/>
          </a:prstGeom>
          <a:noFill/>
        </p:spPr>
        <p:txBody>
          <a:bodyPr wrap="square" anchor="t" lIns="0" rIns="0" tIns="0" bIns="0">
            <a:spAutoFit/>
          </a:bodyPr>
          <a:lstStyle/>
          <a:p>
            <a:pPr algn="l">
              <a:lnSpc>
                <a:spcPts val="1600"/>
              </a:lnSpc>
            </a:pPr>
            <a:r>
              <a:rPr sz="1150" b="0" i="0">
                <a:solidFill>
                  <a:srgbClr val="9AA8BA"/>
                </a:solidFill>
                <a:latin typeface="Calibri"/>
              </a:rPr>
              <a:t>Re-checks every verdict against the same figures the agent was given. Not the model checking itself — deterministic code.</a:t>
            </a:r>
          </a:p>
        </p:txBody>
      </p:sp>
      <p:sp>
        <p:nvSpPr>
          <p:cNvPr id="14" name="Rounded Rectangle 13"/>
          <p:cNvSpPr/>
          <p:nvPr/>
        </p:nvSpPr>
        <p:spPr>
          <a:xfrm>
            <a:off x="6217920" y="3063239"/>
            <a:ext cx="5394960" cy="1170432"/>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446520" y="3300983"/>
            <a:ext cx="310896" cy="310896"/>
          </a:xfrm>
          <a:prstGeom prst="ellipse">
            <a:avLst/>
          </a:prstGeom>
          <a:solidFill>
            <a:srgbClr val="4D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337559"/>
            <a:ext cx="310896" cy="256032"/>
          </a:xfrm>
          <a:prstGeom prst="rect">
            <a:avLst/>
          </a:prstGeom>
          <a:noFill/>
        </p:spPr>
        <p:txBody>
          <a:bodyPr wrap="square" anchor="t" lIns="0" rIns="0" tIns="0" bIns="0">
            <a:spAutoFit/>
          </a:bodyPr>
          <a:lstStyle/>
          <a:p>
            <a:pPr algn="ctr"/>
            <a:r>
              <a:rPr sz="1300" b="1" i="0">
                <a:solidFill>
                  <a:srgbClr val="0E1319"/>
                </a:solidFill>
                <a:latin typeface="Arial"/>
              </a:rPr>
              <a:t>2</a:t>
            </a:r>
          </a:p>
        </p:txBody>
      </p:sp>
      <p:sp>
        <p:nvSpPr>
          <p:cNvPr id="17" name="TextBox 16"/>
          <p:cNvSpPr txBox="1"/>
          <p:nvPr/>
        </p:nvSpPr>
        <p:spPr>
          <a:xfrm>
            <a:off x="6903720" y="3246120"/>
            <a:ext cx="4480560" cy="274320"/>
          </a:xfrm>
          <a:prstGeom prst="rect">
            <a:avLst/>
          </a:prstGeom>
          <a:noFill/>
        </p:spPr>
        <p:txBody>
          <a:bodyPr wrap="square" anchor="t" lIns="0" rIns="0" tIns="0" bIns="0">
            <a:spAutoFit/>
          </a:bodyPr>
          <a:lstStyle/>
          <a:p>
            <a:pPr algn="l"/>
            <a:r>
              <a:rPr sz="1400" b="1" i="0">
                <a:solidFill>
                  <a:srgbClr val="4DD6FF"/>
                </a:solidFill>
                <a:latin typeface="Calibri"/>
              </a:rPr>
              <a:t>Retry with correction</a:t>
            </a:r>
          </a:p>
        </p:txBody>
      </p:sp>
      <p:sp>
        <p:nvSpPr>
          <p:cNvPr id="18" name="TextBox 17"/>
          <p:cNvSpPr txBox="1"/>
          <p:nvPr/>
        </p:nvSpPr>
        <p:spPr>
          <a:xfrm>
            <a:off x="6903720" y="3538727"/>
            <a:ext cx="4526280" cy="640080"/>
          </a:xfrm>
          <a:prstGeom prst="rect">
            <a:avLst/>
          </a:prstGeom>
          <a:noFill/>
        </p:spPr>
        <p:txBody>
          <a:bodyPr wrap="square" anchor="t" lIns="0" rIns="0" tIns="0" bIns="0">
            <a:spAutoFit/>
          </a:bodyPr>
          <a:lstStyle/>
          <a:p>
            <a:pPr algn="l">
              <a:lnSpc>
                <a:spcPts val="1600"/>
              </a:lnSpc>
            </a:pPr>
            <a:r>
              <a:rPr sz="1150" b="0" i="0">
                <a:solidFill>
                  <a:srgbClr val="9AA8BA"/>
                </a:solidFill>
                <a:latin typeface="Calibri"/>
              </a:rPr>
              <a:t>The violation text goes back in: "zone-b has 561 kW against a 792 kW request." It usually self-corrects on attempt two.</a:t>
            </a:r>
          </a:p>
        </p:txBody>
      </p:sp>
      <p:sp>
        <p:nvSpPr>
          <p:cNvPr id="19" name="Rounded Rectangle 18"/>
          <p:cNvSpPr/>
          <p:nvPr/>
        </p:nvSpPr>
        <p:spPr>
          <a:xfrm>
            <a:off x="6217920" y="4389120"/>
            <a:ext cx="5394960" cy="1170432"/>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446520" y="4626864"/>
            <a:ext cx="310896" cy="310896"/>
          </a:xfrm>
          <a:prstGeom prst="ellipse">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4663440"/>
            <a:ext cx="310896" cy="256032"/>
          </a:xfrm>
          <a:prstGeom prst="rect">
            <a:avLst/>
          </a:prstGeom>
          <a:noFill/>
        </p:spPr>
        <p:txBody>
          <a:bodyPr wrap="square" anchor="t" lIns="0" rIns="0" tIns="0" bIns="0">
            <a:spAutoFit/>
          </a:bodyPr>
          <a:lstStyle/>
          <a:p>
            <a:pPr algn="ctr"/>
            <a:r>
              <a:rPr sz="1300" b="1" i="0">
                <a:solidFill>
                  <a:srgbClr val="0E1319"/>
                </a:solidFill>
                <a:latin typeface="Arial"/>
              </a:rPr>
              <a:t>3</a:t>
            </a:r>
          </a:p>
        </p:txBody>
      </p:sp>
      <p:sp>
        <p:nvSpPr>
          <p:cNvPr id="22" name="TextBox 21"/>
          <p:cNvSpPr txBox="1"/>
          <p:nvPr/>
        </p:nvSpPr>
        <p:spPr>
          <a:xfrm>
            <a:off x="6903720" y="4572000"/>
            <a:ext cx="4480560" cy="274320"/>
          </a:xfrm>
          <a:prstGeom prst="rect">
            <a:avLst/>
          </a:prstGeom>
          <a:noFill/>
        </p:spPr>
        <p:txBody>
          <a:bodyPr wrap="square" anchor="t" lIns="0" rIns="0" tIns="0" bIns="0">
            <a:spAutoFit/>
          </a:bodyPr>
          <a:lstStyle/>
          <a:p>
            <a:pPr algn="l"/>
            <a:r>
              <a:rPr sz="1400" b="1" i="0">
                <a:solidFill>
                  <a:srgbClr val="FBBF24"/>
                </a:solidFill>
                <a:latin typeface="Calibri"/>
              </a:rPr>
              <a:t>Fail safe, never open</a:t>
            </a:r>
          </a:p>
        </p:txBody>
      </p:sp>
      <p:sp>
        <p:nvSpPr>
          <p:cNvPr id="23" name="TextBox 22"/>
          <p:cNvSpPr txBox="1"/>
          <p:nvPr/>
        </p:nvSpPr>
        <p:spPr>
          <a:xfrm>
            <a:off x="6903720" y="4864608"/>
            <a:ext cx="4526280" cy="640080"/>
          </a:xfrm>
          <a:prstGeom prst="rect">
            <a:avLst/>
          </a:prstGeom>
          <a:noFill/>
        </p:spPr>
        <p:txBody>
          <a:bodyPr wrap="square" anchor="t" lIns="0" rIns="0" tIns="0" bIns="0">
            <a:spAutoFit/>
          </a:bodyPr>
          <a:lstStyle/>
          <a:p>
            <a:pPr algn="l">
              <a:lnSpc>
                <a:spcPts val="1600"/>
              </a:lnSpc>
            </a:pPr>
            <a:r>
              <a:rPr sz="1150" b="0" i="0">
                <a:solidFill>
                  <a:srgbClr val="9AA8BA"/>
                </a:solidFill>
                <a:latin typeface="Calibri"/>
              </a:rPr>
              <a:t>Retries exhausted → return INFEASIBLE and escalate. A broken agent stops the line rather than approving and hoping.</a:t>
            </a:r>
          </a:p>
        </p:txBody>
      </p:sp>
      <p:sp>
        <p:nvSpPr>
          <p:cNvPr id="24" name="Rounded Rectangle 23"/>
          <p:cNvSpPr/>
          <p:nvPr/>
        </p:nvSpPr>
        <p:spPr>
          <a:xfrm>
            <a:off x="548640" y="3931920"/>
            <a:ext cx="5394960" cy="182880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68680" y="4114800"/>
            <a:ext cx="4754880" cy="274320"/>
          </a:xfrm>
          <a:prstGeom prst="rect">
            <a:avLst/>
          </a:prstGeom>
          <a:noFill/>
        </p:spPr>
        <p:txBody>
          <a:bodyPr wrap="square" anchor="t" lIns="0" rIns="0" tIns="0" bIns="0">
            <a:spAutoFit/>
          </a:bodyPr>
          <a:lstStyle/>
          <a:p>
            <a:pPr algn="l"/>
            <a:r>
              <a:rPr sz="1450" b="1" i="0">
                <a:solidFill>
                  <a:srgbClr val="EEF2F7"/>
                </a:solidFill>
                <a:latin typeface="Arial"/>
              </a:rPr>
              <a:t>It caught a failure we never anticipated</a:t>
            </a:r>
          </a:p>
        </p:txBody>
      </p:sp>
      <p:sp>
        <p:nvSpPr>
          <p:cNvPr id="26" name="TextBox 25"/>
          <p:cNvSpPr txBox="1"/>
          <p:nvPr/>
        </p:nvSpPr>
        <p:spPr>
          <a:xfrm>
            <a:off x="868680" y="4443984"/>
            <a:ext cx="4754880" cy="1280160"/>
          </a:xfrm>
          <a:prstGeom prst="rect">
            <a:avLst/>
          </a:prstGeom>
          <a:noFill/>
        </p:spPr>
        <p:txBody>
          <a:bodyPr wrap="square" anchor="t" lIns="0" rIns="0" tIns="0" bIns="0">
            <a:spAutoFit/>
          </a:bodyPr>
          <a:lstStyle/>
          <a:p>
            <a:pPr algn="l">
              <a:lnSpc>
                <a:spcPts val="1700"/>
              </a:lnSpc>
            </a:pPr>
            <a:r>
              <a:rPr sz="1200" b="0" i="0">
                <a:solidFill>
                  <a:srgbClr val="9AA8BA"/>
                </a:solidFill>
                <a:latin typeface="Calibri"/>
              </a:rPr>
              <a:t>Twice during the build, a gateway bug broke every request in production. Every agent hit its retry limit, refused, and the system returned "escalated — needs a human."</a:t>
            </a:r>
          </a:p>
          <a:p>
            <a:pPr algn="l">
              <a:lnSpc>
                <a:spcPts val="1700"/>
              </a:lnSpc>
            </a:pPr>
            <a:r>
              <a:rPr sz="1200" b="0" i="0">
                <a:solidFill>
                  <a:srgbClr val="9AA8BA"/>
                </a:solidFill>
                <a:latin typeface="Calibri"/>
              </a:rPr>
              <a:t/>
            </a:r>
          </a:p>
          <a:p>
            <a:pPr algn="l">
              <a:lnSpc>
                <a:spcPts val="1700"/>
              </a:lnSpc>
            </a:pPr>
            <a:r>
              <a:rPr sz="1200" b="0" i="0">
                <a:solidFill>
                  <a:srgbClr val="9AA8BA"/>
                </a:solidFill>
                <a:latin typeface="Calibri"/>
              </a:rPr>
              <a:t>It did not crash and it did not approve anything. The fail-safe held against a bug that was not in the agents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i="0">
                <a:solidFill>
                  <a:srgbClr val="EEF2F7"/>
                </a:solidFill>
                <a:latin typeface="Arial"/>
              </a:rPr>
              <a:t>Deployed, verifiable, and auditable</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i="0">
                <a:solidFill>
                  <a:srgbClr val="9AA8BA"/>
                </a:solidFill>
                <a:latin typeface="Calibri"/>
              </a:rPr>
              <a:t>Demo &amp; Production Readiness — 30% of the score</a:t>
            </a:r>
          </a:p>
        </p:txBody>
      </p:sp>
      <p:sp>
        <p:nvSpPr>
          <p:cNvPr id="4" name="Rounded Rectangle 3"/>
          <p:cNvSpPr/>
          <p:nvPr/>
        </p:nvSpPr>
        <p:spPr>
          <a:xfrm>
            <a:off x="548640" y="1627632"/>
            <a:ext cx="5394960" cy="124358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04672" y="1901952"/>
            <a:ext cx="329184" cy="329184"/>
          </a:xfrm>
          <a:prstGeom prst="ellipse">
            <a:avLst/>
          </a:prstGeom>
          <a:solidFill>
            <a:srgbClr val="4D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16736" y="1847088"/>
            <a:ext cx="4389120" cy="274320"/>
          </a:xfrm>
          <a:prstGeom prst="rect">
            <a:avLst/>
          </a:prstGeom>
          <a:noFill/>
        </p:spPr>
        <p:txBody>
          <a:bodyPr wrap="square" anchor="t" lIns="0" rIns="0" tIns="0" bIns="0">
            <a:spAutoFit/>
          </a:bodyPr>
          <a:lstStyle/>
          <a:p>
            <a:pPr algn="l"/>
            <a:r>
              <a:rPr sz="1400" b="1" i="0">
                <a:solidFill>
                  <a:srgbClr val="EEF2F7"/>
                </a:solidFill>
                <a:latin typeface="Calibri"/>
              </a:rPr>
              <a:t>Live on Google Cloud</a:t>
            </a:r>
          </a:p>
        </p:txBody>
      </p:sp>
      <p:sp>
        <p:nvSpPr>
          <p:cNvPr id="7" name="TextBox 6"/>
          <p:cNvSpPr txBox="1"/>
          <p:nvPr/>
        </p:nvSpPr>
        <p:spPr>
          <a:xfrm>
            <a:off x="1316736" y="2139696"/>
            <a:ext cx="4480560" cy="658368"/>
          </a:xfrm>
          <a:prstGeom prst="rect">
            <a:avLst/>
          </a:prstGeom>
          <a:noFill/>
        </p:spPr>
        <p:txBody>
          <a:bodyPr wrap="square" anchor="t" lIns="0" rIns="0" tIns="0" bIns="0">
            <a:spAutoFit/>
          </a:bodyPr>
          <a:lstStyle/>
          <a:p>
            <a:pPr algn="l">
              <a:lnSpc>
                <a:spcPts val="1600"/>
              </a:lnSpc>
            </a:pPr>
            <a:r>
              <a:rPr sz="1150" b="0" i="0">
                <a:solidFill>
                  <a:srgbClr val="9AA8BA"/>
                </a:solidFill>
                <a:latin typeface="Calibri"/>
              </a:rPr>
              <a:t>7 Cloud Run services, each under its own service account, scale-to-zero, max-instances capped</a:t>
            </a:r>
          </a:p>
        </p:txBody>
      </p:sp>
      <p:sp>
        <p:nvSpPr>
          <p:cNvPr id="8" name="Rounded Rectangle 7"/>
          <p:cNvSpPr/>
          <p:nvPr/>
        </p:nvSpPr>
        <p:spPr>
          <a:xfrm>
            <a:off x="6217920" y="1627632"/>
            <a:ext cx="5394960" cy="124358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473952" y="1901952"/>
            <a:ext cx="329184" cy="32918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86016" y="1847088"/>
            <a:ext cx="4389120" cy="274320"/>
          </a:xfrm>
          <a:prstGeom prst="rect">
            <a:avLst/>
          </a:prstGeom>
          <a:noFill/>
        </p:spPr>
        <p:txBody>
          <a:bodyPr wrap="square" anchor="t" lIns="0" rIns="0" tIns="0" bIns="0">
            <a:spAutoFit/>
          </a:bodyPr>
          <a:lstStyle/>
          <a:p>
            <a:pPr algn="l"/>
            <a:r>
              <a:rPr sz="1400" b="1" i="0">
                <a:solidFill>
                  <a:srgbClr val="EEF2F7"/>
                </a:solidFill>
                <a:latin typeface="Calibri"/>
              </a:rPr>
              <a:t>Reproducible from scratch</a:t>
            </a:r>
          </a:p>
        </p:txBody>
      </p:sp>
      <p:sp>
        <p:nvSpPr>
          <p:cNvPr id="11" name="TextBox 10"/>
          <p:cNvSpPr txBox="1"/>
          <p:nvPr/>
        </p:nvSpPr>
        <p:spPr>
          <a:xfrm>
            <a:off x="6986016" y="2139696"/>
            <a:ext cx="4480560" cy="658368"/>
          </a:xfrm>
          <a:prstGeom prst="rect">
            <a:avLst/>
          </a:prstGeom>
          <a:noFill/>
        </p:spPr>
        <p:txBody>
          <a:bodyPr wrap="square" anchor="t" lIns="0" rIns="0" tIns="0" bIns="0">
            <a:spAutoFit/>
          </a:bodyPr>
          <a:lstStyle/>
          <a:p>
            <a:pPr algn="l">
              <a:lnSpc>
                <a:spcPts val="1600"/>
              </a:lnSpc>
            </a:pPr>
            <a:r>
              <a:rPr sz="1150" b="0" i="0">
                <a:solidFill>
                  <a:srgbClr val="9AA8BA"/>
                </a:solidFill>
                <a:latin typeface="Calibri"/>
              </a:rPr>
              <a:t>Every resource has a script — APIs, databases, IAM roles and conditions, VPC, deploy, seed</a:t>
            </a:r>
          </a:p>
        </p:txBody>
      </p:sp>
      <p:sp>
        <p:nvSpPr>
          <p:cNvPr id="12" name="Rounded Rectangle 11"/>
          <p:cNvSpPr/>
          <p:nvPr/>
        </p:nvSpPr>
        <p:spPr>
          <a:xfrm>
            <a:off x="548640" y="3054096"/>
            <a:ext cx="5394960" cy="124358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04672" y="3328415"/>
            <a:ext cx="329184" cy="329184"/>
          </a:xfrm>
          <a:prstGeom prst="ellipse">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16736" y="3273552"/>
            <a:ext cx="4389120" cy="274320"/>
          </a:xfrm>
          <a:prstGeom prst="rect">
            <a:avLst/>
          </a:prstGeom>
          <a:noFill/>
        </p:spPr>
        <p:txBody>
          <a:bodyPr wrap="square" anchor="t" lIns="0" rIns="0" tIns="0" bIns="0">
            <a:spAutoFit/>
          </a:bodyPr>
          <a:lstStyle/>
          <a:p>
            <a:pPr algn="l"/>
            <a:r>
              <a:rPr sz="1400" b="1" i="0">
                <a:solidFill>
                  <a:srgbClr val="EEF2F7"/>
                </a:solidFill>
                <a:latin typeface="Calibri"/>
              </a:rPr>
              <a:t>Auditable by design</a:t>
            </a:r>
          </a:p>
        </p:txBody>
      </p:sp>
      <p:sp>
        <p:nvSpPr>
          <p:cNvPr id="15" name="TextBox 14"/>
          <p:cNvSpPr txBox="1"/>
          <p:nvPr/>
        </p:nvSpPr>
        <p:spPr>
          <a:xfrm>
            <a:off x="1316736" y="3566160"/>
            <a:ext cx="4480560" cy="658368"/>
          </a:xfrm>
          <a:prstGeom prst="rect">
            <a:avLst/>
          </a:prstGeom>
          <a:noFill/>
        </p:spPr>
        <p:txBody>
          <a:bodyPr wrap="square" anchor="t" lIns="0" rIns="0" tIns="0" bIns="0">
            <a:spAutoFit/>
          </a:bodyPr>
          <a:lstStyle/>
          <a:p>
            <a:pPr algn="l">
              <a:lnSpc>
                <a:spcPts val="1600"/>
              </a:lnSpc>
            </a:pPr>
            <a:r>
              <a:rPr sz="1150" b="0" i="0">
                <a:solidFill>
                  <a:srgbClr val="9AA8BA"/>
                </a:solidFill>
                <a:latin typeface="Calibri"/>
              </a:rPr>
              <a:t>One correlation id threads every model call, guardrail check, screening result and routing decision</a:t>
            </a:r>
          </a:p>
        </p:txBody>
      </p:sp>
      <p:sp>
        <p:nvSpPr>
          <p:cNvPr id="16" name="Rounded Rectangle 15"/>
          <p:cNvSpPr/>
          <p:nvPr/>
        </p:nvSpPr>
        <p:spPr>
          <a:xfrm>
            <a:off x="6217920" y="3054096"/>
            <a:ext cx="5394960" cy="124358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473952" y="3328415"/>
            <a:ext cx="329184" cy="329184"/>
          </a:xfrm>
          <a:prstGeom prst="ellipse">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86016" y="3273552"/>
            <a:ext cx="4389120" cy="274320"/>
          </a:xfrm>
          <a:prstGeom prst="rect">
            <a:avLst/>
          </a:prstGeom>
          <a:noFill/>
        </p:spPr>
        <p:txBody>
          <a:bodyPr wrap="square" anchor="t" lIns="0" rIns="0" tIns="0" bIns="0">
            <a:spAutoFit/>
          </a:bodyPr>
          <a:lstStyle/>
          <a:p>
            <a:pPr algn="l"/>
            <a:r>
              <a:rPr sz="1400" b="1" i="0">
                <a:solidFill>
                  <a:srgbClr val="EEF2F7"/>
                </a:solidFill>
                <a:latin typeface="Calibri"/>
              </a:rPr>
              <a:t>Signed decision report</a:t>
            </a:r>
          </a:p>
        </p:txBody>
      </p:sp>
      <p:sp>
        <p:nvSpPr>
          <p:cNvPr id="19" name="TextBox 18"/>
          <p:cNvSpPr txBox="1"/>
          <p:nvPr/>
        </p:nvSpPr>
        <p:spPr>
          <a:xfrm>
            <a:off x="6986016" y="3566160"/>
            <a:ext cx="4480560" cy="658368"/>
          </a:xfrm>
          <a:prstGeom prst="rect">
            <a:avLst/>
          </a:prstGeom>
          <a:noFill/>
        </p:spPr>
        <p:txBody>
          <a:bodyPr wrap="square" anchor="t" lIns="0" rIns="0" tIns="0" bIns="0">
            <a:spAutoFit/>
          </a:bodyPr>
          <a:lstStyle/>
          <a:p>
            <a:pPr algn="l">
              <a:lnSpc>
                <a:spcPts val="1600"/>
              </a:lnSpc>
            </a:pPr>
            <a:r>
              <a:rPr sz="1150" b="0" i="0">
                <a:solidFill>
                  <a:srgbClr val="9AA8BA"/>
                </a:solidFill>
                <a:latin typeface="Calibri"/>
              </a:rPr>
              <a:t>Per-decision PDF showing what each agent SAID beside what it was SHOWN — evidence, not just prose</a:t>
            </a:r>
          </a:p>
        </p:txBody>
      </p:sp>
      <p:sp>
        <p:nvSpPr>
          <p:cNvPr id="20" name="Rounded Rectangle 19"/>
          <p:cNvSpPr/>
          <p:nvPr/>
        </p:nvSpPr>
        <p:spPr>
          <a:xfrm>
            <a:off x="548640" y="4526280"/>
            <a:ext cx="11064240" cy="141732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 y="4681728"/>
            <a:ext cx="4572000" cy="274320"/>
          </a:xfrm>
          <a:prstGeom prst="rect">
            <a:avLst/>
          </a:prstGeom>
          <a:noFill/>
        </p:spPr>
        <p:txBody>
          <a:bodyPr wrap="square" anchor="t" lIns="0" rIns="0" tIns="0" bIns="0">
            <a:spAutoFit/>
          </a:bodyPr>
          <a:lstStyle/>
          <a:p>
            <a:pPr algn="l"/>
            <a:r>
              <a:rPr sz="1250" b="1" i="0">
                <a:solidFill>
                  <a:srgbClr val="EEF2F7"/>
                </a:solidFill>
                <a:latin typeface="Calibri"/>
              </a:rPr>
              <a:t>Run these yourself</a:t>
            </a:r>
          </a:p>
        </p:txBody>
      </p:sp>
      <p:sp>
        <p:nvSpPr>
          <p:cNvPr id="22" name="TextBox 21"/>
          <p:cNvSpPr txBox="1"/>
          <p:nvPr/>
        </p:nvSpPr>
        <p:spPr>
          <a:xfrm>
            <a:off x="868680" y="4992624"/>
            <a:ext cx="7863840" cy="822960"/>
          </a:xfrm>
          <a:prstGeom prst="rect">
            <a:avLst/>
          </a:prstGeom>
          <a:noFill/>
        </p:spPr>
        <p:txBody>
          <a:bodyPr wrap="square" anchor="t" lIns="0" rIns="0" tIns="0" bIns="0">
            <a:spAutoFit/>
          </a:bodyPr>
          <a:lstStyle/>
          <a:p>
            <a:pPr algn="l">
              <a:lnSpc>
                <a:spcPts val="1700"/>
              </a:lnSpc>
            </a:pPr>
            <a:r>
              <a:rPr sz="1100" b="0" i="0">
                <a:solidFill>
                  <a:srgbClr val="34D399"/>
                </a:solidFill>
                <a:latin typeface="Courier New"/>
              </a:rPr>
              <a:t>bash infra/iam/03_verify_isolation.sh    14 database isolation checks</a:t>
            </a:r>
          </a:p>
          <a:p>
            <a:pPr algn="l">
              <a:lnSpc>
                <a:spcPts val="1700"/>
              </a:lnSpc>
            </a:pPr>
            <a:r>
              <a:rPr sz="1100" b="0" i="0">
                <a:solidFill>
                  <a:srgbClr val="34D399"/>
                </a:solidFill>
                <a:latin typeface="Courier New"/>
              </a:rPr>
              <a:t>bash scripts/demo_denial.sh              every layer, live denials</a:t>
            </a:r>
          </a:p>
          <a:p>
            <a:pPr algn="l">
              <a:lnSpc>
                <a:spcPts val="1700"/>
              </a:lnSpc>
            </a:pPr>
            <a:r>
              <a:rPr sz="1100" b="0" i="0">
                <a:solidFill>
                  <a:srgbClr val="34D399"/>
                </a:solidFill>
                <a:latin typeface="Courier New"/>
              </a:rPr>
              <a:t>python -m scripts.demo_guardrails        6 guardrail assertions, no model calls</a:t>
            </a:r>
          </a:p>
        </p:txBody>
      </p:sp>
      <p:sp>
        <p:nvSpPr>
          <p:cNvPr id="23" name="TextBox 22"/>
          <p:cNvSpPr txBox="1"/>
          <p:nvPr/>
        </p:nvSpPr>
        <p:spPr>
          <a:xfrm>
            <a:off x="9006840" y="4791456"/>
            <a:ext cx="2377440" cy="457200"/>
          </a:xfrm>
          <a:prstGeom prst="rect">
            <a:avLst/>
          </a:prstGeom>
          <a:noFill/>
        </p:spPr>
        <p:txBody>
          <a:bodyPr wrap="square" anchor="t" lIns="0" rIns="0" tIns="0" bIns="0">
            <a:spAutoFit/>
          </a:bodyPr>
          <a:lstStyle/>
          <a:p>
            <a:pPr algn="l"/>
            <a:r>
              <a:rPr sz="2700" b="1" i="0">
                <a:solidFill>
                  <a:srgbClr val="4DD6FF"/>
                </a:solidFill>
                <a:latin typeface="Arial"/>
              </a:rPr>
              <a:t>60 / day</a:t>
            </a:r>
          </a:p>
        </p:txBody>
      </p:sp>
      <p:sp>
        <p:nvSpPr>
          <p:cNvPr id="24" name="TextBox 23"/>
          <p:cNvSpPr txBox="1"/>
          <p:nvPr/>
        </p:nvSpPr>
        <p:spPr>
          <a:xfrm>
            <a:off x="9006840" y="5285232"/>
            <a:ext cx="2468880" cy="457200"/>
          </a:xfrm>
          <a:prstGeom prst="rect">
            <a:avLst/>
          </a:prstGeom>
          <a:noFill/>
        </p:spPr>
        <p:txBody>
          <a:bodyPr wrap="square" anchor="t" lIns="0" rIns="0" tIns="0" bIns="0">
            <a:spAutoFit/>
          </a:bodyPr>
          <a:lstStyle/>
          <a:p>
            <a:pPr algn="l">
              <a:lnSpc>
                <a:spcPts val="1500"/>
              </a:lnSpc>
            </a:pPr>
            <a:r>
              <a:rPr sz="1100" b="0" i="0">
                <a:solidFill>
                  <a:srgbClr val="9AA8BA"/>
                </a:solidFill>
                <a:latin typeface="Calibri"/>
              </a:rPr>
              <a:t>hard cap on the public demo — about $1.50/day worst case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i="0">
                <a:solidFill>
                  <a:srgbClr val="EEF2F7"/>
                </a:solidFill>
                <a:latin typeface="Arial"/>
              </a:rPr>
              <a:t>Gemini Enterprise Agent Platform coverage</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i="0">
                <a:solidFill>
                  <a:srgbClr val="9AA8BA"/>
                </a:solidFill>
                <a:latin typeface="Calibri"/>
              </a:rPr>
              <a:t>Six of the seven recommended capabilities, one partial — stated honestly</a:t>
            </a:r>
          </a:p>
        </p:txBody>
      </p:sp>
      <p:sp>
        <p:nvSpPr>
          <p:cNvPr id="4" name="Rounded Rectangle 3"/>
          <p:cNvSpPr/>
          <p:nvPr/>
        </p:nvSpPr>
        <p:spPr>
          <a:xfrm>
            <a:off x="548640" y="1609344"/>
            <a:ext cx="11064240" cy="51206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46504"/>
            <a:ext cx="2560320" cy="256032"/>
          </a:xfrm>
          <a:prstGeom prst="rect">
            <a:avLst/>
          </a:prstGeom>
          <a:noFill/>
        </p:spPr>
        <p:txBody>
          <a:bodyPr wrap="square" anchor="t" lIns="0" rIns="0" tIns="0" bIns="0">
            <a:spAutoFit/>
          </a:bodyPr>
          <a:lstStyle/>
          <a:p>
            <a:pPr algn="l"/>
            <a:r>
              <a:rPr sz="1300" b="1" i="0">
                <a:solidFill>
                  <a:srgbClr val="EEF2F7"/>
                </a:solidFill>
                <a:latin typeface="Calibri"/>
              </a:rPr>
              <a:t>Agent Identity</a:t>
            </a:r>
          </a:p>
        </p:txBody>
      </p:sp>
      <p:sp>
        <p:nvSpPr>
          <p:cNvPr id="6" name="TextBox 5"/>
          <p:cNvSpPr txBox="1"/>
          <p:nvPr/>
        </p:nvSpPr>
        <p:spPr>
          <a:xfrm>
            <a:off x="3429000" y="1755648"/>
            <a:ext cx="6492240" cy="256032"/>
          </a:xfrm>
          <a:prstGeom prst="rect">
            <a:avLst/>
          </a:prstGeom>
          <a:noFill/>
        </p:spPr>
        <p:txBody>
          <a:bodyPr wrap="square" anchor="t" lIns="0" rIns="0" tIns="0" bIns="0">
            <a:spAutoFit/>
          </a:bodyPr>
          <a:lstStyle/>
          <a:p>
            <a:pPr algn="l"/>
            <a:r>
              <a:rPr sz="1150" b="0" i="0">
                <a:solidFill>
                  <a:srgbClr val="9AA8BA"/>
                </a:solidFill>
                <a:latin typeface="Calibri"/>
              </a:rPr>
              <a:t>7 service accounts, 3 custom least-privilege roles, IAM conditions</a:t>
            </a:r>
          </a:p>
        </p:txBody>
      </p:sp>
      <p:sp>
        <p:nvSpPr>
          <p:cNvPr id="7" name="TextBox 6"/>
          <p:cNvSpPr txBox="1"/>
          <p:nvPr/>
        </p:nvSpPr>
        <p:spPr>
          <a:xfrm>
            <a:off x="9966960" y="1755648"/>
            <a:ext cx="1371600" cy="256032"/>
          </a:xfrm>
          <a:prstGeom prst="rect">
            <a:avLst/>
          </a:prstGeom>
          <a:noFill/>
        </p:spPr>
        <p:txBody>
          <a:bodyPr wrap="square" anchor="t" lIns="0" rIns="0" tIns="0" bIns="0">
            <a:spAutoFit/>
          </a:bodyPr>
          <a:lstStyle/>
          <a:p>
            <a:pPr algn="r"/>
            <a:r>
              <a:rPr sz="1150" b="1" i="0">
                <a:solidFill>
                  <a:srgbClr val="34D399"/>
                </a:solidFill>
                <a:latin typeface="Calibri"/>
              </a:rPr>
              <a:t>BUILT</a:t>
            </a:r>
          </a:p>
        </p:txBody>
      </p:sp>
      <p:sp>
        <p:nvSpPr>
          <p:cNvPr id="8" name="Rounded Rectangle 7"/>
          <p:cNvSpPr/>
          <p:nvPr/>
        </p:nvSpPr>
        <p:spPr>
          <a:xfrm>
            <a:off x="548640" y="2212848"/>
            <a:ext cx="11064240" cy="51206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350008"/>
            <a:ext cx="2560320" cy="256032"/>
          </a:xfrm>
          <a:prstGeom prst="rect">
            <a:avLst/>
          </a:prstGeom>
          <a:noFill/>
        </p:spPr>
        <p:txBody>
          <a:bodyPr wrap="square" anchor="t" lIns="0" rIns="0" tIns="0" bIns="0">
            <a:spAutoFit/>
          </a:bodyPr>
          <a:lstStyle/>
          <a:p>
            <a:pPr algn="l"/>
            <a:r>
              <a:rPr sz="1300" b="1" i="0">
                <a:solidFill>
                  <a:srgbClr val="EEF2F7"/>
                </a:solidFill>
                <a:latin typeface="Calibri"/>
              </a:rPr>
              <a:t>Agent Gateway</a:t>
            </a:r>
          </a:p>
        </p:txBody>
      </p:sp>
      <p:sp>
        <p:nvSpPr>
          <p:cNvPr id="10" name="TextBox 9"/>
          <p:cNvSpPr txBox="1"/>
          <p:nvPr/>
        </p:nvSpPr>
        <p:spPr>
          <a:xfrm>
            <a:off x="3429000" y="2359152"/>
            <a:ext cx="6492240" cy="256032"/>
          </a:xfrm>
          <a:prstGeom prst="rect">
            <a:avLst/>
          </a:prstGeom>
          <a:noFill/>
        </p:spPr>
        <p:txBody>
          <a:bodyPr wrap="square" anchor="t" lIns="0" rIns="0" tIns="0" bIns="0">
            <a:spAutoFit/>
          </a:bodyPr>
          <a:lstStyle/>
          <a:p>
            <a:pPr algn="l"/>
            <a:r>
              <a:rPr sz="1150" b="0" i="0">
                <a:solidFill>
                  <a:srgbClr val="9AA8BA"/>
                </a:solidFill>
                <a:latin typeface="Calibri"/>
              </a:rPr>
              <a:t>routing table, identity checks, audience-scoped tokens, audit log</a:t>
            </a:r>
          </a:p>
        </p:txBody>
      </p:sp>
      <p:sp>
        <p:nvSpPr>
          <p:cNvPr id="11" name="TextBox 10"/>
          <p:cNvSpPr txBox="1"/>
          <p:nvPr/>
        </p:nvSpPr>
        <p:spPr>
          <a:xfrm>
            <a:off x="9966960" y="2359152"/>
            <a:ext cx="1371600" cy="256032"/>
          </a:xfrm>
          <a:prstGeom prst="rect">
            <a:avLst/>
          </a:prstGeom>
          <a:noFill/>
        </p:spPr>
        <p:txBody>
          <a:bodyPr wrap="square" anchor="t" lIns="0" rIns="0" tIns="0" bIns="0">
            <a:spAutoFit/>
          </a:bodyPr>
          <a:lstStyle/>
          <a:p>
            <a:pPr algn="r"/>
            <a:r>
              <a:rPr sz="1150" b="1" i="0">
                <a:solidFill>
                  <a:srgbClr val="34D399"/>
                </a:solidFill>
                <a:latin typeface="Calibri"/>
              </a:rPr>
              <a:t>BUILT</a:t>
            </a:r>
          </a:p>
        </p:txBody>
      </p:sp>
      <p:sp>
        <p:nvSpPr>
          <p:cNvPr id="12" name="Rounded Rectangle 11"/>
          <p:cNvSpPr/>
          <p:nvPr/>
        </p:nvSpPr>
        <p:spPr>
          <a:xfrm>
            <a:off x="548640" y="2816352"/>
            <a:ext cx="11064240" cy="51206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2953512"/>
            <a:ext cx="2560320" cy="256032"/>
          </a:xfrm>
          <a:prstGeom prst="rect">
            <a:avLst/>
          </a:prstGeom>
          <a:noFill/>
        </p:spPr>
        <p:txBody>
          <a:bodyPr wrap="square" anchor="t" lIns="0" rIns="0" tIns="0" bIns="0">
            <a:spAutoFit/>
          </a:bodyPr>
          <a:lstStyle/>
          <a:p>
            <a:pPr algn="l"/>
            <a:r>
              <a:rPr sz="1300" b="1" i="0">
                <a:solidFill>
                  <a:srgbClr val="EEF2F7"/>
                </a:solidFill>
                <a:latin typeface="Calibri"/>
              </a:rPr>
              <a:t>Model Armor</a:t>
            </a:r>
          </a:p>
        </p:txBody>
      </p:sp>
      <p:sp>
        <p:nvSpPr>
          <p:cNvPr id="14" name="TextBox 13"/>
          <p:cNvSpPr txBox="1"/>
          <p:nvPr/>
        </p:nvSpPr>
        <p:spPr>
          <a:xfrm>
            <a:off x="3429000" y="2962656"/>
            <a:ext cx="6492240" cy="256032"/>
          </a:xfrm>
          <a:prstGeom prst="rect">
            <a:avLst/>
          </a:prstGeom>
          <a:noFill/>
        </p:spPr>
        <p:txBody>
          <a:bodyPr wrap="square" anchor="t" lIns="0" rIns="0" tIns="0" bIns="0">
            <a:spAutoFit/>
          </a:bodyPr>
          <a:lstStyle/>
          <a:p>
            <a:pPr algn="l"/>
            <a:r>
              <a:rPr sz="1150" b="0" i="0">
                <a:solidFill>
                  <a:srgbClr val="9AA8BA"/>
                </a:solidFill>
                <a:latin typeface="Calibri"/>
              </a:rPr>
              <a:t>screens inter-agent traffic in and out — fails closed</a:t>
            </a:r>
          </a:p>
        </p:txBody>
      </p:sp>
      <p:sp>
        <p:nvSpPr>
          <p:cNvPr id="15" name="TextBox 14"/>
          <p:cNvSpPr txBox="1"/>
          <p:nvPr/>
        </p:nvSpPr>
        <p:spPr>
          <a:xfrm>
            <a:off x="9966960" y="2962656"/>
            <a:ext cx="1371600" cy="256032"/>
          </a:xfrm>
          <a:prstGeom prst="rect">
            <a:avLst/>
          </a:prstGeom>
          <a:noFill/>
        </p:spPr>
        <p:txBody>
          <a:bodyPr wrap="square" anchor="t" lIns="0" rIns="0" tIns="0" bIns="0">
            <a:spAutoFit/>
          </a:bodyPr>
          <a:lstStyle/>
          <a:p>
            <a:pPr algn="r"/>
            <a:r>
              <a:rPr sz="1150" b="1" i="0">
                <a:solidFill>
                  <a:srgbClr val="34D399"/>
                </a:solidFill>
                <a:latin typeface="Calibri"/>
              </a:rPr>
              <a:t>BUILT</a:t>
            </a:r>
          </a:p>
        </p:txBody>
      </p:sp>
      <p:sp>
        <p:nvSpPr>
          <p:cNvPr id="16" name="Rounded Rectangle 15"/>
          <p:cNvSpPr/>
          <p:nvPr/>
        </p:nvSpPr>
        <p:spPr>
          <a:xfrm>
            <a:off x="548640" y="3419856"/>
            <a:ext cx="11064240" cy="51206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60" y="3557016"/>
            <a:ext cx="2560320" cy="256032"/>
          </a:xfrm>
          <a:prstGeom prst="rect">
            <a:avLst/>
          </a:prstGeom>
          <a:noFill/>
        </p:spPr>
        <p:txBody>
          <a:bodyPr wrap="square" anchor="t" lIns="0" rIns="0" tIns="0" bIns="0">
            <a:spAutoFit/>
          </a:bodyPr>
          <a:lstStyle/>
          <a:p>
            <a:pPr algn="l"/>
            <a:r>
              <a:rPr sz="1300" b="1" i="0">
                <a:solidFill>
                  <a:srgbClr val="EEF2F7"/>
                </a:solidFill>
                <a:latin typeface="Calibri"/>
              </a:rPr>
              <a:t>Agent Registry</a:t>
            </a:r>
          </a:p>
        </p:txBody>
      </p:sp>
      <p:sp>
        <p:nvSpPr>
          <p:cNvPr id="18" name="TextBox 17"/>
          <p:cNvSpPr txBox="1"/>
          <p:nvPr/>
        </p:nvSpPr>
        <p:spPr>
          <a:xfrm>
            <a:off x="3429000" y="3566160"/>
            <a:ext cx="6492240" cy="256032"/>
          </a:xfrm>
          <a:prstGeom prst="rect">
            <a:avLst/>
          </a:prstGeom>
          <a:noFill/>
        </p:spPr>
        <p:txBody>
          <a:bodyPr wrap="square" anchor="t" lIns="0" rIns="0" tIns="0" bIns="0">
            <a:spAutoFit/>
          </a:bodyPr>
          <a:lstStyle/>
          <a:p>
            <a:pPr algn="l"/>
            <a:r>
              <a:rPr sz="1150" b="0" i="0">
                <a:solidFill>
                  <a:srgbClr val="9AA8BA"/>
                </a:solidFill>
                <a:latin typeface="Calibri"/>
              </a:rPr>
              <a:t>contract, version, owner, guardrails and data scope per agent</a:t>
            </a:r>
          </a:p>
        </p:txBody>
      </p:sp>
      <p:sp>
        <p:nvSpPr>
          <p:cNvPr id="19" name="TextBox 18"/>
          <p:cNvSpPr txBox="1"/>
          <p:nvPr/>
        </p:nvSpPr>
        <p:spPr>
          <a:xfrm>
            <a:off x="9966960" y="3566160"/>
            <a:ext cx="1371600" cy="256032"/>
          </a:xfrm>
          <a:prstGeom prst="rect">
            <a:avLst/>
          </a:prstGeom>
          <a:noFill/>
        </p:spPr>
        <p:txBody>
          <a:bodyPr wrap="square" anchor="t" lIns="0" rIns="0" tIns="0" bIns="0">
            <a:spAutoFit/>
          </a:bodyPr>
          <a:lstStyle/>
          <a:p>
            <a:pPr algn="r"/>
            <a:r>
              <a:rPr sz="1150" b="1" i="0">
                <a:solidFill>
                  <a:srgbClr val="34D399"/>
                </a:solidFill>
                <a:latin typeface="Calibri"/>
              </a:rPr>
              <a:t>BUILT</a:t>
            </a:r>
          </a:p>
        </p:txBody>
      </p:sp>
      <p:sp>
        <p:nvSpPr>
          <p:cNvPr id="20" name="Rounded Rectangle 19"/>
          <p:cNvSpPr/>
          <p:nvPr/>
        </p:nvSpPr>
        <p:spPr>
          <a:xfrm>
            <a:off x="548640" y="4023360"/>
            <a:ext cx="11064240" cy="51206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60" y="4160520"/>
            <a:ext cx="2560320" cy="256032"/>
          </a:xfrm>
          <a:prstGeom prst="rect">
            <a:avLst/>
          </a:prstGeom>
          <a:noFill/>
        </p:spPr>
        <p:txBody>
          <a:bodyPr wrap="square" anchor="t" lIns="0" rIns="0" tIns="0" bIns="0">
            <a:spAutoFit/>
          </a:bodyPr>
          <a:lstStyle/>
          <a:p>
            <a:pPr algn="l"/>
            <a:r>
              <a:rPr sz="1300" b="1" i="0">
                <a:solidFill>
                  <a:srgbClr val="EEF2F7"/>
                </a:solidFill>
                <a:latin typeface="Calibri"/>
              </a:rPr>
              <a:t>Memory Bank</a:t>
            </a:r>
          </a:p>
        </p:txBody>
      </p:sp>
      <p:sp>
        <p:nvSpPr>
          <p:cNvPr id="22" name="TextBox 21"/>
          <p:cNvSpPr txBox="1"/>
          <p:nvPr/>
        </p:nvSpPr>
        <p:spPr>
          <a:xfrm>
            <a:off x="3429000" y="4169664"/>
            <a:ext cx="6492240" cy="256032"/>
          </a:xfrm>
          <a:prstGeom prst="rect">
            <a:avLst/>
          </a:prstGeom>
          <a:noFill/>
        </p:spPr>
        <p:txBody>
          <a:bodyPr wrap="square" anchor="t" lIns="0" rIns="0" tIns="0" bIns="0">
            <a:spAutoFit/>
          </a:bodyPr>
          <a:lstStyle/>
          <a:p>
            <a:pPr algn="l"/>
            <a:r>
              <a:rPr sz="1150" b="0" i="0">
                <a:solidFill>
                  <a:srgbClr val="9AA8BA"/>
                </a:solidFill>
                <a:latin typeface="Calibri"/>
              </a:rPr>
              <a:t>precedent recalled before reconciling, written back after</a:t>
            </a:r>
          </a:p>
        </p:txBody>
      </p:sp>
      <p:sp>
        <p:nvSpPr>
          <p:cNvPr id="23" name="TextBox 22"/>
          <p:cNvSpPr txBox="1"/>
          <p:nvPr/>
        </p:nvSpPr>
        <p:spPr>
          <a:xfrm>
            <a:off x="9966960" y="4169664"/>
            <a:ext cx="1371600" cy="256032"/>
          </a:xfrm>
          <a:prstGeom prst="rect">
            <a:avLst/>
          </a:prstGeom>
          <a:noFill/>
        </p:spPr>
        <p:txBody>
          <a:bodyPr wrap="square" anchor="t" lIns="0" rIns="0" tIns="0" bIns="0">
            <a:spAutoFit/>
          </a:bodyPr>
          <a:lstStyle/>
          <a:p>
            <a:pPr algn="r"/>
            <a:r>
              <a:rPr sz="1150" b="1" i="0">
                <a:solidFill>
                  <a:srgbClr val="34D399"/>
                </a:solidFill>
                <a:latin typeface="Calibri"/>
              </a:rPr>
              <a:t>BUILT</a:t>
            </a:r>
          </a:p>
        </p:txBody>
      </p:sp>
      <p:sp>
        <p:nvSpPr>
          <p:cNvPr id="24" name="Rounded Rectangle 23"/>
          <p:cNvSpPr/>
          <p:nvPr/>
        </p:nvSpPr>
        <p:spPr>
          <a:xfrm>
            <a:off x="548640" y="4626864"/>
            <a:ext cx="11064240" cy="51206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2960" y="4764024"/>
            <a:ext cx="2560320" cy="256032"/>
          </a:xfrm>
          <a:prstGeom prst="rect">
            <a:avLst/>
          </a:prstGeom>
          <a:noFill/>
        </p:spPr>
        <p:txBody>
          <a:bodyPr wrap="square" anchor="t" lIns="0" rIns="0" tIns="0" bIns="0">
            <a:spAutoFit/>
          </a:bodyPr>
          <a:lstStyle/>
          <a:p>
            <a:pPr algn="l"/>
            <a:r>
              <a:rPr sz="1300" b="1" i="0">
                <a:solidFill>
                  <a:srgbClr val="EEF2F7"/>
                </a:solidFill>
                <a:latin typeface="Calibri"/>
              </a:rPr>
              <a:t>Agent Observability</a:t>
            </a:r>
          </a:p>
        </p:txBody>
      </p:sp>
      <p:sp>
        <p:nvSpPr>
          <p:cNvPr id="26" name="TextBox 25"/>
          <p:cNvSpPr txBox="1"/>
          <p:nvPr/>
        </p:nvSpPr>
        <p:spPr>
          <a:xfrm>
            <a:off x="3429000" y="4773168"/>
            <a:ext cx="6492240" cy="256032"/>
          </a:xfrm>
          <a:prstGeom prst="rect">
            <a:avLst/>
          </a:prstGeom>
          <a:noFill/>
        </p:spPr>
        <p:txBody>
          <a:bodyPr wrap="square" anchor="t" lIns="0" rIns="0" tIns="0" bIns="0">
            <a:spAutoFit/>
          </a:bodyPr>
          <a:lstStyle/>
          <a:p>
            <a:pPr algn="l"/>
            <a:r>
              <a:rPr sz="1150" b="0" i="0">
                <a:solidFill>
                  <a:srgbClr val="9AA8BA"/>
                </a:solidFill>
                <a:latin typeface="Calibri"/>
              </a:rPr>
              <a:t>correlation id through every agent, full reasoning chain kept</a:t>
            </a:r>
          </a:p>
        </p:txBody>
      </p:sp>
      <p:sp>
        <p:nvSpPr>
          <p:cNvPr id="27" name="TextBox 26"/>
          <p:cNvSpPr txBox="1"/>
          <p:nvPr/>
        </p:nvSpPr>
        <p:spPr>
          <a:xfrm>
            <a:off x="9966960" y="4773168"/>
            <a:ext cx="1371600" cy="256032"/>
          </a:xfrm>
          <a:prstGeom prst="rect">
            <a:avLst/>
          </a:prstGeom>
          <a:noFill/>
        </p:spPr>
        <p:txBody>
          <a:bodyPr wrap="square" anchor="t" lIns="0" rIns="0" tIns="0" bIns="0">
            <a:spAutoFit/>
          </a:bodyPr>
          <a:lstStyle/>
          <a:p>
            <a:pPr algn="r"/>
            <a:r>
              <a:rPr sz="1150" b="1" i="0">
                <a:solidFill>
                  <a:srgbClr val="34D399"/>
                </a:solidFill>
                <a:latin typeface="Calibri"/>
              </a:rPr>
              <a:t>BUILT</a:t>
            </a:r>
          </a:p>
        </p:txBody>
      </p:sp>
      <p:sp>
        <p:nvSpPr>
          <p:cNvPr id="28" name="Rounded Rectangle 27"/>
          <p:cNvSpPr/>
          <p:nvPr/>
        </p:nvSpPr>
        <p:spPr>
          <a:xfrm>
            <a:off x="548640" y="5230368"/>
            <a:ext cx="11064240" cy="512064"/>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2960" y="5367528"/>
            <a:ext cx="2560320" cy="256032"/>
          </a:xfrm>
          <a:prstGeom prst="rect">
            <a:avLst/>
          </a:prstGeom>
          <a:noFill/>
        </p:spPr>
        <p:txBody>
          <a:bodyPr wrap="square" anchor="t" lIns="0" rIns="0" tIns="0" bIns="0">
            <a:spAutoFit/>
          </a:bodyPr>
          <a:lstStyle/>
          <a:p>
            <a:pPr algn="l"/>
            <a:r>
              <a:rPr sz="1300" b="1" i="0">
                <a:solidFill>
                  <a:srgbClr val="EEF2F7"/>
                </a:solidFill>
                <a:latin typeface="Calibri"/>
              </a:rPr>
              <a:t>Agent Runtime</a:t>
            </a:r>
          </a:p>
        </p:txBody>
      </p:sp>
      <p:sp>
        <p:nvSpPr>
          <p:cNvPr id="30" name="TextBox 29"/>
          <p:cNvSpPr txBox="1"/>
          <p:nvPr/>
        </p:nvSpPr>
        <p:spPr>
          <a:xfrm>
            <a:off x="3429000" y="5376672"/>
            <a:ext cx="6492240" cy="256032"/>
          </a:xfrm>
          <a:prstGeom prst="rect">
            <a:avLst/>
          </a:prstGeom>
          <a:noFill/>
        </p:spPr>
        <p:txBody>
          <a:bodyPr wrap="square" anchor="t" lIns="0" rIns="0" tIns="0" bIns="0">
            <a:spAutoFit/>
          </a:bodyPr>
          <a:lstStyle/>
          <a:p>
            <a:pPr algn="l"/>
            <a:r>
              <a:rPr sz="1150" b="0" i="0">
                <a:solidFill>
                  <a:srgbClr val="9AA8BA"/>
                </a:solidFill>
                <a:latin typeface="Calibri"/>
              </a:rPr>
              <a:t>Cloud Run with per-agent identity — but delivery is synchronous</a:t>
            </a:r>
          </a:p>
        </p:txBody>
      </p:sp>
      <p:sp>
        <p:nvSpPr>
          <p:cNvPr id="31" name="TextBox 30"/>
          <p:cNvSpPr txBox="1"/>
          <p:nvPr/>
        </p:nvSpPr>
        <p:spPr>
          <a:xfrm>
            <a:off x="9966960" y="5376672"/>
            <a:ext cx="1371600" cy="256032"/>
          </a:xfrm>
          <a:prstGeom prst="rect">
            <a:avLst/>
          </a:prstGeom>
          <a:noFill/>
        </p:spPr>
        <p:txBody>
          <a:bodyPr wrap="square" anchor="t" lIns="0" rIns="0" tIns="0" bIns="0">
            <a:spAutoFit/>
          </a:bodyPr>
          <a:lstStyle/>
          <a:p>
            <a:pPr algn="r"/>
            <a:r>
              <a:rPr sz="1150" b="1" i="0">
                <a:solidFill>
                  <a:srgbClr val="FBBF24"/>
                </a:solidFill>
                <a:latin typeface="Calibri"/>
              </a:rPr>
              <a:t>PARTIAL</a:t>
            </a:r>
          </a:p>
        </p:txBody>
      </p:sp>
      <p:sp>
        <p:nvSpPr>
          <p:cNvPr id="32" name="TextBox 31"/>
          <p:cNvSpPr txBox="1"/>
          <p:nvPr/>
        </p:nvSpPr>
        <p:spPr>
          <a:xfrm>
            <a:off x="548640" y="5888736"/>
            <a:ext cx="11064240" cy="402336"/>
          </a:xfrm>
          <a:prstGeom prst="rect">
            <a:avLst/>
          </a:prstGeom>
          <a:noFill/>
        </p:spPr>
        <p:txBody>
          <a:bodyPr wrap="square" anchor="t" lIns="0" rIns="0" tIns="0" bIns="0">
            <a:spAutoFit/>
          </a:bodyPr>
          <a:lstStyle/>
          <a:p>
            <a:pPr algn="l"/>
            <a:r>
              <a:rPr sz="1200" b="0" i="1">
                <a:solidFill>
                  <a:srgbClr val="6B7A8D"/>
                </a:solidFill>
                <a:latin typeface="Calibri"/>
              </a:rPr>
              <a:t>Where a capability exists it was built on Google Cloud primitives rather than by adopting a managed product. The behaviour is real and verifiable — but it is our implementation, and this deck says 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i="0">
                <a:solidFill>
                  <a:srgbClr val="EEF2F7"/>
                </a:solidFill>
                <a:latin typeface="Arial"/>
              </a:rPr>
              <a:t>What we would do next</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i="0">
                <a:solidFill>
                  <a:srgbClr val="9AA8BA"/>
                </a:solidFill>
                <a:latin typeface="Calibri"/>
              </a:rPr>
              <a:t>And what we are not claiming</a:t>
            </a:r>
          </a:p>
        </p:txBody>
      </p:sp>
      <p:sp>
        <p:nvSpPr>
          <p:cNvPr id="4" name="Rounded Rectangle 3"/>
          <p:cNvSpPr/>
          <p:nvPr/>
        </p:nvSpPr>
        <p:spPr>
          <a:xfrm>
            <a:off x="548640" y="1645920"/>
            <a:ext cx="5394960" cy="406908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28800"/>
            <a:ext cx="4754880" cy="274320"/>
          </a:xfrm>
          <a:prstGeom prst="rect">
            <a:avLst/>
          </a:prstGeom>
          <a:noFill/>
        </p:spPr>
        <p:txBody>
          <a:bodyPr wrap="square" anchor="t" lIns="0" rIns="0" tIns="0" bIns="0">
            <a:spAutoFit/>
          </a:bodyPr>
          <a:lstStyle/>
          <a:p>
            <a:pPr algn="l"/>
            <a:r>
              <a:rPr sz="1200" b="0" i="0">
                <a:solidFill>
                  <a:srgbClr val="6B7A8D"/>
                </a:solidFill>
                <a:latin typeface="Calibri"/>
              </a:rPr>
              <a:t>Next</a:t>
            </a:r>
          </a:p>
        </p:txBody>
      </p:sp>
      <p:sp>
        <p:nvSpPr>
          <p:cNvPr id="6" name="TextBox 5"/>
          <p:cNvSpPr txBox="1"/>
          <p:nvPr/>
        </p:nvSpPr>
        <p:spPr>
          <a:xfrm>
            <a:off x="868680" y="2194560"/>
            <a:ext cx="4754880" cy="274320"/>
          </a:xfrm>
          <a:prstGeom prst="rect">
            <a:avLst/>
          </a:prstGeom>
          <a:noFill/>
        </p:spPr>
        <p:txBody>
          <a:bodyPr wrap="square" anchor="t" lIns="0" rIns="0" tIns="0" bIns="0">
            <a:spAutoFit/>
          </a:bodyPr>
          <a:lstStyle/>
          <a:p>
            <a:pPr algn="l"/>
            <a:r>
              <a:rPr sz="1350" b="1" i="0">
                <a:solidFill>
                  <a:srgbClr val="4DD6FF"/>
                </a:solidFill>
                <a:latin typeface="Calibri"/>
              </a:rPr>
              <a:t>Read-only capacity audit</a:t>
            </a:r>
          </a:p>
        </p:txBody>
      </p:sp>
      <p:sp>
        <p:nvSpPr>
          <p:cNvPr id="7" name="TextBox 6"/>
          <p:cNvSpPr txBox="1"/>
          <p:nvPr/>
        </p:nvSpPr>
        <p:spPr>
          <a:xfrm>
            <a:off x="868680" y="2487168"/>
            <a:ext cx="4754880" cy="786384"/>
          </a:xfrm>
          <a:prstGeom prst="rect">
            <a:avLst/>
          </a:prstGeom>
          <a:noFill/>
        </p:spPr>
        <p:txBody>
          <a:bodyPr wrap="square" anchor="t" lIns="0" rIns="0" tIns="0" bIns="0">
            <a:spAutoFit/>
          </a:bodyPr>
          <a:lstStyle/>
          <a:p>
            <a:pPr algn="l">
              <a:lnSpc>
                <a:spcPts val="1600"/>
              </a:lnSpc>
            </a:pPr>
            <a:r>
              <a:rPr sz="1150" b="0" i="0">
                <a:solidFill>
                  <a:srgbClr val="9AA8BA"/>
                </a:solidFill>
                <a:latin typeface="Calibri"/>
              </a:rPr>
              <a:t>Point it at a DCIM export and report the megawatts an operator has paid for and cannot use. No integration risk, no trust barrier.</a:t>
            </a:r>
          </a:p>
        </p:txBody>
      </p:sp>
      <p:sp>
        <p:nvSpPr>
          <p:cNvPr id="8" name="TextBox 7"/>
          <p:cNvSpPr txBox="1"/>
          <p:nvPr/>
        </p:nvSpPr>
        <p:spPr>
          <a:xfrm>
            <a:off x="868680" y="3346704"/>
            <a:ext cx="4754880" cy="274320"/>
          </a:xfrm>
          <a:prstGeom prst="rect">
            <a:avLst/>
          </a:prstGeom>
          <a:noFill/>
        </p:spPr>
        <p:txBody>
          <a:bodyPr wrap="square" anchor="t" lIns="0" rIns="0" tIns="0" bIns="0">
            <a:spAutoFit/>
          </a:bodyPr>
          <a:lstStyle/>
          <a:p>
            <a:pPr algn="l"/>
            <a:r>
              <a:rPr sz="1350" b="1" i="0">
                <a:solidFill>
                  <a:srgbClr val="4DD6FF"/>
                </a:solidFill>
                <a:latin typeface="Calibri"/>
              </a:rPr>
              <a:t>Durable async execution</a:t>
            </a:r>
          </a:p>
        </p:txBody>
      </p:sp>
      <p:sp>
        <p:nvSpPr>
          <p:cNvPr id="9" name="TextBox 8"/>
          <p:cNvSpPr txBox="1"/>
          <p:nvPr/>
        </p:nvSpPr>
        <p:spPr>
          <a:xfrm>
            <a:off x="868680" y="3639312"/>
            <a:ext cx="4754880" cy="786384"/>
          </a:xfrm>
          <a:prstGeom prst="rect">
            <a:avLst/>
          </a:prstGeom>
          <a:noFill/>
        </p:spPr>
        <p:txBody>
          <a:bodyPr wrap="square" anchor="t" lIns="0" rIns="0" tIns="0" bIns="0">
            <a:spAutoFit/>
          </a:bodyPr>
          <a:lstStyle/>
          <a:p>
            <a:pPr algn="l">
              <a:lnSpc>
                <a:spcPts val="1600"/>
              </a:lnSpc>
            </a:pPr>
            <a:r>
              <a:rPr sz="1150" b="0" i="0">
                <a:solidFill>
                  <a:srgbClr val="9AA8BA"/>
                </a:solidFill>
                <a:latin typeface="Calibri"/>
              </a:rPr>
              <a:t>Results are already durable; delivery is still synchronous. Cloud Tasks closes the last GEAP gap.</a:t>
            </a:r>
          </a:p>
        </p:txBody>
      </p:sp>
      <p:sp>
        <p:nvSpPr>
          <p:cNvPr id="10" name="TextBox 9"/>
          <p:cNvSpPr txBox="1"/>
          <p:nvPr/>
        </p:nvSpPr>
        <p:spPr>
          <a:xfrm>
            <a:off x="868680" y="4498848"/>
            <a:ext cx="4754880" cy="274320"/>
          </a:xfrm>
          <a:prstGeom prst="rect">
            <a:avLst/>
          </a:prstGeom>
          <a:noFill/>
        </p:spPr>
        <p:txBody>
          <a:bodyPr wrap="square" anchor="t" lIns="0" rIns="0" tIns="0" bIns="0">
            <a:spAutoFit/>
          </a:bodyPr>
          <a:lstStyle/>
          <a:p>
            <a:pPr algn="l"/>
            <a:r>
              <a:rPr sz="1350" b="1" i="0">
                <a:solidFill>
                  <a:srgbClr val="4DD6FF"/>
                </a:solidFill>
                <a:latin typeface="Calibri"/>
              </a:rPr>
              <a:t>A solver under the reasoning</a:t>
            </a:r>
          </a:p>
        </p:txBody>
      </p:sp>
      <p:sp>
        <p:nvSpPr>
          <p:cNvPr id="11" name="TextBox 10"/>
          <p:cNvSpPr txBox="1"/>
          <p:nvPr/>
        </p:nvSpPr>
        <p:spPr>
          <a:xfrm>
            <a:off x="868680" y="4791456"/>
            <a:ext cx="4754880" cy="786384"/>
          </a:xfrm>
          <a:prstGeom prst="rect">
            <a:avLst/>
          </a:prstGeom>
          <a:noFill/>
        </p:spPr>
        <p:txBody>
          <a:bodyPr wrap="square" anchor="t" lIns="0" rIns="0" tIns="0" bIns="0">
            <a:spAutoFit/>
          </a:bodyPr>
          <a:lstStyle/>
          <a:p>
            <a:pPr algn="l">
              <a:lnSpc>
                <a:spcPts val="1600"/>
              </a:lnSpc>
            </a:pPr>
            <a:r>
              <a:rPr sz="1150" b="0" i="0">
                <a:solidFill>
                  <a:srgbClr val="9AA8BA"/>
                </a:solidFill>
                <a:latin typeface="Calibri"/>
              </a:rPr>
              <a:t>Comparing 792 kW against 3,053 kW is arithmetic. The model earns its place on interpretation and negotiation, not on the maths.</a:t>
            </a:r>
          </a:p>
        </p:txBody>
      </p:sp>
      <p:sp>
        <p:nvSpPr>
          <p:cNvPr id="12" name="Rounded Rectangle 11"/>
          <p:cNvSpPr/>
          <p:nvPr/>
        </p:nvSpPr>
        <p:spPr>
          <a:xfrm>
            <a:off x="6217920" y="1645920"/>
            <a:ext cx="5394960" cy="406908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37960" y="1828800"/>
            <a:ext cx="4754880" cy="274320"/>
          </a:xfrm>
          <a:prstGeom prst="rect">
            <a:avLst/>
          </a:prstGeom>
          <a:noFill/>
        </p:spPr>
        <p:txBody>
          <a:bodyPr wrap="square" anchor="t" lIns="0" rIns="0" tIns="0" bIns="0">
            <a:spAutoFit/>
          </a:bodyPr>
          <a:lstStyle/>
          <a:p>
            <a:pPr algn="l"/>
            <a:r>
              <a:rPr sz="1200" b="0" i="0">
                <a:solidFill>
                  <a:srgbClr val="6B7A8D"/>
                </a:solidFill>
                <a:latin typeface="Calibri"/>
              </a:rPr>
              <a:t>Stated plainly</a:t>
            </a:r>
          </a:p>
        </p:txBody>
      </p:sp>
      <p:sp>
        <p:nvSpPr>
          <p:cNvPr id="14" name="TextBox 13"/>
          <p:cNvSpPr txBox="1"/>
          <p:nvPr/>
        </p:nvSpPr>
        <p:spPr>
          <a:xfrm>
            <a:off x="6537960" y="2194560"/>
            <a:ext cx="4754880" cy="274320"/>
          </a:xfrm>
          <a:prstGeom prst="rect">
            <a:avLst/>
          </a:prstGeom>
          <a:noFill/>
        </p:spPr>
        <p:txBody>
          <a:bodyPr wrap="square" anchor="t" lIns="0" rIns="0" tIns="0" bIns="0">
            <a:spAutoFit/>
          </a:bodyPr>
          <a:lstStyle/>
          <a:p>
            <a:pPr algn="l"/>
            <a:r>
              <a:rPr sz="1400" b="1" i="0">
                <a:solidFill>
                  <a:srgbClr val="FBBF24"/>
                </a:solidFill>
                <a:latin typeface="Calibri"/>
              </a:rPr>
              <a:t>The facility is simulated.</a:t>
            </a:r>
          </a:p>
        </p:txBody>
      </p:sp>
      <p:sp>
        <p:nvSpPr>
          <p:cNvPr id="15" name="TextBox 14"/>
          <p:cNvSpPr txBox="1"/>
          <p:nvPr/>
        </p:nvSpPr>
        <p:spPr>
          <a:xfrm>
            <a:off x="6537960" y="2560320"/>
            <a:ext cx="4754880" cy="2103120"/>
          </a:xfrm>
          <a:prstGeom prst="rect">
            <a:avLst/>
          </a:prstGeom>
          <a:noFill/>
        </p:spPr>
        <p:txBody>
          <a:bodyPr wrap="square" anchor="t" lIns="0" rIns="0" tIns="0" bIns="0">
            <a:spAutoFit/>
          </a:bodyPr>
          <a:lstStyle/>
          <a:p>
            <a:pPr algn="l">
              <a:lnSpc>
                <a:spcPts val="1800"/>
              </a:lnSpc>
            </a:pPr>
            <a:r>
              <a:rPr sz="1200" b="0" i="0">
                <a:solidFill>
                  <a:srgbClr val="9AA8BA"/>
                </a:solidFill>
                <a:latin typeface="Calibri"/>
              </a:rPr>
              <a:t>The agents, the infrastructure, the isolation and every denial shown are real. The data center is not — it is generated from published engineering figures, physically consistent, and reproducible from a fixed seed.</a:t>
            </a:r>
          </a:p>
          <a:p>
            <a:pPr algn="l">
              <a:lnSpc>
                <a:spcPts val="1800"/>
              </a:lnSpc>
            </a:pPr>
            <a:r>
              <a:rPr sz="1200" b="0" i="0">
                <a:solidFill>
                  <a:srgbClr val="9AA8BA"/>
                </a:solidFill>
                <a:latin typeface="Calibri"/>
              </a:rPr>
              <a:t/>
            </a:r>
          </a:p>
          <a:p>
            <a:pPr algn="l">
              <a:lnSpc>
                <a:spcPts val="1800"/>
              </a:lnSpc>
            </a:pPr>
            <a:r>
              <a:rPr sz="1200" b="0" i="0">
                <a:solidFill>
                  <a:srgbClr val="9AA8BA"/>
                </a:solidFill>
                <a:latin typeface="Calibri"/>
              </a:rPr>
              <a:t>How these decisions actually get made inside an operations team is something we would need to learn by shadowing one, not by writing a seed file. That is the honest boundary of what we built in four weeks.</a:t>
            </a:r>
          </a:p>
        </p:txBody>
      </p:sp>
      <p:sp>
        <p:nvSpPr>
          <p:cNvPr id="16" name="TextBox 15"/>
          <p:cNvSpPr txBox="1"/>
          <p:nvPr/>
        </p:nvSpPr>
        <p:spPr>
          <a:xfrm>
            <a:off x="6537960" y="4983480"/>
            <a:ext cx="4754880" cy="548640"/>
          </a:xfrm>
          <a:prstGeom prst="rect">
            <a:avLst/>
          </a:prstGeom>
          <a:noFill/>
        </p:spPr>
        <p:txBody>
          <a:bodyPr wrap="square" anchor="t" lIns="0" rIns="0" tIns="0" bIns="0">
            <a:spAutoFit/>
          </a:bodyPr>
          <a:lstStyle/>
          <a:p>
            <a:pPr algn="l">
              <a:lnSpc>
                <a:spcPts val="1700"/>
              </a:lnSpc>
            </a:pPr>
            <a:r>
              <a:rPr sz="1200" b="1" i="0">
                <a:solidFill>
                  <a:srgbClr val="34D399"/>
                </a:solidFill>
                <a:latin typeface="Calibri"/>
              </a:rPr>
              <a:t>What is real: 21 security checks, 7 deployed services, every decision auditable.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822960" y="2057400"/>
            <a:ext cx="10515600" cy="1371600"/>
          </a:xfrm>
          <a:prstGeom prst="rect">
            <a:avLst/>
          </a:prstGeom>
          <a:noFill/>
        </p:spPr>
        <p:txBody>
          <a:bodyPr wrap="square" anchor="t" lIns="0" rIns="0" tIns="0" bIns="0">
            <a:spAutoFit/>
          </a:bodyPr>
          <a:lstStyle/>
          <a:p>
            <a:pPr algn="l">
              <a:lnSpc>
                <a:spcPts val="4200"/>
              </a:lnSpc>
            </a:pPr>
            <a:r>
              <a:rPr sz="2900" b="1" i="0">
                <a:solidFill>
                  <a:srgbClr val="EEF2F7"/>
                </a:solidFill>
                <a:latin typeface="Arial"/>
              </a:rPr>
              <a:t>Four correct answers still add up to nothing</a:t>
            </a:r>
          </a:p>
          <a:p>
            <a:pPr algn="l">
              <a:lnSpc>
                <a:spcPts val="4200"/>
              </a:lnSpc>
            </a:pPr>
            <a:r>
              <a:rPr sz="2900" b="1" i="0">
                <a:solidFill>
                  <a:srgbClr val="EEF2F7"/>
                </a:solidFill>
                <a:latin typeface="Arial"/>
              </a:rPr>
              <a:t>unless something checks them together.</a:t>
            </a:r>
          </a:p>
        </p:txBody>
      </p:sp>
      <p:sp>
        <p:nvSpPr>
          <p:cNvPr id="3" name="TextBox 2"/>
          <p:cNvSpPr txBox="1"/>
          <p:nvPr/>
        </p:nvSpPr>
        <p:spPr>
          <a:xfrm>
            <a:off x="868680" y="3611880"/>
            <a:ext cx="10424160" cy="365760"/>
          </a:xfrm>
          <a:prstGeom prst="rect">
            <a:avLst/>
          </a:prstGeom>
          <a:noFill/>
        </p:spPr>
        <p:txBody>
          <a:bodyPr wrap="square" anchor="t" lIns="0" rIns="0" tIns="0" bIns="0">
            <a:spAutoFit/>
          </a:bodyPr>
          <a:lstStyle/>
          <a:p>
            <a:pPr algn="l"/>
            <a:r>
              <a:rPr sz="1600" b="0" i="0">
                <a:solidFill>
                  <a:srgbClr val="4DD6FF"/>
                </a:solidFill>
                <a:latin typeface="Calibri"/>
              </a:rPr>
              <a:t>GridMind — capacity assurance for high-density data centers</a:t>
            </a:r>
          </a:p>
        </p:txBody>
      </p:sp>
      <p:sp>
        <p:nvSpPr>
          <p:cNvPr id="4" name="TextBox 3"/>
          <p:cNvSpPr txBox="1"/>
          <p:nvPr/>
        </p:nvSpPr>
        <p:spPr>
          <a:xfrm>
            <a:off x="822960" y="4526280"/>
            <a:ext cx="3383280" cy="256032"/>
          </a:xfrm>
          <a:prstGeom prst="rect">
            <a:avLst/>
          </a:prstGeom>
          <a:noFill/>
        </p:spPr>
        <p:txBody>
          <a:bodyPr wrap="square" anchor="t" lIns="0" rIns="0" tIns="0" bIns="0">
            <a:spAutoFit/>
          </a:bodyPr>
          <a:lstStyle/>
          <a:p>
            <a:pPr algn="l"/>
            <a:r>
              <a:rPr sz="1100" b="0" i="0">
                <a:solidFill>
                  <a:srgbClr val="6B7A8D"/>
                </a:solidFill>
                <a:latin typeface="Calibri"/>
              </a:rPr>
              <a:t>Live</a:t>
            </a:r>
          </a:p>
        </p:txBody>
      </p:sp>
      <p:sp>
        <p:nvSpPr>
          <p:cNvPr id="5" name="TextBox 4"/>
          <p:cNvSpPr txBox="1"/>
          <p:nvPr/>
        </p:nvSpPr>
        <p:spPr>
          <a:xfrm>
            <a:off x="822960" y="4773168"/>
            <a:ext cx="3474720" cy="292608"/>
          </a:xfrm>
          <a:prstGeom prst="rect">
            <a:avLst/>
          </a:prstGeom>
          <a:noFill/>
        </p:spPr>
        <p:txBody>
          <a:bodyPr wrap="square" anchor="t" lIns="0" rIns="0" tIns="0" bIns="0">
            <a:spAutoFit/>
          </a:bodyPr>
          <a:lstStyle/>
          <a:p>
            <a:pPr algn="l"/>
            <a:r>
              <a:rPr sz="1300" b="1" i="0">
                <a:solidFill>
                  <a:srgbClr val="EEF2F7"/>
                </a:solidFill>
                <a:latin typeface="Calibri"/>
              </a:rPr>
              <a:t>gridmind-wuvfpvopoq-uk.a.run.app</a:t>
            </a:r>
          </a:p>
        </p:txBody>
      </p:sp>
      <p:sp>
        <p:nvSpPr>
          <p:cNvPr id="6" name="TextBox 5"/>
          <p:cNvSpPr txBox="1"/>
          <p:nvPr/>
        </p:nvSpPr>
        <p:spPr>
          <a:xfrm>
            <a:off x="4480560" y="4526280"/>
            <a:ext cx="3383280" cy="256032"/>
          </a:xfrm>
          <a:prstGeom prst="rect">
            <a:avLst/>
          </a:prstGeom>
          <a:noFill/>
        </p:spPr>
        <p:txBody>
          <a:bodyPr wrap="square" anchor="t" lIns="0" rIns="0" tIns="0" bIns="0">
            <a:spAutoFit/>
          </a:bodyPr>
          <a:lstStyle/>
          <a:p>
            <a:pPr algn="l"/>
            <a:r>
              <a:rPr sz="1100" b="0" i="0">
                <a:solidFill>
                  <a:srgbClr val="6B7A8D"/>
                </a:solidFill>
                <a:latin typeface="Calibri"/>
              </a:rPr>
              <a:t>Code</a:t>
            </a:r>
          </a:p>
        </p:txBody>
      </p:sp>
      <p:sp>
        <p:nvSpPr>
          <p:cNvPr id="7" name="TextBox 6"/>
          <p:cNvSpPr txBox="1"/>
          <p:nvPr/>
        </p:nvSpPr>
        <p:spPr>
          <a:xfrm>
            <a:off x="4480560" y="4773168"/>
            <a:ext cx="3474720" cy="292608"/>
          </a:xfrm>
          <a:prstGeom prst="rect">
            <a:avLst/>
          </a:prstGeom>
          <a:noFill/>
        </p:spPr>
        <p:txBody>
          <a:bodyPr wrap="square" anchor="t" lIns="0" rIns="0" tIns="0" bIns="0">
            <a:spAutoFit/>
          </a:bodyPr>
          <a:lstStyle/>
          <a:p>
            <a:pPr algn="l"/>
            <a:r>
              <a:rPr sz="1300" b="1" i="0">
                <a:solidFill>
                  <a:srgbClr val="EEF2F7"/>
                </a:solidFill>
                <a:latin typeface="Calibri"/>
              </a:rPr>
              <a:t>github.com/PRACHIT27/GridMindAI</a:t>
            </a:r>
          </a:p>
        </p:txBody>
      </p:sp>
      <p:sp>
        <p:nvSpPr>
          <p:cNvPr id="8" name="TextBox 7"/>
          <p:cNvSpPr txBox="1"/>
          <p:nvPr/>
        </p:nvSpPr>
        <p:spPr>
          <a:xfrm>
            <a:off x="8138160" y="4526280"/>
            <a:ext cx="3383280" cy="256032"/>
          </a:xfrm>
          <a:prstGeom prst="rect">
            <a:avLst/>
          </a:prstGeom>
          <a:noFill/>
        </p:spPr>
        <p:txBody>
          <a:bodyPr wrap="square" anchor="t" lIns="0" rIns="0" tIns="0" bIns="0">
            <a:spAutoFit/>
          </a:bodyPr>
          <a:lstStyle/>
          <a:p>
            <a:pPr algn="l"/>
            <a:r>
              <a:rPr sz="1100" b="0" i="0">
                <a:solidFill>
                  <a:srgbClr val="6B7A8D"/>
                </a:solidFill>
                <a:latin typeface="Calibri"/>
              </a:rPr>
              <a:t>Track</a:t>
            </a:r>
          </a:p>
        </p:txBody>
      </p:sp>
      <p:sp>
        <p:nvSpPr>
          <p:cNvPr id="9" name="TextBox 8"/>
          <p:cNvSpPr txBox="1"/>
          <p:nvPr/>
        </p:nvSpPr>
        <p:spPr>
          <a:xfrm>
            <a:off x="8138160" y="4773168"/>
            <a:ext cx="3474720" cy="292608"/>
          </a:xfrm>
          <a:prstGeom prst="rect">
            <a:avLst/>
          </a:prstGeom>
          <a:noFill/>
        </p:spPr>
        <p:txBody>
          <a:bodyPr wrap="square" anchor="t" lIns="0" rIns="0" tIns="0" bIns="0">
            <a:spAutoFit/>
          </a:bodyPr>
          <a:lstStyle/>
          <a:p>
            <a:pPr algn="l"/>
            <a:r>
              <a:rPr sz="1300" b="1" i="0">
                <a:solidFill>
                  <a:srgbClr val="EEF2F7"/>
                </a:solidFill>
                <a:latin typeface="Calibri"/>
              </a:rPr>
              <a:t>The Fortified Enterprise Fleet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