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on what it is, then move. The card on the right lets judges see the stack without me listing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steps. This is the whole product in one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the right-hand column is that the output is auditable, not just an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The next one shows the failure rather than describing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four zones out loud, then pause before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no single team can reach from inside its own silo. That is the reason the system is worth building.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boxes. The shape is the point: the most exposed service holds the least privilege, and everything else is off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Rules finding is the strongest technical point in the project. Say it plainly. Fourteen isolation checks plus seven denial checks.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a rubric question directly. Six of six bad verdicts are blocked, including one that hid an impossible zone in its proposed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line is the one worth saying out loud. It is what least privilege buys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video shows all three of these running unedited. That is the proof of action the rubric asks for.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straight about the partial one buys credibility for the other six.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trust a team more when it draws its own boundary before they have 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 line, not a thank-you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685800" y="1737360"/>
            <a:ext cx="7680960" cy="1051560"/>
          </a:xfrm>
          <a:prstGeom prst="rect">
            <a:avLst/>
          </a:prstGeom>
          <a:noFill/>
        </p:spPr>
        <p:txBody>
          <a:bodyPr wrap="square" anchor="t" lIns="0" rIns="0" tIns="0" bIns="0">
            <a:spAutoFit/>
          </a:bodyPr>
          <a:lstStyle/>
          <a:p>
            <a:pPr algn="l"/>
            <a:r>
              <a:rPr sz="6000" b="1" i="0">
                <a:solidFill>
                  <a:srgbClr val="EEF2F7"/>
                </a:solidFill>
                <a:latin typeface="Arial"/>
              </a:rPr>
              <a:t>GridMind</a:t>
            </a:r>
          </a:p>
        </p:txBody>
      </p:sp>
      <p:sp>
        <p:nvSpPr>
          <p:cNvPr id="3" name="TextBox 2"/>
          <p:cNvSpPr txBox="1"/>
          <p:nvPr/>
        </p:nvSpPr>
        <p:spPr>
          <a:xfrm>
            <a:off x="713232" y="2798064"/>
            <a:ext cx="7863840" cy="457200"/>
          </a:xfrm>
          <a:prstGeom prst="rect">
            <a:avLst/>
          </a:prstGeom>
          <a:noFill/>
        </p:spPr>
        <p:txBody>
          <a:bodyPr wrap="square" anchor="t" lIns="0" rIns="0" tIns="0" bIns="0">
            <a:spAutoFit/>
          </a:bodyPr>
          <a:lstStyle/>
          <a:p>
            <a:pPr algn="l"/>
            <a:r>
              <a:rPr sz="2100" b="0" i="0">
                <a:solidFill>
                  <a:srgbClr val="4DD6FF"/>
                </a:solidFill>
                <a:latin typeface="Calibri"/>
              </a:rPr>
              <a:t>Capacity planning for high-density data centers</a:t>
            </a:r>
          </a:p>
        </p:txBody>
      </p:sp>
      <p:sp>
        <p:nvSpPr>
          <p:cNvPr id="4" name="TextBox 3"/>
          <p:cNvSpPr txBox="1"/>
          <p:nvPr/>
        </p:nvSpPr>
        <p:spPr>
          <a:xfrm>
            <a:off x="713232" y="3419856"/>
            <a:ext cx="7589520" cy="1097280"/>
          </a:xfrm>
          <a:prstGeom prst="rect">
            <a:avLst/>
          </a:prstGeom>
          <a:noFill/>
        </p:spPr>
        <p:txBody>
          <a:bodyPr wrap="square" anchor="t" lIns="0" rIns="0" tIns="0" bIns="0">
            <a:spAutoFit/>
          </a:bodyPr>
          <a:lstStyle/>
          <a:p>
            <a:pPr algn="l">
              <a:lnSpc>
                <a:spcPts val="2100"/>
              </a:lnSpc>
            </a:pPr>
            <a:r>
              <a:rPr sz="1400" b="0" i="0">
                <a:solidFill>
                  <a:srgbClr val="9AA8BA"/>
                </a:solidFill>
                <a:latin typeface="Calibri"/>
              </a:rPr>
              <a:t>Every new workload has to clear power, cooling, floor space and budget before it can be placed. Today four teams check those four things separately, over several days. GridMind checks them together and returns a plan the site can actually build.</a:t>
            </a:r>
          </a:p>
        </p:txBody>
      </p:sp>
      <p:sp>
        <p:nvSpPr>
          <p:cNvPr id="5" name="Rounded Rectangle 4"/>
          <p:cNvSpPr/>
          <p:nvPr/>
        </p:nvSpPr>
        <p:spPr>
          <a:xfrm>
            <a:off x="8732520" y="1737360"/>
            <a:ext cx="2834640" cy="324612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006840" y="1993392"/>
            <a:ext cx="2377440" cy="237744"/>
          </a:xfrm>
          <a:prstGeom prst="rect">
            <a:avLst/>
          </a:prstGeom>
          <a:noFill/>
        </p:spPr>
        <p:txBody>
          <a:bodyPr wrap="square" anchor="t" lIns="0" rIns="0" tIns="0" bIns="0">
            <a:spAutoFit/>
          </a:bodyPr>
          <a:lstStyle/>
          <a:p>
            <a:pPr algn="l"/>
            <a:r>
              <a:rPr sz="1050" b="0" i="0">
                <a:solidFill>
                  <a:srgbClr val="6B7A8D"/>
                </a:solidFill>
                <a:latin typeface="Calibri"/>
              </a:rPr>
              <a:t>Track</a:t>
            </a:r>
          </a:p>
        </p:txBody>
      </p:sp>
      <p:sp>
        <p:nvSpPr>
          <p:cNvPr id="7" name="TextBox 6"/>
          <p:cNvSpPr txBox="1"/>
          <p:nvPr/>
        </p:nvSpPr>
        <p:spPr>
          <a:xfrm>
            <a:off x="9006840" y="2221992"/>
            <a:ext cx="2377440" cy="621792"/>
          </a:xfrm>
          <a:prstGeom prst="rect">
            <a:avLst/>
          </a:prstGeom>
          <a:noFill/>
        </p:spPr>
        <p:txBody>
          <a:bodyPr wrap="square" anchor="t" lIns="0" rIns="0" tIns="0" bIns="0">
            <a:spAutoFit/>
          </a:bodyPr>
          <a:lstStyle/>
          <a:p>
            <a:pPr algn="l">
              <a:lnSpc>
                <a:spcPts val="1600"/>
              </a:lnSpc>
            </a:pPr>
            <a:r>
              <a:rPr sz="1300" b="1" i="0">
                <a:solidFill>
                  <a:srgbClr val="EEF2F7"/>
                </a:solidFill>
                <a:latin typeface="Arial"/>
              </a:rPr>
              <a:t>The Fortified</a:t>
            </a:r>
          </a:p>
          <a:p>
            <a:pPr algn="l">
              <a:lnSpc>
                <a:spcPts val="1600"/>
              </a:lnSpc>
            </a:pPr>
            <a:r>
              <a:rPr sz="1300" b="1" i="0">
                <a:solidFill>
                  <a:srgbClr val="EEF2F7"/>
                </a:solidFill>
                <a:latin typeface="Arial"/>
              </a:rPr>
              <a:t>Enterprise Fleet</a:t>
            </a:r>
          </a:p>
        </p:txBody>
      </p:sp>
      <p:sp>
        <p:nvSpPr>
          <p:cNvPr id="8" name="TextBox 7"/>
          <p:cNvSpPr txBox="1"/>
          <p:nvPr/>
        </p:nvSpPr>
        <p:spPr>
          <a:xfrm>
            <a:off x="9006840" y="2999232"/>
            <a:ext cx="2377440" cy="237744"/>
          </a:xfrm>
          <a:prstGeom prst="rect">
            <a:avLst/>
          </a:prstGeom>
          <a:noFill/>
        </p:spPr>
        <p:txBody>
          <a:bodyPr wrap="square" anchor="t" lIns="0" rIns="0" tIns="0" bIns="0">
            <a:spAutoFit/>
          </a:bodyPr>
          <a:lstStyle/>
          <a:p>
            <a:pPr algn="l"/>
            <a:r>
              <a:rPr sz="1050" b="0" i="0">
                <a:solidFill>
                  <a:srgbClr val="6B7A8D"/>
                </a:solidFill>
                <a:latin typeface="Calibri"/>
              </a:rPr>
              <a:t>Live</a:t>
            </a:r>
          </a:p>
        </p:txBody>
      </p:sp>
      <p:sp>
        <p:nvSpPr>
          <p:cNvPr id="9" name="TextBox 8"/>
          <p:cNvSpPr txBox="1"/>
          <p:nvPr/>
        </p:nvSpPr>
        <p:spPr>
          <a:xfrm>
            <a:off x="9006840" y="3227832"/>
            <a:ext cx="2377440" cy="621792"/>
          </a:xfrm>
          <a:prstGeom prst="rect">
            <a:avLst/>
          </a:prstGeom>
          <a:noFill/>
        </p:spPr>
        <p:txBody>
          <a:bodyPr wrap="square" anchor="t" lIns="0" rIns="0" tIns="0" bIns="0">
            <a:spAutoFit/>
          </a:bodyPr>
          <a:lstStyle/>
          <a:p>
            <a:pPr algn="l">
              <a:lnSpc>
                <a:spcPts val="1600"/>
              </a:lnSpc>
            </a:pPr>
            <a:r>
              <a:rPr sz="1150" b="0" i="0">
                <a:solidFill>
                  <a:srgbClr val="4DD6FF"/>
                </a:solidFill>
                <a:latin typeface="Calibri"/>
              </a:rPr>
              <a:t>gridmind-wuvfpvopoq</a:t>
            </a:r>
          </a:p>
          <a:p>
            <a:pPr algn="l">
              <a:lnSpc>
                <a:spcPts val="1600"/>
              </a:lnSpc>
            </a:pPr>
            <a:r>
              <a:rPr sz="1150" b="0" i="0">
                <a:solidFill>
                  <a:srgbClr val="4DD6FF"/>
                </a:solidFill>
                <a:latin typeface="Calibri"/>
              </a:rPr>
              <a:t>-uk.a.run.app</a:t>
            </a:r>
          </a:p>
        </p:txBody>
      </p:sp>
      <p:sp>
        <p:nvSpPr>
          <p:cNvPr id="10" name="TextBox 9"/>
          <p:cNvSpPr txBox="1"/>
          <p:nvPr/>
        </p:nvSpPr>
        <p:spPr>
          <a:xfrm>
            <a:off x="9006840" y="4005072"/>
            <a:ext cx="2377440" cy="237744"/>
          </a:xfrm>
          <a:prstGeom prst="rect">
            <a:avLst/>
          </a:prstGeom>
          <a:noFill/>
        </p:spPr>
        <p:txBody>
          <a:bodyPr wrap="square" anchor="t" lIns="0" rIns="0" tIns="0" bIns="0">
            <a:spAutoFit/>
          </a:bodyPr>
          <a:lstStyle/>
          <a:p>
            <a:pPr algn="l"/>
            <a:r>
              <a:rPr sz="1050" b="0" i="0">
                <a:solidFill>
                  <a:srgbClr val="6B7A8D"/>
                </a:solidFill>
                <a:latin typeface="Calibri"/>
              </a:rPr>
              <a:t>Built on</a:t>
            </a:r>
          </a:p>
        </p:txBody>
      </p:sp>
      <p:sp>
        <p:nvSpPr>
          <p:cNvPr id="11" name="TextBox 10"/>
          <p:cNvSpPr txBox="1"/>
          <p:nvPr/>
        </p:nvSpPr>
        <p:spPr>
          <a:xfrm>
            <a:off x="9006840" y="4233672"/>
            <a:ext cx="2377440" cy="621792"/>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Gemini 3.5 on Vertex AI</a:t>
            </a:r>
          </a:p>
          <a:p>
            <a:pPr algn="l">
              <a:lnSpc>
                <a:spcPts val="1600"/>
              </a:lnSpc>
            </a:pPr>
            <a:r>
              <a:rPr sz="1150" b="0" i="0">
                <a:solidFill>
                  <a:srgbClr val="9AA8BA"/>
                </a:solidFill>
                <a:latin typeface="Calibri"/>
              </a:rPr>
              <a:t>Cloud Run, Firestore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What GridMind does</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A capacity request goes in. A plan the site can build comes out.</a:t>
            </a:r>
          </a:p>
        </p:txBody>
      </p:sp>
      <p:sp>
        <p:nvSpPr>
          <p:cNvPr id="4" name="Rounded Rectangle 3"/>
          <p:cNvSpPr/>
          <p:nvPr/>
        </p:nvSpPr>
        <p:spPr>
          <a:xfrm>
            <a:off x="548640" y="1600200"/>
            <a:ext cx="11064240" cy="93268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41248" y="1874519"/>
            <a:ext cx="384048" cy="384048"/>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929384"/>
            <a:ext cx="384048" cy="292608"/>
          </a:xfrm>
          <a:prstGeom prst="rect">
            <a:avLst/>
          </a:prstGeom>
          <a:noFill/>
        </p:spPr>
        <p:txBody>
          <a:bodyPr wrap="square" anchor="t" lIns="0" rIns="0" tIns="0" bIns="0">
            <a:spAutoFit/>
          </a:bodyPr>
          <a:lstStyle/>
          <a:p>
            <a:pPr algn="ctr"/>
            <a:r>
              <a:rPr sz="1600" b="1" i="0">
                <a:solidFill>
                  <a:srgbClr val="0E1319"/>
                </a:solidFill>
                <a:latin typeface="Arial"/>
              </a:rPr>
              <a:t>1</a:t>
            </a:r>
          </a:p>
        </p:txBody>
      </p:sp>
      <p:sp>
        <p:nvSpPr>
          <p:cNvPr id="7" name="TextBox 6"/>
          <p:cNvSpPr txBox="1"/>
          <p:nvPr/>
        </p:nvSpPr>
        <p:spPr>
          <a:xfrm>
            <a:off x="1444752" y="1783080"/>
            <a:ext cx="3200400" cy="292608"/>
          </a:xfrm>
          <a:prstGeom prst="rect">
            <a:avLst/>
          </a:prstGeom>
          <a:noFill/>
        </p:spPr>
        <p:txBody>
          <a:bodyPr wrap="square" anchor="t" lIns="0" rIns="0" tIns="0" bIns="0">
            <a:spAutoFit/>
          </a:bodyPr>
          <a:lstStyle/>
          <a:p>
            <a:pPr algn="l"/>
            <a:r>
              <a:rPr sz="1500" b="1" i="0">
                <a:solidFill>
                  <a:srgbClr val="EEF2F7"/>
                </a:solidFill>
                <a:latin typeface="Calibri"/>
              </a:rPr>
              <a:t>Submit a request</a:t>
            </a:r>
          </a:p>
        </p:txBody>
      </p:sp>
      <p:sp>
        <p:nvSpPr>
          <p:cNvPr id="8" name="TextBox 7"/>
          <p:cNvSpPr txBox="1"/>
          <p:nvPr/>
        </p:nvSpPr>
        <p:spPr>
          <a:xfrm>
            <a:off x="4800600" y="1801368"/>
            <a:ext cx="6583680" cy="566928"/>
          </a:xfrm>
          <a:prstGeom prst="rect">
            <a:avLst/>
          </a:prstGeom>
          <a:noFill/>
        </p:spPr>
        <p:txBody>
          <a:bodyPr wrap="square" anchor="t" lIns="0" rIns="0" tIns="0" bIns="0">
            <a:spAutoFit/>
          </a:bodyPr>
          <a:lstStyle/>
          <a:p>
            <a:pPr algn="l">
              <a:lnSpc>
                <a:spcPts val="1700"/>
              </a:lnSpc>
            </a:pPr>
            <a:r>
              <a:rPr sz="1250" b="0" i="0">
                <a:solidFill>
                  <a:srgbClr val="9AA8BA"/>
                </a:solidFill>
                <a:latin typeface="Calibri"/>
              </a:rPr>
              <a:t>Rack count, power draw per rack, cooling type, weight, budget ceiling. A form, not free text.</a:t>
            </a:r>
          </a:p>
        </p:txBody>
      </p:sp>
      <p:sp>
        <p:nvSpPr>
          <p:cNvPr id="9" name="Rounded Rectangle 8"/>
          <p:cNvSpPr/>
          <p:nvPr/>
        </p:nvSpPr>
        <p:spPr>
          <a:xfrm>
            <a:off x="548640" y="2679191"/>
            <a:ext cx="11064240" cy="93268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1248" y="2953511"/>
            <a:ext cx="384048" cy="384048"/>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008375"/>
            <a:ext cx="384048" cy="292608"/>
          </a:xfrm>
          <a:prstGeom prst="rect">
            <a:avLst/>
          </a:prstGeom>
          <a:noFill/>
        </p:spPr>
        <p:txBody>
          <a:bodyPr wrap="square" anchor="t" lIns="0" rIns="0" tIns="0" bIns="0">
            <a:spAutoFit/>
          </a:bodyPr>
          <a:lstStyle/>
          <a:p>
            <a:pPr algn="ctr"/>
            <a:r>
              <a:rPr sz="1600" b="1" i="0">
                <a:solidFill>
                  <a:srgbClr val="0E1319"/>
                </a:solidFill>
                <a:latin typeface="Arial"/>
              </a:rPr>
              <a:t>2</a:t>
            </a:r>
          </a:p>
        </p:txBody>
      </p:sp>
      <p:sp>
        <p:nvSpPr>
          <p:cNvPr id="12" name="TextBox 11"/>
          <p:cNvSpPr txBox="1"/>
          <p:nvPr/>
        </p:nvSpPr>
        <p:spPr>
          <a:xfrm>
            <a:off x="1444752" y="2862072"/>
            <a:ext cx="3200400" cy="292608"/>
          </a:xfrm>
          <a:prstGeom prst="rect">
            <a:avLst/>
          </a:prstGeom>
          <a:noFill/>
        </p:spPr>
        <p:txBody>
          <a:bodyPr wrap="square" anchor="t" lIns="0" rIns="0" tIns="0" bIns="0">
            <a:spAutoFit/>
          </a:bodyPr>
          <a:lstStyle/>
          <a:p>
            <a:pPr algn="l"/>
            <a:r>
              <a:rPr sz="1500" b="1" i="0">
                <a:solidFill>
                  <a:srgbClr val="EEF2F7"/>
                </a:solidFill>
                <a:latin typeface="Calibri"/>
              </a:rPr>
              <a:t>Four assessors run in parallel</a:t>
            </a:r>
          </a:p>
        </p:txBody>
      </p:sp>
      <p:sp>
        <p:nvSpPr>
          <p:cNvPr id="13" name="TextBox 12"/>
          <p:cNvSpPr txBox="1"/>
          <p:nvPr/>
        </p:nvSpPr>
        <p:spPr>
          <a:xfrm>
            <a:off x="4800600" y="2880360"/>
            <a:ext cx="6583680" cy="566928"/>
          </a:xfrm>
          <a:prstGeom prst="rect">
            <a:avLst/>
          </a:prstGeom>
          <a:noFill/>
        </p:spPr>
        <p:txBody>
          <a:bodyPr wrap="square" anchor="t" lIns="0" rIns="0" tIns="0" bIns="0">
            <a:spAutoFit/>
          </a:bodyPr>
          <a:lstStyle/>
          <a:p>
            <a:pPr algn="l">
              <a:lnSpc>
                <a:spcPts val="1700"/>
              </a:lnSpc>
            </a:pPr>
            <a:r>
              <a:rPr sz="1250" b="0" i="0">
                <a:solidFill>
                  <a:srgbClr val="9AA8BA"/>
                </a:solidFill>
                <a:latin typeface="Calibri"/>
              </a:rPr>
              <a:t>Power, cooling, facilities and cost. Each one reads only its own data and answers one question.</a:t>
            </a:r>
          </a:p>
        </p:txBody>
      </p:sp>
      <p:sp>
        <p:nvSpPr>
          <p:cNvPr id="14" name="Rounded Rectangle 13"/>
          <p:cNvSpPr/>
          <p:nvPr/>
        </p:nvSpPr>
        <p:spPr>
          <a:xfrm>
            <a:off x="548640" y="3758183"/>
            <a:ext cx="11064240" cy="93268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41248" y="4032503"/>
            <a:ext cx="384048" cy="384048"/>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4087368"/>
            <a:ext cx="384048" cy="292608"/>
          </a:xfrm>
          <a:prstGeom prst="rect">
            <a:avLst/>
          </a:prstGeom>
          <a:noFill/>
        </p:spPr>
        <p:txBody>
          <a:bodyPr wrap="square" anchor="t" lIns="0" rIns="0" tIns="0" bIns="0">
            <a:spAutoFit/>
          </a:bodyPr>
          <a:lstStyle/>
          <a:p>
            <a:pPr algn="ctr"/>
            <a:r>
              <a:rPr sz="1600" b="1" i="0">
                <a:solidFill>
                  <a:srgbClr val="0E1319"/>
                </a:solidFill>
                <a:latin typeface="Arial"/>
              </a:rPr>
              <a:t>3</a:t>
            </a:r>
          </a:p>
        </p:txBody>
      </p:sp>
      <p:sp>
        <p:nvSpPr>
          <p:cNvPr id="17" name="TextBox 16"/>
          <p:cNvSpPr txBox="1"/>
          <p:nvPr/>
        </p:nvSpPr>
        <p:spPr>
          <a:xfrm>
            <a:off x="1444752" y="3941063"/>
            <a:ext cx="3200400" cy="292608"/>
          </a:xfrm>
          <a:prstGeom prst="rect">
            <a:avLst/>
          </a:prstGeom>
          <a:noFill/>
        </p:spPr>
        <p:txBody>
          <a:bodyPr wrap="square" anchor="t" lIns="0" rIns="0" tIns="0" bIns="0">
            <a:spAutoFit/>
          </a:bodyPr>
          <a:lstStyle/>
          <a:p>
            <a:pPr algn="l"/>
            <a:r>
              <a:rPr sz="1500" b="1" i="0">
                <a:solidFill>
                  <a:srgbClr val="EEF2F7"/>
                </a:solidFill>
                <a:latin typeface="Calibri"/>
              </a:rPr>
              <a:t>The orchestrator reconciles</a:t>
            </a:r>
          </a:p>
        </p:txBody>
      </p:sp>
      <p:sp>
        <p:nvSpPr>
          <p:cNvPr id="18" name="TextBox 17"/>
          <p:cNvSpPr txBox="1"/>
          <p:nvPr/>
        </p:nvSpPr>
        <p:spPr>
          <a:xfrm>
            <a:off x="4800600" y="3959351"/>
            <a:ext cx="6583680" cy="566928"/>
          </a:xfrm>
          <a:prstGeom prst="rect">
            <a:avLst/>
          </a:prstGeom>
          <a:noFill/>
        </p:spPr>
        <p:txBody>
          <a:bodyPr wrap="square" anchor="t" lIns="0" rIns="0" tIns="0" bIns="0">
            <a:spAutoFit/>
          </a:bodyPr>
          <a:lstStyle/>
          <a:p>
            <a:pPr algn="l">
              <a:lnSpc>
                <a:spcPts val="1700"/>
              </a:lnSpc>
            </a:pPr>
            <a:r>
              <a:rPr sz="1250" b="0" i="0">
                <a:solidFill>
                  <a:srgbClr val="9AA8BA"/>
                </a:solidFill>
                <a:latin typeface="Calibri"/>
              </a:rPr>
              <a:t>It checks whether the four answers describe one buildable plan. When they do not, it sends each assessor the others' positions and asks again.</a:t>
            </a:r>
          </a:p>
        </p:txBody>
      </p:sp>
      <p:sp>
        <p:nvSpPr>
          <p:cNvPr id="19" name="Rounded Rectangle 18"/>
          <p:cNvSpPr/>
          <p:nvPr/>
        </p:nvSpPr>
        <p:spPr>
          <a:xfrm>
            <a:off x="548640" y="4837176"/>
            <a:ext cx="11064240" cy="93268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41248" y="5111496"/>
            <a:ext cx="384048" cy="384048"/>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5166360"/>
            <a:ext cx="384048" cy="292608"/>
          </a:xfrm>
          <a:prstGeom prst="rect">
            <a:avLst/>
          </a:prstGeom>
          <a:noFill/>
        </p:spPr>
        <p:txBody>
          <a:bodyPr wrap="square" anchor="t" lIns="0" rIns="0" tIns="0" bIns="0">
            <a:spAutoFit/>
          </a:bodyPr>
          <a:lstStyle/>
          <a:p>
            <a:pPr algn="ctr"/>
            <a:r>
              <a:rPr sz="1600" b="1" i="0">
                <a:solidFill>
                  <a:srgbClr val="0E1319"/>
                </a:solidFill>
                <a:latin typeface="Arial"/>
              </a:rPr>
              <a:t>4</a:t>
            </a:r>
          </a:p>
        </p:txBody>
      </p:sp>
      <p:sp>
        <p:nvSpPr>
          <p:cNvPr id="22" name="TextBox 21"/>
          <p:cNvSpPr txBox="1"/>
          <p:nvPr/>
        </p:nvSpPr>
        <p:spPr>
          <a:xfrm>
            <a:off x="1444752" y="5020056"/>
            <a:ext cx="3200400" cy="292608"/>
          </a:xfrm>
          <a:prstGeom prst="rect">
            <a:avLst/>
          </a:prstGeom>
          <a:noFill/>
        </p:spPr>
        <p:txBody>
          <a:bodyPr wrap="square" anchor="t" lIns="0" rIns="0" tIns="0" bIns="0">
            <a:spAutoFit/>
          </a:bodyPr>
          <a:lstStyle/>
          <a:p>
            <a:pPr algn="l"/>
            <a:r>
              <a:rPr sz="1500" b="1" i="0">
                <a:solidFill>
                  <a:srgbClr val="EEF2F7"/>
                </a:solidFill>
                <a:latin typeface="Calibri"/>
              </a:rPr>
              <a:t>You get a decision and a report</a:t>
            </a:r>
          </a:p>
        </p:txBody>
      </p:sp>
      <p:sp>
        <p:nvSpPr>
          <p:cNvPr id="23" name="TextBox 22"/>
          <p:cNvSpPr txBox="1"/>
          <p:nvPr/>
        </p:nvSpPr>
        <p:spPr>
          <a:xfrm>
            <a:off x="4800600" y="5038344"/>
            <a:ext cx="6583680" cy="566928"/>
          </a:xfrm>
          <a:prstGeom prst="rect">
            <a:avLst/>
          </a:prstGeom>
          <a:noFill/>
        </p:spPr>
        <p:txBody>
          <a:bodyPr wrap="square" anchor="t" lIns="0" rIns="0" tIns="0" bIns="0">
            <a:spAutoFit/>
          </a:bodyPr>
          <a:lstStyle/>
          <a:p>
            <a:pPr algn="l">
              <a:lnSpc>
                <a:spcPts val="1700"/>
              </a:lnSpc>
            </a:pPr>
            <a:r>
              <a:rPr sz="1250" b="0" i="0">
                <a:solidFill>
                  <a:srgbClr val="9AA8BA"/>
                </a:solidFill>
                <a:latin typeface="Calibri"/>
              </a:rPr>
              <a:t>Target zone, the plan to get there, and what every assessor said beside the numbers it was shown.</a:t>
            </a:r>
          </a:p>
        </p:txBody>
      </p:sp>
      <p:sp>
        <p:nvSpPr>
          <p:cNvPr id="24" name="TextBox 23"/>
          <p:cNvSpPr txBox="1"/>
          <p:nvPr/>
        </p:nvSpPr>
        <p:spPr>
          <a:xfrm>
            <a:off x="548640" y="5989320"/>
            <a:ext cx="11064240" cy="329184"/>
          </a:xfrm>
          <a:prstGeom prst="rect">
            <a:avLst/>
          </a:prstGeom>
          <a:noFill/>
        </p:spPr>
        <p:txBody>
          <a:bodyPr wrap="square" anchor="t" lIns="0" rIns="0" tIns="0" bIns="0">
            <a:spAutoFit/>
          </a:bodyPr>
          <a:lstStyle/>
          <a:p>
            <a:pPr algn="l"/>
            <a:r>
              <a:rPr sz="1300" b="0" i="0">
                <a:solidFill>
                  <a:srgbClr val="4DD6FF"/>
                </a:solidFill>
                <a:latin typeface="Calibri"/>
              </a:rPr>
              <a:t>About ninety seconds end to end. The same four checks take a site several days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What you submit, and what you get back</a:t>
            </a:r>
          </a:p>
        </p:txBody>
      </p:sp>
      <p:sp>
        <p:nvSpPr>
          <p:cNvPr id="3" name="Rounded Rectangle 2"/>
          <p:cNvSpPr/>
          <p:nvPr/>
        </p:nvSpPr>
        <p:spPr>
          <a:xfrm>
            <a:off x="548640" y="1572768"/>
            <a:ext cx="5394960" cy="420624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810512"/>
            <a:ext cx="4754880" cy="274320"/>
          </a:xfrm>
          <a:prstGeom prst="rect">
            <a:avLst/>
          </a:prstGeom>
          <a:noFill/>
        </p:spPr>
        <p:txBody>
          <a:bodyPr wrap="square" anchor="t" lIns="0" rIns="0" tIns="0" bIns="0">
            <a:spAutoFit/>
          </a:bodyPr>
          <a:lstStyle/>
          <a:p>
            <a:pPr algn="l"/>
            <a:r>
              <a:rPr sz="1500" b="1" i="0">
                <a:solidFill>
                  <a:srgbClr val="4DD6FF"/>
                </a:solidFill>
                <a:latin typeface="Calibri"/>
              </a:rPr>
              <a:t>The request</a:t>
            </a:r>
          </a:p>
        </p:txBody>
      </p:sp>
      <p:sp>
        <p:nvSpPr>
          <p:cNvPr id="5" name="Oval 4"/>
          <p:cNvSpPr/>
          <p:nvPr/>
        </p:nvSpPr>
        <p:spPr>
          <a:xfrm>
            <a:off x="868680" y="2313432"/>
            <a:ext cx="100584" cy="100584"/>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 y="2231136"/>
            <a:ext cx="4498848" cy="475488"/>
          </a:xfrm>
          <a:prstGeom prst="rect">
            <a:avLst/>
          </a:prstGeom>
          <a:noFill/>
        </p:spPr>
        <p:txBody>
          <a:bodyPr wrap="square" anchor="t" lIns="0" rIns="0" tIns="0" bIns="0">
            <a:spAutoFit/>
          </a:bodyPr>
          <a:lstStyle/>
          <a:p>
            <a:pPr algn="l"/>
            <a:r>
              <a:rPr sz="1250" b="0" i="0">
                <a:solidFill>
                  <a:srgbClr val="9AA8BA"/>
                </a:solidFill>
                <a:latin typeface="Calibri"/>
              </a:rPr>
              <a:t>Workload profile, or a custom rack spec</a:t>
            </a:r>
          </a:p>
        </p:txBody>
      </p:sp>
      <p:sp>
        <p:nvSpPr>
          <p:cNvPr id="7" name="Oval 6"/>
          <p:cNvSpPr/>
          <p:nvPr/>
        </p:nvSpPr>
        <p:spPr>
          <a:xfrm>
            <a:off x="868680" y="2788920"/>
            <a:ext cx="100584" cy="100584"/>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2706624"/>
            <a:ext cx="4498848" cy="475488"/>
          </a:xfrm>
          <a:prstGeom prst="rect">
            <a:avLst/>
          </a:prstGeom>
          <a:noFill/>
        </p:spPr>
        <p:txBody>
          <a:bodyPr wrap="square" anchor="t" lIns="0" rIns="0" tIns="0" bIns="0">
            <a:spAutoFit/>
          </a:bodyPr>
          <a:lstStyle/>
          <a:p>
            <a:pPr algn="l"/>
            <a:r>
              <a:rPr sz="1250" b="0" i="0">
                <a:solidFill>
                  <a:srgbClr val="9AA8BA"/>
                </a:solidFill>
                <a:latin typeface="Calibri"/>
              </a:rPr>
              <a:t>Number of racks</a:t>
            </a:r>
          </a:p>
        </p:txBody>
      </p:sp>
      <p:sp>
        <p:nvSpPr>
          <p:cNvPr id="9" name="Oval 8"/>
          <p:cNvSpPr/>
          <p:nvPr/>
        </p:nvSpPr>
        <p:spPr>
          <a:xfrm>
            <a:off x="868680" y="3264408"/>
            <a:ext cx="100584" cy="100584"/>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 y="3182112"/>
            <a:ext cx="4498848" cy="475488"/>
          </a:xfrm>
          <a:prstGeom prst="rect">
            <a:avLst/>
          </a:prstGeom>
          <a:noFill/>
        </p:spPr>
        <p:txBody>
          <a:bodyPr wrap="square" anchor="t" lIns="0" rIns="0" tIns="0" bIns="0">
            <a:spAutoFit/>
          </a:bodyPr>
          <a:lstStyle/>
          <a:p>
            <a:pPr algn="l"/>
            <a:r>
              <a:rPr sz="1250" b="0" i="0">
                <a:solidFill>
                  <a:srgbClr val="9AA8BA"/>
                </a:solidFill>
                <a:latin typeface="Calibri"/>
              </a:rPr>
              <a:t>Power draw per rack, in kW</a:t>
            </a:r>
          </a:p>
        </p:txBody>
      </p:sp>
      <p:sp>
        <p:nvSpPr>
          <p:cNvPr id="11" name="Oval 10"/>
          <p:cNvSpPr/>
          <p:nvPr/>
        </p:nvSpPr>
        <p:spPr>
          <a:xfrm>
            <a:off x="868680" y="3739896"/>
            <a:ext cx="100584" cy="100584"/>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2" y="3657600"/>
            <a:ext cx="4498848" cy="475488"/>
          </a:xfrm>
          <a:prstGeom prst="rect">
            <a:avLst/>
          </a:prstGeom>
          <a:noFill/>
        </p:spPr>
        <p:txBody>
          <a:bodyPr wrap="square" anchor="t" lIns="0" rIns="0" tIns="0" bIns="0">
            <a:spAutoFit/>
          </a:bodyPr>
          <a:lstStyle/>
          <a:p>
            <a:pPr algn="l"/>
            <a:r>
              <a:rPr sz="1250" b="0" i="0">
                <a:solidFill>
                  <a:srgbClr val="9AA8BA"/>
                </a:solidFill>
                <a:latin typeface="Calibri"/>
              </a:rPr>
              <a:t>Cooling requirement, air or liquid</a:t>
            </a:r>
          </a:p>
        </p:txBody>
      </p:sp>
      <p:sp>
        <p:nvSpPr>
          <p:cNvPr id="13" name="Oval 12"/>
          <p:cNvSpPr/>
          <p:nvPr/>
        </p:nvSpPr>
        <p:spPr>
          <a:xfrm>
            <a:off x="868680" y="4215383"/>
            <a:ext cx="100584" cy="100584"/>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4712" y="4133087"/>
            <a:ext cx="4498848" cy="475488"/>
          </a:xfrm>
          <a:prstGeom prst="rect">
            <a:avLst/>
          </a:prstGeom>
          <a:noFill/>
        </p:spPr>
        <p:txBody>
          <a:bodyPr wrap="square" anchor="t" lIns="0" rIns="0" tIns="0" bIns="0">
            <a:spAutoFit/>
          </a:bodyPr>
          <a:lstStyle/>
          <a:p>
            <a:pPr algn="l"/>
            <a:r>
              <a:rPr sz="1250" b="0" i="0">
                <a:solidFill>
                  <a:srgbClr val="9AA8BA"/>
                </a:solidFill>
                <a:latin typeface="Calibri"/>
              </a:rPr>
              <a:t>Weight per rack, in kg</a:t>
            </a:r>
          </a:p>
        </p:txBody>
      </p:sp>
      <p:sp>
        <p:nvSpPr>
          <p:cNvPr id="15" name="Oval 14"/>
          <p:cNvSpPr/>
          <p:nvPr/>
        </p:nvSpPr>
        <p:spPr>
          <a:xfrm>
            <a:off x="868680" y="4690872"/>
            <a:ext cx="100584" cy="100584"/>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 y="4608576"/>
            <a:ext cx="4498848" cy="475488"/>
          </a:xfrm>
          <a:prstGeom prst="rect">
            <a:avLst/>
          </a:prstGeom>
          <a:noFill/>
        </p:spPr>
        <p:txBody>
          <a:bodyPr wrap="square" anchor="t" lIns="0" rIns="0" tIns="0" bIns="0">
            <a:spAutoFit/>
          </a:bodyPr>
          <a:lstStyle/>
          <a:p>
            <a:pPr algn="l"/>
            <a:r>
              <a:rPr sz="1250" b="0" i="0">
                <a:solidFill>
                  <a:srgbClr val="9AA8BA"/>
                </a:solidFill>
                <a:latin typeface="Calibri"/>
              </a:rPr>
              <a:t>Budget ceiling</a:t>
            </a:r>
          </a:p>
        </p:txBody>
      </p:sp>
      <p:sp>
        <p:nvSpPr>
          <p:cNvPr id="17" name="TextBox 16"/>
          <p:cNvSpPr txBox="1"/>
          <p:nvPr/>
        </p:nvSpPr>
        <p:spPr>
          <a:xfrm>
            <a:off x="868680" y="5138928"/>
            <a:ext cx="4754880" cy="548640"/>
          </a:xfrm>
          <a:prstGeom prst="rect">
            <a:avLst/>
          </a:prstGeom>
          <a:noFill/>
        </p:spPr>
        <p:txBody>
          <a:bodyPr wrap="square" anchor="t" lIns="0" rIns="0" tIns="0" bIns="0">
            <a:spAutoFit/>
          </a:bodyPr>
          <a:lstStyle/>
          <a:p>
            <a:pPr algn="l">
              <a:lnSpc>
                <a:spcPts val="1600"/>
              </a:lnSpc>
            </a:pPr>
            <a:r>
              <a:rPr sz="1150" b="0" i="0">
                <a:solidFill>
                  <a:srgbClr val="6B7A8D"/>
                </a:solidFill>
                <a:latin typeface="Calibri"/>
              </a:rPr>
              <a:t>Every field is a number or a fixed choice. Nothing an operator types is passed to a model as instructions.</a:t>
            </a:r>
          </a:p>
        </p:txBody>
      </p:sp>
      <p:sp>
        <p:nvSpPr>
          <p:cNvPr id="18" name="Rounded Rectangle 17"/>
          <p:cNvSpPr/>
          <p:nvPr/>
        </p:nvSpPr>
        <p:spPr>
          <a:xfrm>
            <a:off x="6217920" y="1572768"/>
            <a:ext cx="5394960" cy="420624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37960" y="1810512"/>
            <a:ext cx="4754880" cy="274320"/>
          </a:xfrm>
          <a:prstGeom prst="rect">
            <a:avLst/>
          </a:prstGeom>
          <a:noFill/>
        </p:spPr>
        <p:txBody>
          <a:bodyPr wrap="square" anchor="t" lIns="0" rIns="0" tIns="0" bIns="0">
            <a:spAutoFit/>
          </a:bodyPr>
          <a:lstStyle/>
          <a:p>
            <a:pPr algn="l"/>
            <a:r>
              <a:rPr sz="1500" b="1" i="0">
                <a:solidFill>
                  <a:srgbClr val="34D399"/>
                </a:solidFill>
                <a:latin typeface="Calibri"/>
              </a:rPr>
              <a:t>The result</a:t>
            </a:r>
          </a:p>
        </p:txBody>
      </p:sp>
      <p:sp>
        <p:nvSpPr>
          <p:cNvPr id="20" name="Oval 19"/>
          <p:cNvSpPr/>
          <p:nvPr/>
        </p:nvSpPr>
        <p:spPr>
          <a:xfrm>
            <a:off x="6537960" y="2313432"/>
            <a:ext cx="100584" cy="10058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2231136"/>
            <a:ext cx="4498848" cy="475488"/>
          </a:xfrm>
          <a:prstGeom prst="rect">
            <a:avLst/>
          </a:prstGeom>
          <a:noFill/>
        </p:spPr>
        <p:txBody>
          <a:bodyPr wrap="square" anchor="t" lIns="0" rIns="0" tIns="0" bIns="0">
            <a:spAutoFit/>
          </a:bodyPr>
          <a:lstStyle/>
          <a:p>
            <a:pPr algn="l"/>
            <a:r>
              <a:rPr sz="1250" b="0" i="0">
                <a:solidFill>
                  <a:srgbClr val="9AA8BA"/>
                </a:solidFill>
                <a:latin typeface="Calibri"/>
              </a:rPr>
              <a:t>A target zone, or a refusal with the reason</a:t>
            </a:r>
          </a:p>
        </p:txBody>
      </p:sp>
      <p:sp>
        <p:nvSpPr>
          <p:cNvPr id="22" name="Oval 21"/>
          <p:cNvSpPr/>
          <p:nvPr/>
        </p:nvSpPr>
        <p:spPr>
          <a:xfrm>
            <a:off x="6537960" y="2788920"/>
            <a:ext cx="100584" cy="10058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93992" y="2706624"/>
            <a:ext cx="4498848" cy="475488"/>
          </a:xfrm>
          <a:prstGeom prst="rect">
            <a:avLst/>
          </a:prstGeom>
          <a:noFill/>
        </p:spPr>
        <p:txBody>
          <a:bodyPr wrap="square" anchor="t" lIns="0" rIns="0" tIns="0" bIns="0">
            <a:spAutoFit/>
          </a:bodyPr>
          <a:lstStyle/>
          <a:p>
            <a:pPr algn="l"/>
            <a:r>
              <a:rPr sz="1250" b="0" i="0">
                <a:solidFill>
                  <a:srgbClr val="9AA8BA"/>
                </a:solidFill>
                <a:latin typeface="Calibri"/>
              </a:rPr>
              <a:t>The plan: which racks, what work, how long</a:t>
            </a:r>
          </a:p>
        </p:txBody>
      </p:sp>
      <p:sp>
        <p:nvSpPr>
          <p:cNvPr id="24" name="Oval 23"/>
          <p:cNvSpPr/>
          <p:nvPr/>
        </p:nvSpPr>
        <p:spPr>
          <a:xfrm>
            <a:off x="6537960" y="3264408"/>
            <a:ext cx="100584" cy="10058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93992" y="3182112"/>
            <a:ext cx="4498848" cy="475488"/>
          </a:xfrm>
          <a:prstGeom prst="rect">
            <a:avLst/>
          </a:prstGeom>
          <a:noFill/>
        </p:spPr>
        <p:txBody>
          <a:bodyPr wrap="square" anchor="t" lIns="0" rIns="0" tIns="0" bIns="0">
            <a:spAutoFit/>
          </a:bodyPr>
          <a:lstStyle/>
          <a:p>
            <a:pPr algn="l"/>
            <a:r>
              <a:rPr sz="1250" b="0" i="0">
                <a:solidFill>
                  <a:srgbClr val="9AA8BA"/>
                </a:solidFill>
                <a:latin typeface="Calibri"/>
              </a:rPr>
              <a:t>Each assessor's verdict and its evidence</a:t>
            </a:r>
          </a:p>
        </p:txBody>
      </p:sp>
      <p:sp>
        <p:nvSpPr>
          <p:cNvPr id="26" name="Oval 25"/>
          <p:cNvSpPr/>
          <p:nvPr/>
        </p:nvSpPr>
        <p:spPr>
          <a:xfrm>
            <a:off x="6537960" y="3739896"/>
            <a:ext cx="100584" cy="10058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93992" y="3657600"/>
            <a:ext cx="4498848" cy="475488"/>
          </a:xfrm>
          <a:prstGeom prst="rect">
            <a:avLst/>
          </a:prstGeom>
          <a:noFill/>
        </p:spPr>
        <p:txBody>
          <a:bodyPr wrap="square" anchor="t" lIns="0" rIns="0" tIns="0" bIns="0">
            <a:spAutoFit/>
          </a:bodyPr>
          <a:lstStyle/>
          <a:p>
            <a:pPr algn="l"/>
            <a:r>
              <a:rPr sz="1250" b="0" i="0">
                <a:solidFill>
                  <a:srgbClr val="9AA8BA"/>
                </a:solidFill>
                <a:latin typeface="Calibri"/>
              </a:rPr>
              <a:t>A decision report as PDF</a:t>
            </a:r>
          </a:p>
        </p:txBody>
      </p:sp>
      <p:sp>
        <p:nvSpPr>
          <p:cNvPr id="28" name="Oval 27"/>
          <p:cNvSpPr/>
          <p:nvPr/>
        </p:nvSpPr>
        <p:spPr>
          <a:xfrm>
            <a:off x="6537960" y="4215383"/>
            <a:ext cx="100584" cy="10058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93992" y="4133087"/>
            <a:ext cx="4498848" cy="475488"/>
          </a:xfrm>
          <a:prstGeom prst="rect">
            <a:avLst/>
          </a:prstGeom>
          <a:noFill/>
        </p:spPr>
        <p:txBody>
          <a:bodyPr wrap="square" anchor="t" lIns="0" rIns="0" tIns="0" bIns="0">
            <a:spAutoFit/>
          </a:bodyPr>
          <a:lstStyle/>
          <a:p>
            <a:pPr algn="l"/>
            <a:r>
              <a:rPr sz="1250" b="0" i="0">
                <a:solidFill>
                  <a:srgbClr val="9AA8BA"/>
                </a:solidFill>
                <a:latin typeface="Calibri"/>
              </a:rPr>
              <a:t>The full decision history, kept and searchable</a:t>
            </a:r>
          </a:p>
        </p:txBody>
      </p:sp>
      <p:sp>
        <p:nvSpPr>
          <p:cNvPr id="30" name="TextBox 29"/>
          <p:cNvSpPr txBox="1"/>
          <p:nvPr/>
        </p:nvSpPr>
        <p:spPr>
          <a:xfrm>
            <a:off x="6537960" y="4754880"/>
            <a:ext cx="4754880" cy="914400"/>
          </a:xfrm>
          <a:prstGeom prst="rect">
            <a:avLst/>
          </a:prstGeom>
          <a:noFill/>
        </p:spPr>
        <p:txBody>
          <a:bodyPr wrap="square" anchor="t" lIns="0" rIns="0" tIns="0" bIns="0">
            <a:spAutoFit/>
          </a:bodyPr>
          <a:lstStyle/>
          <a:p>
            <a:pPr algn="l">
              <a:lnSpc>
                <a:spcPts val="1600"/>
              </a:lnSpc>
            </a:pPr>
            <a:r>
              <a:rPr sz="1150" b="0" i="0">
                <a:solidFill>
                  <a:srgbClr val="6B7A8D"/>
                </a:solidFill>
                <a:latin typeface="Calibri"/>
              </a:rPr>
              <a:t>The report is the part operators asked about first. It shows what each assessor was given next to what it concluded, so an approval can be checked rather than trusted.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Why it exists</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Four teams, four inboxes, and nobody who checks the four answers together</a:t>
            </a:r>
          </a:p>
        </p:txBody>
      </p:sp>
      <p:sp>
        <p:nvSpPr>
          <p:cNvPr id="4" name="Rounded Rectangle 3"/>
          <p:cNvSpPr/>
          <p:nvPr/>
        </p:nvSpPr>
        <p:spPr>
          <a:xfrm>
            <a:off x="548640" y="1600200"/>
            <a:ext cx="5943600" cy="65836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04672" y="1801368"/>
            <a:ext cx="256032" cy="256032"/>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1691640"/>
            <a:ext cx="2651760" cy="256032"/>
          </a:xfrm>
          <a:prstGeom prst="rect">
            <a:avLst/>
          </a:prstGeom>
          <a:noFill/>
        </p:spPr>
        <p:txBody>
          <a:bodyPr wrap="square" anchor="t" lIns="0" rIns="0" tIns="0" bIns="0">
            <a:spAutoFit/>
          </a:bodyPr>
          <a:lstStyle/>
          <a:p>
            <a:pPr algn="l"/>
            <a:r>
              <a:rPr sz="1350" b="1" i="0">
                <a:solidFill>
                  <a:srgbClr val="EEF2F7"/>
                </a:solidFill>
                <a:latin typeface="Calibri"/>
              </a:rPr>
              <a:t>Power engineering</a:t>
            </a:r>
          </a:p>
        </p:txBody>
      </p:sp>
      <p:sp>
        <p:nvSpPr>
          <p:cNvPr id="7" name="TextBox 6"/>
          <p:cNvSpPr txBox="1"/>
          <p:nvPr/>
        </p:nvSpPr>
        <p:spPr>
          <a:xfrm>
            <a:off x="1207008" y="1947672"/>
            <a:ext cx="4846320" cy="256032"/>
          </a:xfrm>
          <a:prstGeom prst="rect">
            <a:avLst/>
          </a:prstGeom>
          <a:noFill/>
        </p:spPr>
        <p:txBody>
          <a:bodyPr wrap="square" anchor="t" lIns="0" rIns="0" tIns="0" bIns="0">
            <a:spAutoFit/>
          </a:bodyPr>
          <a:lstStyle/>
          <a:p>
            <a:pPr algn="l"/>
            <a:r>
              <a:rPr sz="1150" b="0" i="0">
                <a:solidFill>
                  <a:srgbClr val="9AA8BA"/>
                </a:solidFill>
                <a:latin typeface="Calibri"/>
              </a:rPr>
              <a:t>breaker capacity, spare circuits, grid events</a:t>
            </a:r>
          </a:p>
        </p:txBody>
      </p:sp>
      <p:sp>
        <p:nvSpPr>
          <p:cNvPr id="8" name="Rounded Rectangle 7"/>
          <p:cNvSpPr/>
          <p:nvPr/>
        </p:nvSpPr>
        <p:spPr>
          <a:xfrm>
            <a:off x="548640" y="2368296"/>
            <a:ext cx="5943600" cy="65836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569464"/>
            <a:ext cx="256032" cy="256032"/>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7008" y="2459736"/>
            <a:ext cx="2651760" cy="256032"/>
          </a:xfrm>
          <a:prstGeom prst="rect">
            <a:avLst/>
          </a:prstGeom>
          <a:noFill/>
        </p:spPr>
        <p:txBody>
          <a:bodyPr wrap="square" anchor="t" lIns="0" rIns="0" tIns="0" bIns="0">
            <a:spAutoFit/>
          </a:bodyPr>
          <a:lstStyle/>
          <a:p>
            <a:pPr algn="l"/>
            <a:r>
              <a:rPr sz="1350" b="1" i="0">
                <a:solidFill>
                  <a:srgbClr val="EEF2F7"/>
                </a:solidFill>
                <a:latin typeface="Calibri"/>
              </a:rPr>
              <a:t>Cooling and thermal ops</a:t>
            </a:r>
          </a:p>
        </p:txBody>
      </p:sp>
      <p:sp>
        <p:nvSpPr>
          <p:cNvPr id="11" name="TextBox 10"/>
          <p:cNvSpPr txBox="1"/>
          <p:nvPr/>
        </p:nvSpPr>
        <p:spPr>
          <a:xfrm>
            <a:off x="1207008" y="2715768"/>
            <a:ext cx="4846320" cy="256032"/>
          </a:xfrm>
          <a:prstGeom prst="rect">
            <a:avLst/>
          </a:prstGeom>
          <a:noFill/>
        </p:spPr>
        <p:txBody>
          <a:bodyPr wrap="square" anchor="t" lIns="0" rIns="0" tIns="0" bIns="0">
            <a:spAutoFit/>
          </a:bodyPr>
          <a:lstStyle/>
          <a:p>
            <a:pPr algn="l"/>
            <a:r>
              <a:rPr sz="1150" b="0" i="0">
                <a:solidFill>
                  <a:srgbClr val="9AA8BA"/>
                </a:solidFill>
                <a:latin typeface="Calibri"/>
              </a:rPr>
              <a:t>heat removal, efficiency, water permits</a:t>
            </a:r>
          </a:p>
        </p:txBody>
      </p:sp>
      <p:sp>
        <p:nvSpPr>
          <p:cNvPr id="12" name="Rounded Rectangle 11"/>
          <p:cNvSpPr/>
          <p:nvPr/>
        </p:nvSpPr>
        <p:spPr>
          <a:xfrm>
            <a:off x="548640" y="3136391"/>
            <a:ext cx="5943600" cy="65836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04672" y="3337560"/>
            <a:ext cx="256032" cy="256032"/>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7008" y="3227832"/>
            <a:ext cx="2651760" cy="256032"/>
          </a:xfrm>
          <a:prstGeom prst="rect">
            <a:avLst/>
          </a:prstGeom>
          <a:noFill/>
        </p:spPr>
        <p:txBody>
          <a:bodyPr wrap="square" anchor="t" lIns="0" rIns="0" tIns="0" bIns="0">
            <a:spAutoFit/>
          </a:bodyPr>
          <a:lstStyle/>
          <a:p>
            <a:pPr algn="l"/>
            <a:r>
              <a:rPr sz="1350" b="1" i="0">
                <a:solidFill>
                  <a:srgbClr val="EEF2F7"/>
                </a:solidFill>
                <a:latin typeface="Calibri"/>
              </a:rPr>
              <a:t>Facilities and DCOps</a:t>
            </a:r>
          </a:p>
        </p:txBody>
      </p:sp>
      <p:sp>
        <p:nvSpPr>
          <p:cNvPr id="15" name="TextBox 14"/>
          <p:cNvSpPr txBox="1"/>
          <p:nvPr/>
        </p:nvSpPr>
        <p:spPr>
          <a:xfrm>
            <a:off x="1207008" y="3483863"/>
            <a:ext cx="4846320" cy="256032"/>
          </a:xfrm>
          <a:prstGeom prst="rect">
            <a:avLst/>
          </a:prstGeom>
          <a:noFill/>
        </p:spPr>
        <p:txBody>
          <a:bodyPr wrap="square" anchor="t" lIns="0" rIns="0" tIns="0" bIns="0">
            <a:spAutoFit/>
          </a:bodyPr>
          <a:lstStyle/>
          <a:p>
            <a:pPr algn="l"/>
            <a:r>
              <a:rPr sz="1150" b="0" i="0">
                <a:solidFill>
                  <a:srgbClr val="9AA8BA"/>
                </a:solidFill>
                <a:latin typeface="Calibri"/>
              </a:rPr>
              <a:t>rack space, floor loading, install crews</a:t>
            </a:r>
          </a:p>
        </p:txBody>
      </p:sp>
      <p:sp>
        <p:nvSpPr>
          <p:cNvPr id="16" name="Rounded Rectangle 15"/>
          <p:cNvSpPr/>
          <p:nvPr/>
        </p:nvSpPr>
        <p:spPr>
          <a:xfrm>
            <a:off x="548640" y="3904487"/>
            <a:ext cx="5943600" cy="65836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04672" y="4105655"/>
            <a:ext cx="256032" cy="256032"/>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07008" y="3995927"/>
            <a:ext cx="2651760" cy="256032"/>
          </a:xfrm>
          <a:prstGeom prst="rect">
            <a:avLst/>
          </a:prstGeom>
          <a:noFill/>
        </p:spPr>
        <p:txBody>
          <a:bodyPr wrap="square" anchor="t" lIns="0" rIns="0" tIns="0" bIns="0">
            <a:spAutoFit/>
          </a:bodyPr>
          <a:lstStyle/>
          <a:p>
            <a:pPr algn="l"/>
            <a:r>
              <a:rPr sz="1350" b="1" i="0">
                <a:solidFill>
                  <a:srgbClr val="EEF2F7"/>
                </a:solidFill>
                <a:latin typeface="Calibri"/>
              </a:rPr>
              <a:t>Finance and procurement</a:t>
            </a:r>
          </a:p>
        </p:txBody>
      </p:sp>
      <p:sp>
        <p:nvSpPr>
          <p:cNvPr id="19" name="TextBox 18"/>
          <p:cNvSpPr txBox="1"/>
          <p:nvPr/>
        </p:nvSpPr>
        <p:spPr>
          <a:xfrm>
            <a:off x="1207008" y="4251959"/>
            <a:ext cx="4846320" cy="256032"/>
          </a:xfrm>
          <a:prstGeom prst="rect">
            <a:avLst/>
          </a:prstGeom>
          <a:noFill/>
        </p:spPr>
        <p:txBody>
          <a:bodyPr wrap="square" anchor="t" lIns="0" rIns="0" tIns="0" bIns="0">
            <a:spAutoFit/>
          </a:bodyPr>
          <a:lstStyle/>
          <a:p>
            <a:pPr algn="l"/>
            <a:r>
              <a:rPr sz="1150" b="0" i="0">
                <a:solidFill>
                  <a:srgbClr val="9AA8BA"/>
                </a:solidFill>
                <a:latin typeface="Calibri"/>
              </a:rPr>
              <a:t>budget, cost per GPU-hour, capex</a:t>
            </a:r>
          </a:p>
        </p:txBody>
      </p:sp>
      <p:sp>
        <p:nvSpPr>
          <p:cNvPr id="20" name="Rounded Rectangle 19"/>
          <p:cNvSpPr/>
          <p:nvPr/>
        </p:nvSpPr>
        <p:spPr>
          <a:xfrm>
            <a:off x="6858000" y="1600200"/>
            <a:ext cx="4754880" cy="3200400"/>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78040" y="1847088"/>
            <a:ext cx="4114800" cy="777240"/>
          </a:xfrm>
          <a:prstGeom prst="rect">
            <a:avLst/>
          </a:prstGeom>
          <a:noFill/>
        </p:spPr>
        <p:txBody>
          <a:bodyPr wrap="square" anchor="t" lIns="0" rIns="0" tIns="0" bIns="0">
            <a:spAutoFit/>
          </a:bodyPr>
          <a:lstStyle/>
          <a:p>
            <a:pPr algn="l">
              <a:lnSpc>
                <a:spcPts val="2500"/>
              </a:lnSpc>
            </a:pPr>
            <a:r>
              <a:rPr sz="1900" b="1" i="0">
                <a:solidFill>
                  <a:srgbClr val="EEF2F7"/>
                </a:solidFill>
                <a:latin typeface="Arial"/>
              </a:rPr>
              <a:t>Each one is right.</a:t>
            </a:r>
          </a:p>
          <a:p>
            <a:pPr algn="l">
              <a:lnSpc>
                <a:spcPts val="2500"/>
              </a:lnSpc>
            </a:pPr>
            <a:r>
              <a:rPr sz="1900" b="1" i="0">
                <a:solidFill>
                  <a:srgbClr val="EEF2F7"/>
                </a:solidFill>
                <a:latin typeface="Arial"/>
              </a:rPr>
              <a:t>Nobody owns the joint check.</a:t>
            </a:r>
          </a:p>
        </p:txBody>
      </p:sp>
      <p:sp>
        <p:nvSpPr>
          <p:cNvPr id="22" name="TextBox 21"/>
          <p:cNvSpPr txBox="1"/>
          <p:nvPr/>
        </p:nvSpPr>
        <p:spPr>
          <a:xfrm>
            <a:off x="7178040" y="2743200"/>
            <a:ext cx="4114800" cy="2011680"/>
          </a:xfrm>
          <a:prstGeom prst="rect">
            <a:avLst/>
          </a:prstGeom>
          <a:noFill/>
        </p:spPr>
        <p:txBody>
          <a:bodyPr wrap="square" anchor="t" lIns="0" rIns="0" tIns="0" bIns="0">
            <a:spAutoFit/>
          </a:bodyPr>
          <a:lstStyle/>
          <a:p>
            <a:pPr algn="l">
              <a:lnSpc>
                <a:spcPts val="1900"/>
              </a:lnSpc>
            </a:pPr>
            <a:r>
              <a:rPr sz="1250" b="0" i="0">
                <a:solidFill>
                  <a:srgbClr val="9AA8BA"/>
                </a:solidFill>
                <a:latin typeface="Calibri"/>
              </a:rPr>
              <a:t>Requests move from team to team by email and spreadsheet. Every approval is correct on its own axis, and no one asks whether the four approvals describe the same plan.</a:t>
            </a:r>
          </a:p>
          <a:p>
            <a:pPr algn="l">
              <a:lnSpc>
                <a:spcPts val="1900"/>
              </a:lnSpc>
            </a:pPr>
            <a:r>
              <a:rPr sz="1250" b="0" i="0">
                <a:solidFill>
                  <a:srgbClr val="9AA8BA"/>
                </a:solidFill>
                <a:latin typeface="Calibri"/>
              </a:rPr>
              <a:t/>
            </a:r>
          </a:p>
          <a:p>
            <a:pPr algn="l">
              <a:lnSpc>
                <a:spcPts val="1900"/>
              </a:lnSpc>
            </a:pPr>
            <a:r>
              <a:rPr sz="1250" b="0" i="0">
                <a:solidFill>
                  <a:srgbClr val="9AA8BA"/>
                </a:solidFill>
                <a:latin typeface="Calibri"/>
              </a:rPr>
              <a:t>What that leaves behind has a name in the industry: stranded capacity. Megawatts a site has paid for and cannot use.</a:t>
            </a:r>
          </a:p>
        </p:txBody>
      </p:sp>
      <p:sp>
        <p:nvSpPr>
          <p:cNvPr id="23" name="TextBox 22"/>
          <p:cNvSpPr txBox="1"/>
          <p:nvPr/>
        </p:nvSpPr>
        <p:spPr>
          <a:xfrm>
            <a:off x="548640" y="4983480"/>
            <a:ext cx="2743200" cy="640080"/>
          </a:xfrm>
          <a:prstGeom prst="rect">
            <a:avLst/>
          </a:prstGeom>
          <a:noFill/>
        </p:spPr>
        <p:txBody>
          <a:bodyPr wrap="square" anchor="t" lIns="0" rIns="0" tIns="0" bIns="0">
            <a:spAutoFit/>
          </a:bodyPr>
          <a:lstStyle/>
          <a:p>
            <a:pPr algn="l"/>
            <a:r>
              <a:rPr sz="3800" b="1" i="0">
                <a:solidFill>
                  <a:srgbClr val="FBBF24"/>
                </a:solidFill>
                <a:latin typeface="Arial"/>
              </a:rPr>
              <a:t>days</a:t>
            </a:r>
          </a:p>
        </p:txBody>
      </p:sp>
      <p:sp>
        <p:nvSpPr>
          <p:cNvPr id="24" name="TextBox 23"/>
          <p:cNvSpPr txBox="1"/>
          <p:nvPr/>
        </p:nvSpPr>
        <p:spPr>
          <a:xfrm>
            <a:off x="548640" y="5614416"/>
            <a:ext cx="2743200" cy="274320"/>
          </a:xfrm>
          <a:prstGeom prst="rect">
            <a:avLst/>
          </a:prstGeom>
          <a:noFill/>
        </p:spPr>
        <p:txBody>
          <a:bodyPr wrap="square" anchor="t" lIns="0" rIns="0" tIns="0" bIns="0">
            <a:spAutoFit/>
          </a:bodyPr>
          <a:lstStyle/>
          <a:p>
            <a:pPr algn="l"/>
            <a:r>
              <a:rPr sz="1200" b="0" i="0">
                <a:solidFill>
                  <a:srgbClr val="9AA8BA"/>
                </a:solidFill>
                <a:latin typeface="Calibri"/>
              </a:rPr>
              <a:t>for four sequential approvals</a:t>
            </a:r>
          </a:p>
        </p:txBody>
      </p:sp>
      <p:sp>
        <p:nvSpPr>
          <p:cNvPr id="25" name="TextBox 24"/>
          <p:cNvSpPr txBox="1"/>
          <p:nvPr/>
        </p:nvSpPr>
        <p:spPr>
          <a:xfrm>
            <a:off x="3566160" y="4983480"/>
            <a:ext cx="2743200" cy="640080"/>
          </a:xfrm>
          <a:prstGeom prst="rect">
            <a:avLst/>
          </a:prstGeom>
          <a:noFill/>
        </p:spPr>
        <p:txBody>
          <a:bodyPr wrap="square" anchor="t" lIns="0" rIns="0" tIns="0" bIns="0">
            <a:spAutoFit/>
          </a:bodyPr>
          <a:lstStyle/>
          <a:p>
            <a:pPr algn="l"/>
            <a:r>
              <a:rPr sz="3800" b="1" i="0">
                <a:solidFill>
                  <a:srgbClr val="F87171"/>
                </a:solidFill>
                <a:latin typeface="Arial"/>
              </a:rPr>
              <a:t>0</a:t>
            </a:r>
          </a:p>
        </p:txBody>
      </p:sp>
      <p:sp>
        <p:nvSpPr>
          <p:cNvPr id="26" name="TextBox 25"/>
          <p:cNvSpPr txBox="1"/>
          <p:nvPr/>
        </p:nvSpPr>
        <p:spPr>
          <a:xfrm>
            <a:off x="3566160" y="5614416"/>
            <a:ext cx="2743200" cy="274320"/>
          </a:xfrm>
          <a:prstGeom prst="rect">
            <a:avLst/>
          </a:prstGeom>
          <a:noFill/>
        </p:spPr>
        <p:txBody>
          <a:bodyPr wrap="square" anchor="t" lIns="0" rIns="0" tIns="0" bIns="0">
            <a:spAutoFit/>
          </a:bodyPr>
          <a:lstStyle/>
          <a:p>
            <a:pPr algn="l"/>
            <a:r>
              <a:rPr sz="1200" b="0" i="0">
                <a:solidFill>
                  <a:srgbClr val="9AA8BA"/>
                </a:solidFill>
                <a:latin typeface="Calibri"/>
              </a:rPr>
              <a:t>teams who check them together</a:t>
            </a:r>
          </a:p>
        </p:txBody>
      </p:sp>
      <p:sp>
        <p:nvSpPr>
          <p:cNvPr id="27" name="TextBox 26"/>
          <p:cNvSpPr txBox="1"/>
          <p:nvPr/>
        </p:nvSpPr>
        <p:spPr>
          <a:xfrm>
            <a:off x="6858000" y="4983480"/>
            <a:ext cx="4754880" cy="640080"/>
          </a:xfrm>
          <a:prstGeom prst="rect">
            <a:avLst/>
          </a:prstGeom>
          <a:noFill/>
        </p:spPr>
        <p:txBody>
          <a:bodyPr wrap="square" anchor="t" lIns="0" rIns="0" tIns="0" bIns="0">
            <a:spAutoFit/>
          </a:bodyPr>
          <a:lstStyle/>
          <a:p>
            <a:pPr algn="l"/>
            <a:r>
              <a:rPr sz="3800" b="1" i="0">
                <a:solidFill>
                  <a:srgbClr val="34D399"/>
                </a:solidFill>
                <a:latin typeface="Arial"/>
              </a:rPr>
              <a:t>~90 sec</a:t>
            </a:r>
          </a:p>
        </p:txBody>
      </p:sp>
      <p:sp>
        <p:nvSpPr>
          <p:cNvPr id="28" name="TextBox 27"/>
          <p:cNvSpPr txBox="1"/>
          <p:nvPr/>
        </p:nvSpPr>
        <p:spPr>
          <a:xfrm>
            <a:off x="6858000" y="5614416"/>
            <a:ext cx="4754880" cy="365760"/>
          </a:xfrm>
          <a:prstGeom prst="rect">
            <a:avLst/>
          </a:prstGeom>
          <a:noFill/>
        </p:spPr>
        <p:txBody>
          <a:bodyPr wrap="square" anchor="t" lIns="0" rIns="0" tIns="0" bIns="0">
            <a:spAutoFit/>
          </a:bodyPr>
          <a:lstStyle/>
          <a:p>
            <a:pPr algn="l"/>
            <a:r>
              <a:rPr sz="1200" b="0" i="0">
                <a:solidFill>
                  <a:srgbClr val="9AA8BA"/>
                </a:solidFill>
                <a:latin typeface="Calibri"/>
              </a:rPr>
              <a:t>for the same four checks, run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A real run, round one</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Six racks of GB200 NVL72. 792 kW, liquid cooled, 1,360 kg per rack.</a:t>
            </a:r>
          </a:p>
        </p:txBody>
      </p:sp>
      <p:sp>
        <p:nvSpPr>
          <p:cNvPr id="4" name="Rounded Rectangle 3"/>
          <p:cNvSpPr/>
          <p:nvPr/>
        </p:nvSpPr>
        <p:spPr>
          <a:xfrm>
            <a:off x="548640" y="1627632"/>
            <a:ext cx="2670048" cy="173736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792224"/>
            <a:ext cx="2194560" cy="274320"/>
          </a:xfrm>
          <a:prstGeom prst="rect">
            <a:avLst/>
          </a:prstGeom>
          <a:noFill/>
        </p:spPr>
        <p:txBody>
          <a:bodyPr wrap="square" anchor="t" lIns="0" rIns="0" tIns="0" bIns="0">
            <a:spAutoFit/>
          </a:bodyPr>
          <a:lstStyle/>
          <a:p>
            <a:pPr algn="l"/>
            <a:r>
              <a:rPr sz="1300" b="1" i="0">
                <a:solidFill>
                  <a:srgbClr val="9AA8BA"/>
                </a:solidFill>
                <a:latin typeface="Calibri"/>
              </a:rPr>
              <a:t>Power</a:t>
            </a:r>
          </a:p>
        </p:txBody>
      </p:sp>
      <p:sp>
        <p:nvSpPr>
          <p:cNvPr id="6" name="TextBox 5"/>
          <p:cNvSpPr txBox="1"/>
          <p:nvPr/>
        </p:nvSpPr>
        <p:spPr>
          <a:xfrm>
            <a:off x="786384" y="2103120"/>
            <a:ext cx="2194560" cy="457200"/>
          </a:xfrm>
          <a:prstGeom prst="rect">
            <a:avLst/>
          </a:prstGeom>
          <a:noFill/>
        </p:spPr>
        <p:txBody>
          <a:bodyPr wrap="square" anchor="t" lIns="0" rIns="0" tIns="0" bIns="0">
            <a:spAutoFit/>
          </a:bodyPr>
          <a:lstStyle/>
          <a:p>
            <a:pPr algn="l"/>
            <a:r>
              <a:rPr sz="2500" b="1" i="0">
                <a:solidFill>
                  <a:srgbClr val="F87171"/>
                </a:solidFill>
                <a:latin typeface="Courier New"/>
              </a:rPr>
              <a:t>zone-a</a:t>
            </a:r>
          </a:p>
        </p:txBody>
      </p:sp>
      <p:sp>
        <p:nvSpPr>
          <p:cNvPr id="7" name="TextBox 6"/>
          <p:cNvSpPr txBox="1"/>
          <p:nvPr/>
        </p:nvSpPr>
        <p:spPr>
          <a:xfrm>
            <a:off x="786384" y="2633472"/>
            <a:ext cx="2212848" cy="640080"/>
          </a:xfrm>
          <a:prstGeom prst="rect">
            <a:avLst/>
          </a:prstGeom>
          <a:noFill/>
        </p:spPr>
        <p:txBody>
          <a:bodyPr wrap="square" anchor="t" lIns="0" rIns="0" tIns="0" bIns="0">
            <a:spAutoFit/>
          </a:bodyPr>
          <a:lstStyle/>
          <a:p>
            <a:pPr algn="l">
              <a:lnSpc>
                <a:spcPts val="1500"/>
              </a:lnSpc>
            </a:pPr>
            <a:r>
              <a:rPr sz="1100" b="0" i="0">
                <a:solidFill>
                  <a:srgbClr val="6B7A8D"/>
                </a:solidFill>
                <a:latin typeface="Calibri"/>
              </a:rPr>
              <a:t>most electrical headroom</a:t>
            </a:r>
          </a:p>
        </p:txBody>
      </p:sp>
      <p:sp>
        <p:nvSpPr>
          <p:cNvPr id="8" name="Rounded Rectangle 7"/>
          <p:cNvSpPr/>
          <p:nvPr/>
        </p:nvSpPr>
        <p:spPr>
          <a:xfrm>
            <a:off x="3346704" y="1627632"/>
            <a:ext cx="2670048" cy="173736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84448" y="1792224"/>
            <a:ext cx="2194560" cy="274320"/>
          </a:xfrm>
          <a:prstGeom prst="rect">
            <a:avLst/>
          </a:prstGeom>
          <a:noFill/>
        </p:spPr>
        <p:txBody>
          <a:bodyPr wrap="square" anchor="t" lIns="0" rIns="0" tIns="0" bIns="0">
            <a:spAutoFit/>
          </a:bodyPr>
          <a:lstStyle/>
          <a:p>
            <a:pPr algn="l"/>
            <a:r>
              <a:rPr sz="1300" b="1" i="0">
                <a:solidFill>
                  <a:srgbClr val="9AA8BA"/>
                </a:solidFill>
                <a:latin typeface="Calibri"/>
              </a:rPr>
              <a:t>Cooling</a:t>
            </a:r>
          </a:p>
        </p:txBody>
      </p:sp>
      <p:sp>
        <p:nvSpPr>
          <p:cNvPr id="10" name="TextBox 9"/>
          <p:cNvSpPr txBox="1"/>
          <p:nvPr/>
        </p:nvSpPr>
        <p:spPr>
          <a:xfrm>
            <a:off x="3584448" y="2103120"/>
            <a:ext cx="2194560" cy="457200"/>
          </a:xfrm>
          <a:prstGeom prst="rect">
            <a:avLst/>
          </a:prstGeom>
          <a:noFill/>
        </p:spPr>
        <p:txBody>
          <a:bodyPr wrap="square" anchor="t" lIns="0" rIns="0" tIns="0" bIns="0">
            <a:spAutoFit/>
          </a:bodyPr>
          <a:lstStyle/>
          <a:p>
            <a:pPr algn="l"/>
            <a:r>
              <a:rPr sz="2500" b="1" i="0">
                <a:solidFill>
                  <a:srgbClr val="34D399"/>
                </a:solidFill>
                <a:latin typeface="Courier New"/>
              </a:rPr>
              <a:t>zone-c</a:t>
            </a:r>
          </a:p>
        </p:txBody>
      </p:sp>
      <p:sp>
        <p:nvSpPr>
          <p:cNvPr id="11" name="TextBox 10"/>
          <p:cNvSpPr txBox="1"/>
          <p:nvPr/>
        </p:nvSpPr>
        <p:spPr>
          <a:xfrm>
            <a:off x="3584448" y="2633472"/>
            <a:ext cx="2212848" cy="640080"/>
          </a:xfrm>
          <a:prstGeom prst="rect">
            <a:avLst/>
          </a:prstGeom>
          <a:noFill/>
        </p:spPr>
        <p:txBody>
          <a:bodyPr wrap="square" anchor="t" lIns="0" rIns="0" tIns="0" bIns="0">
            <a:spAutoFit/>
          </a:bodyPr>
          <a:lstStyle/>
          <a:p>
            <a:pPr algn="l">
              <a:lnSpc>
                <a:spcPts val="1500"/>
              </a:lnSpc>
            </a:pPr>
            <a:r>
              <a:rPr sz="1100" b="0" i="0">
                <a:solidFill>
                  <a:srgbClr val="6B7A8D"/>
                </a:solidFill>
                <a:latin typeface="Calibri"/>
              </a:rPr>
              <a:t>only zone that can remove the heat</a:t>
            </a:r>
          </a:p>
        </p:txBody>
      </p:sp>
      <p:sp>
        <p:nvSpPr>
          <p:cNvPr id="12" name="Rounded Rectangle 11"/>
          <p:cNvSpPr/>
          <p:nvPr/>
        </p:nvSpPr>
        <p:spPr>
          <a:xfrm>
            <a:off x="6144768" y="1627632"/>
            <a:ext cx="2670048" cy="173736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2512" y="1792224"/>
            <a:ext cx="2194560" cy="274320"/>
          </a:xfrm>
          <a:prstGeom prst="rect">
            <a:avLst/>
          </a:prstGeom>
          <a:noFill/>
        </p:spPr>
        <p:txBody>
          <a:bodyPr wrap="square" anchor="t" lIns="0" rIns="0" tIns="0" bIns="0">
            <a:spAutoFit/>
          </a:bodyPr>
          <a:lstStyle/>
          <a:p>
            <a:pPr algn="l"/>
            <a:r>
              <a:rPr sz="1300" b="1" i="0">
                <a:solidFill>
                  <a:srgbClr val="9AA8BA"/>
                </a:solidFill>
                <a:latin typeface="Calibri"/>
              </a:rPr>
              <a:t>Facilities</a:t>
            </a:r>
          </a:p>
        </p:txBody>
      </p:sp>
      <p:sp>
        <p:nvSpPr>
          <p:cNvPr id="14" name="TextBox 13"/>
          <p:cNvSpPr txBox="1"/>
          <p:nvPr/>
        </p:nvSpPr>
        <p:spPr>
          <a:xfrm>
            <a:off x="6382512" y="2103120"/>
            <a:ext cx="2194560" cy="457200"/>
          </a:xfrm>
          <a:prstGeom prst="rect">
            <a:avLst/>
          </a:prstGeom>
          <a:noFill/>
        </p:spPr>
        <p:txBody>
          <a:bodyPr wrap="square" anchor="t" lIns="0" rIns="0" tIns="0" bIns="0">
            <a:spAutoFit/>
          </a:bodyPr>
          <a:lstStyle/>
          <a:p>
            <a:pPr algn="l"/>
            <a:r>
              <a:rPr sz="2500" b="1" i="0">
                <a:solidFill>
                  <a:srgbClr val="FBBF24"/>
                </a:solidFill>
                <a:latin typeface="Courier New"/>
              </a:rPr>
              <a:t>zone-b</a:t>
            </a:r>
          </a:p>
        </p:txBody>
      </p:sp>
      <p:sp>
        <p:nvSpPr>
          <p:cNvPr id="15" name="TextBox 14"/>
          <p:cNvSpPr txBox="1"/>
          <p:nvPr/>
        </p:nvSpPr>
        <p:spPr>
          <a:xfrm>
            <a:off x="6382512" y="2633472"/>
            <a:ext cx="2212848" cy="640080"/>
          </a:xfrm>
          <a:prstGeom prst="rect">
            <a:avLst/>
          </a:prstGeom>
          <a:noFill/>
        </p:spPr>
        <p:txBody>
          <a:bodyPr wrap="square" anchor="t" lIns="0" rIns="0" tIns="0" bIns="0">
            <a:spAutoFit/>
          </a:bodyPr>
          <a:lstStyle/>
          <a:p>
            <a:pPr algn="l">
              <a:lnSpc>
                <a:spcPts val="1500"/>
              </a:lnSpc>
            </a:pPr>
            <a:r>
              <a:rPr sz="1100" b="0" i="0">
                <a:solidFill>
                  <a:srgbClr val="6B7A8D"/>
                </a:solidFill>
                <a:latin typeface="Calibri"/>
              </a:rPr>
              <a:t>only zone with 6 free liquid racks</a:t>
            </a:r>
          </a:p>
        </p:txBody>
      </p:sp>
      <p:sp>
        <p:nvSpPr>
          <p:cNvPr id="16" name="Rounded Rectangle 15"/>
          <p:cNvSpPr/>
          <p:nvPr/>
        </p:nvSpPr>
        <p:spPr>
          <a:xfrm>
            <a:off x="8942832" y="1627632"/>
            <a:ext cx="2670048" cy="173736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80576" y="1792224"/>
            <a:ext cx="2194560" cy="274320"/>
          </a:xfrm>
          <a:prstGeom prst="rect">
            <a:avLst/>
          </a:prstGeom>
          <a:noFill/>
        </p:spPr>
        <p:txBody>
          <a:bodyPr wrap="square" anchor="t" lIns="0" rIns="0" tIns="0" bIns="0">
            <a:spAutoFit/>
          </a:bodyPr>
          <a:lstStyle/>
          <a:p>
            <a:pPr algn="l"/>
            <a:r>
              <a:rPr sz="1300" b="1" i="0">
                <a:solidFill>
                  <a:srgbClr val="9AA8BA"/>
                </a:solidFill>
                <a:latin typeface="Calibri"/>
              </a:rPr>
              <a:t>Cost</a:t>
            </a:r>
          </a:p>
        </p:txBody>
      </p:sp>
      <p:sp>
        <p:nvSpPr>
          <p:cNvPr id="18" name="TextBox 17"/>
          <p:cNvSpPr txBox="1"/>
          <p:nvPr/>
        </p:nvSpPr>
        <p:spPr>
          <a:xfrm>
            <a:off x="9180576" y="2103120"/>
            <a:ext cx="2194560" cy="457200"/>
          </a:xfrm>
          <a:prstGeom prst="rect">
            <a:avLst/>
          </a:prstGeom>
          <a:noFill/>
        </p:spPr>
        <p:txBody>
          <a:bodyPr wrap="square" anchor="t" lIns="0" rIns="0" tIns="0" bIns="0">
            <a:spAutoFit/>
          </a:bodyPr>
          <a:lstStyle/>
          <a:p>
            <a:pPr algn="l"/>
            <a:r>
              <a:rPr sz="2500" b="1" i="0">
                <a:solidFill>
                  <a:srgbClr val="FBBF24"/>
                </a:solidFill>
                <a:latin typeface="Courier New"/>
              </a:rPr>
              <a:t>zone-b</a:t>
            </a:r>
          </a:p>
        </p:txBody>
      </p:sp>
      <p:sp>
        <p:nvSpPr>
          <p:cNvPr id="19" name="TextBox 18"/>
          <p:cNvSpPr txBox="1"/>
          <p:nvPr/>
        </p:nvSpPr>
        <p:spPr>
          <a:xfrm>
            <a:off x="9180576" y="2633472"/>
            <a:ext cx="2212848" cy="640080"/>
          </a:xfrm>
          <a:prstGeom prst="rect">
            <a:avLst/>
          </a:prstGeom>
          <a:noFill/>
        </p:spPr>
        <p:txBody>
          <a:bodyPr wrap="square" anchor="t" lIns="0" rIns="0" tIns="0" bIns="0">
            <a:spAutoFit/>
          </a:bodyPr>
          <a:lstStyle/>
          <a:p>
            <a:pPr algn="l">
              <a:lnSpc>
                <a:spcPts val="1500"/>
              </a:lnSpc>
            </a:pPr>
            <a:r>
              <a:rPr sz="1100" b="0" i="0">
                <a:solidFill>
                  <a:srgbClr val="6B7A8D"/>
                </a:solidFill>
                <a:latin typeface="Calibri"/>
              </a:rPr>
              <a:t>avoids a $48k per rack retrofit</a:t>
            </a:r>
          </a:p>
        </p:txBody>
      </p:sp>
      <p:sp>
        <p:nvSpPr>
          <p:cNvPr id="20" name="Rounded Rectangle 19"/>
          <p:cNvSpPr/>
          <p:nvPr/>
        </p:nvSpPr>
        <p:spPr>
          <a:xfrm>
            <a:off x="548640" y="3657600"/>
            <a:ext cx="11064240" cy="1188720"/>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3840480"/>
            <a:ext cx="10424160" cy="384048"/>
          </a:xfrm>
          <a:prstGeom prst="rect">
            <a:avLst/>
          </a:prstGeom>
          <a:noFill/>
        </p:spPr>
        <p:txBody>
          <a:bodyPr wrap="square" anchor="t" lIns="0" rIns="0" tIns="0" bIns="0">
            <a:spAutoFit/>
          </a:bodyPr>
          <a:lstStyle/>
          <a:p>
            <a:pPr algn="l"/>
            <a:r>
              <a:rPr sz="1800" b="1" i="0">
                <a:solidFill>
                  <a:srgbClr val="EEF2F7"/>
                </a:solidFill>
                <a:latin typeface="Arial"/>
              </a:rPr>
              <a:t>Four correct answers. Three different rooms. No plan.</a:t>
            </a:r>
          </a:p>
        </p:txBody>
      </p:sp>
      <p:sp>
        <p:nvSpPr>
          <p:cNvPr id="22" name="TextBox 21"/>
          <p:cNvSpPr txBox="1"/>
          <p:nvPr/>
        </p:nvSpPr>
        <p:spPr>
          <a:xfrm>
            <a:off x="868680" y="4279392"/>
            <a:ext cx="10424160" cy="384048"/>
          </a:xfrm>
          <a:prstGeom prst="rect">
            <a:avLst/>
          </a:prstGeom>
          <a:noFill/>
        </p:spPr>
        <p:txBody>
          <a:bodyPr wrap="square" anchor="t" lIns="0" rIns="0" tIns="0" bIns="0">
            <a:spAutoFit/>
          </a:bodyPr>
          <a:lstStyle/>
          <a:p>
            <a:pPr algn="l"/>
            <a:r>
              <a:rPr sz="1300" b="0" i="0">
                <a:solidFill>
                  <a:srgbClr val="9AA8BA"/>
                </a:solidFill>
                <a:latin typeface="Calibri"/>
              </a:rPr>
              <a:t>A system that counted votes would see four approvals and place the order. Then the racks arrive and the room cannot cool them.</a:t>
            </a:r>
          </a:p>
        </p:txBody>
      </p:sp>
      <p:sp>
        <p:nvSpPr>
          <p:cNvPr id="23" name="TextBox 22"/>
          <p:cNvSpPr txBox="1"/>
          <p:nvPr/>
        </p:nvSpPr>
        <p:spPr>
          <a:xfrm>
            <a:off x="548640" y="5138928"/>
            <a:ext cx="11064240" cy="384048"/>
          </a:xfrm>
          <a:prstGeom prst="rect">
            <a:avLst/>
          </a:prstGeom>
          <a:noFill/>
        </p:spPr>
        <p:txBody>
          <a:bodyPr wrap="square" anchor="t" lIns="0" rIns="0" tIns="0" bIns="0">
            <a:spAutoFit/>
          </a:bodyPr>
          <a:lstStyle/>
          <a:p>
            <a:pPr algn="l"/>
            <a:r>
              <a:rPr sz="1350" b="0" i="0">
                <a:solidFill>
                  <a:srgbClr val="4DD6FF"/>
                </a:solidFill>
                <a:latin typeface="Calibri"/>
              </a:rPr>
              <a:t>This is the failure we built for. Not agents contradicting each other, but agents all being right and still adding up to nothing.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How the plan gets found</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Every assessor also reports the zones its own axis rules out</a:t>
            </a:r>
          </a:p>
        </p:txBody>
      </p:sp>
      <p:sp>
        <p:nvSpPr>
          <p:cNvPr id="4" name="TextBox 3"/>
          <p:cNvSpPr txBox="1"/>
          <p:nvPr/>
        </p:nvSpPr>
        <p:spPr>
          <a:xfrm>
            <a:off x="548640" y="1719072"/>
            <a:ext cx="2377440" cy="329184"/>
          </a:xfrm>
          <a:prstGeom prst="rect">
            <a:avLst/>
          </a:prstGeom>
          <a:noFill/>
        </p:spPr>
        <p:txBody>
          <a:bodyPr wrap="square" anchor="t" lIns="0" rIns="0" tIns="0" bIns="0">
            <a:spAutoFit/>
          </a:bodyPr>
          <a:lstStyle/>
          <a:p>
            <a:pPr algn="r"/>
            <a:r>
              <a:rPr sz="1300" b="0" i="0">
                <a:solidFill>
                  <a:srgbClr val="9AA8BA"/>
                </a:solidFill>
                <a:latin typeface="Calibri"/>
              </a:rPr>
              <a:t>Cooling rules out</a:t>
            </a:r>
          </a:p>
        </p:txBody>
      </p:sp>
      <p:sp>
        <p:nvSpPr>
          <p:cNvPr id="5" name="TextBox 4"/>
          <p:cNvSpPr txBox="1"/>
          <p:nvPr/>
        </p:nvSpPr>
        <p:spPr>
          <a:xfrm>
            <a:off x="3063240" y="1719072"/>
            <a:ext cx="3108960" cy="329184"/>
          </a:xfrm>
          <a:prstGeom prst="rect">
            <a:avLst/>
          </a:prstGeom>
          <a:noFill/>
        </p:spPr>
        <p:txBody>
          <a:bodyPr wrap="square" anchor="t" lIns="0" rIns="0" tIns="0" bIns="0">
            <a:spAutoFit/>
          </a:bodyPr>
          <a:lstStyle/>
          <a:p>
            <a:pPr algn="l"/>
            <a:r>
              <a:rPr sz="1300" b="0" i="0">
                <a:solidFill>
                  <a:srgbClr val="F87171"/>
                </a:solidFill>
                <a:latin typeface="Courier New"/>
              </a:rPr>
              <a:t>zone-a   zone-b   zone-d</a:t>
            </a:r>
          </a:p>
        </p:txBody>
      </p:sp>
      <p:sp>
        <p:nvSpPr>
          <p:cNvPr id="6" name="TextBox 5"/>
          <p:cNvSpPr txBox="1"/>
          <p:nvPr/>
        </p:nvSpPr>
        <p:spPr>
          <a:xfrm>
            <a:off x="548640" y="2286000"/>
            <a:ext cx="2377440" cy="329184"/>
          </a:xfrm>
          <a:prstGeom prst="rect">
            <a:avLst/>
          </a:prstGeom>
          <a:noFill/>
        </p:spPr>
        <p:txBody>
          <a:bodyPr wrap="square" anchor="t" lIns="0" rIns="0" tIns="0" bIns="0">
            <a:spAutoFit/>
          </a:bodyPr>
          <a:lstStyle/>
          <a:p>
            <a:pPr algn="r"/>
            <a:r>
              <a:rPr sz="1300" b="0" i="0">
                <a:solidFill>
                  <a:srgbClr val="9AA8BA"/>
                </a:solidFill>
                <a:latin typeface="Calibri"/>
              </a:rPr>
              <a:t>Power rules out</a:t>
            </a:r>
          </a:p>
        </p:txBody>
      </p:sp>
      <p:sp>
        <p:nvSpPr>
          <p:cNvPr id="7" name="TextBox 6"/>
          <p:cNvSpPr txBox="1"/>
          <p:nvPr/>
        </p:nvSpPr>
        <p:spPr>
          <a:xfrm>
            <a:off x="3063240" y="2286000"/>
            <a:ext cx="3108960" cy="329184"/>
          </a:xfrm>
          <a:prstGeom prst="rect">
            <a:avLst/>
          </a:prstGeom>
          <a:noFill/>
        </p:spPr>
        <p:txBody>
          <a:bodyPr wrap="square" anchor="t" lIns="0" rIns="0" tIns="0" bIns="0">
            <a:spAutoFit/>
          </a:bodyPr>
          <a:lstStyle/>
          <a:p>
            <a:pPr algn="l"/>
            <a:r>
              <a:rPr sz="1300" b="0" i="0">
                <a:solidFill>
                  <a:srgbClr val="F87171"/>
                </a:solidFill>
                <a:latin typeface="Courier New"/>
              </a:rPr>
              <a:t>zone-b   zone-d</a:t>
            </a:r>
          </a:p>
        </p:txBody>
      </p:sp>
      <p:sp>
        <p:nvSpPr>
          <p:cNvPr id="8" name="TextBox 7"/>
          <p:cNvSpPr txBox="1"/>
          <p:nvPr/>
        </p:nvSpPr>
        <p:spPr>
          <a:xfrm>
            <a:off x="548640" y="2852928"/>
            <a:ext cx="2377440" cy="329184"/>
          </a:xfrm>
          <a:prstGeom prst="rect">
            <a:avLst/>
          </a:prstGeom>
          <a:noFill/>
        </p:spPr>
        <p:txBody>
          <a:bodyPr wrap="square" anchor="t" lIns="0" rIns="0" tIns="0" bIns="0">
            <a:spAutoFit/>
          </a:bodyPr>
          <a:lstStyle/>
          <a:p>
            <a:pPr algn="r"/>
            <a:r>
              <a:rPr sz="1300" b="0" i="0">
                <a:solidFill>
                  <a:srgbClr val="9AA8BA"/>
                </a:solidFill>
                <a:latin typeface="Calibri"/>
              </a:rPr>
              <a:t>Facilities rules out</a:t>
            </a:r>
          </a:p>
        </p:txBody>
      </p:sp>
      <p:sp>
        <p:nvSpPr>
          <p:cNvPr id="9" name="TextBox 8"/>
          <p:cNvSpPr txBox="1"/>
          <p:nvPr/>
        </p:nvSpPr>
        <p:spPr>
          <a:xfrm>
            <a:off x="3063240" y="2852928"/>
            <a:ext cx="3108960" cy="329184"/>
          </a:xfrm>
          <a:prstGeom prst="rect">
            <a:avLst/>
          </a:prstGeom>
          <a:noFill/>
        </p:spPr>
        <p:txBody>
          <a:bodyPr wrap="square" anchor="t" lIns="0" rIns="0" tIns="0" bIns="0">
            <a:spAutoFit/>
          </a:bodyPr>
          <a:lstStyle/>
          <a:p>
            <a:pPr algn="l"/>
            <a:r>
              <a:rPr sz="1300" b="0" i="0">
                <a:solidFill>
                  <a:srgbClr val="F87171"/>
                </a:solidFill>
                <a:latin typeface="Courier New"/>
              </a:rPr>
              <a:t>zone-a   zone-d</a:t>
            </a:r>
          </a:p>
        </p:txBody>
      </p:sp>
      <p:sp>
        <p:nvSpPr>
          <p:cNvPr id="10" name="TextBox 9"/>
          <p:cNvSpPr txBox="1"/>
          <p:nvPr/>
        </p:nvSpPr>
        <p:spPr>
          <a:xfrm>
            <a:off x="548640" y="3419856"/>
            <a:ext cx="2377440" cy="329184"/>
          </a:xfrm>
          <a:prstGeom prst="rect">
            <a:avLst/>
          </a:prstGeom>
          <a:noFill/>
        </p:spPr>
        <p:txBody>
          <a:bodyPr wrap="square" anchor="t" lIns="0" rIns="0" tIns="0" bIns="0">
            <a:spAutoFit/>
          </a:bodyPr>
          <a:lstStyle/>
          <a:p>
            <a:pPr algn="r"/>
            <a:r>
              <a:rPr sz="1300" b="0" i="0">
                <a:solidFill>
                  <a:srgbClr val="9AA8BA"/>
                </a:solidFill>
                <a:latin typeface="Calibri"/>
              </a:rPr>
              <a:t>Cost rules out</a:t>
            </a:r>
          </a:p>
        </p:txBody>
      </p:sp>
      <p:sp>
        <p:nvSpPr>
          <p:cNvPr id="11" name="TextBox 10"/>
          <p:cNvSpPr txBox="1"/>
          <p:nvPr/>
        </p:nvSpPr>
        <p:spPr>
          <a:xfrm>
            <a:off x="3063240" y="3419856"/>
            <a:ext cx="3108960" cy="329184"/>
          </a:xfrm>
          <a:prstGeom prst="rect">
            <a:avLst/>
          </a:prstGeom>
          <a:noFill/>
        </p:spPr>
        <p:txBody>
          <a:bodyPr wrap="square" anchor="t" lIns="0" rIns="0" tIns="0" bIns="0">
            <a:spAutoFit/>
          </a:bodyPr>
          <a:lstStyle/>
          <a:p>
            <a:pPr algn="l"/>
            <a:r>
              <a:rPr sz="1300" b="0" i="0">
                <a:solidFill>
                  <a:srgbClr val="F87171"/>
                </a:solidFill>
                <a:latin typeface="Courier New"/>
              </a:rPr>
              <a:t>zone-a   zone-d</a:t>
            </a:r>
          </a:p>
        </p:txBody>
      </p:sp>
      <p:sp>
        <p:nvSpPr>
          <p:cNvPr id="12" name="Rectangle 11"/>
          <p:cNvSpPr/>
          <p:nvPr/>
        </p:nvSpPr>
        <p:spPr>
          <a:xfrm>
            <a:off x="3063240" y="4041648"/>
            <a:ext cx="2926080" cy="15240"/>
          </a:xfrm>
          <a:prstGeom prst="rect">
            <a:avLst/>
          </a:prstGeom>
          <a:solidFill>
            <a:srgbClr val="2A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206240"/>
            <a:ext cx="2377440" cy="329184"/>
          </a:xfrm>
          <a:prstGeom prst="rect">
            <a:avLst/>
          </a:prstGeom>
          <a:noFill/>
        </p:spPr>
        <p:txBody>
          <a:bodyPr wrap="square" anchor="t" lIns="0" rIns="0" tIns="0" bIns="0">
            <a:spAutoFit/>
          </a:bodyPr>
          <a:lstStyle/>
          <a:p>
            <a:pPr algn="r"/>
            <a:r>
              <a:rPr sz="1300" b="1" i="0">
                <a:solidFill>
                  <a:srgbClr val="EEF2F7"/>
                </a:solidFill>
                <a:latin typeface="Calibri"/>
              </a:rPr>
              <a:t>survives all four</a:t>
            </a:r>
          </a:p>
        </p:txBody>
      </p:sp>
      <p:sp>
        <p:nvSpPr>
          <p:cNvPr id="14" name="TextBox 13"/>
          <p:cNvSpPr txBox="1"/>
          <p:nvPr/>
        </p:nvSpPr>
        <p:spPr>
          <a:xfrm>
            <a:off x="3063240" y="4151376"/>
            <a:ext cx="3108960" cy="457200"/>
          </a:xfrm>
          <a:prstGeom prst="rect">
            <a:avLst/>
          </a:prstGeom>
          <a:noFill/>
        </p:spPr>
        <p:txBody>
          <a:bodyPr wrap="square" anchor="t" lIns="0" rIns="0" tIns="0" bIns="0">
            <a:spAutoFit/>
          </a:bodyPr>
          <a:lstStyle/>
          <a:p>
            <a:pPr algn="l"/>
            <a:r>
              <a:rPr sz="2000" b="1" i="0">
                <a:solidFill>
                  <a:srgbClr val="34D399"/>
                </a:solidFill>
                <a:latin typeface="Courier New"/>
              </a:rPr>
              <a:t>zone-c</a:t>
            </a:r>
          </a:p>
        </p:txBody>
      </p:sp>
      <p:sp>
        <p:nvSpPr>
          <p:cNvPr id="15" name="TextBox 14"/>
          <p:cNvSpPr txBox="1"/>
          <p:nvPr/>
        </p:nvSpPr>
        <p:spPr>
          <a:xfrm>
            <a:off x="548640" y="4937760"/>
            <a:ext cx="5577840" cy="822960"/>
          </a:xfrm>
          <a:prstGeom prst="rect">
            <a:avLst/>
          </a:prstGeom>
          <a:noFill/>
        </p:spPr>
        <p:txBody>
          <a:bodyPr wrap="square" anchor="t" lIns="0" rIns="0" tIns="0" bIns="0">
            <a:spAutoFit/>
          </a:bodyPr>
          <a:lstStyle/>
          <a:p>
            <a:pPr algn="l">
              <a:lnSpc>
                <a:spcPts val="1800"/>
              </a:lnSpc>
            </a:pPr>
            <a:r>
              <a:rPr sz="1250" b="0" i="0">
                <a:solidFill>
                  <a:srgbClr val="9AA8BA"/>
                </a:solidFill>
                <a:latin typeface="Calibri"/>
              </a:rPr>
              <a:t>The orchestrator does not count votes. It intersects the four exclusion lists and asks whether anything is left.</a:t>
            </a:r>
          </a:p>
        </p:txBody>
      </p:sp>
      <p:sp>
        <p:nvSpPr>
          <p:cNvPr id="16" name="Rounded Rectangle 15"/>
          <p:cNvSpPr/>
          <p:nvPr/>
        </p:nvSpPr>
        <p:spPr>
          <a:xfrm>
            <a:off x="6583680" y="1627632"/>
            <a:ext cx="5029200" cy="4160520"/>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03720" y="1865376"/>
            <a:ext cx="4389120" cy="731520"/>
          </a:xfrm>
          <a:prstGeom prst="rect">
            <a:avLst/>
          </a:prstGeom>
          <a:noFill/>
        </p:spPr>
        <p:txBody>
          <a:bodyPr wrap="square" anchor="t" lIns="0" rIns="0" tIns="0" bIns="0">
            <a:spAutoFit/>
          </a:bodyPr>
          <a:lstStyle/>
          <a:p>
            <a:pPr algn="l">
              <a:lnSpc>
                <a:spcPts val="2500"/>
              </a:lnSpc>
            </a:pPr>
            <a:r>
              <a:rPr sz="1900" b="1" i="0">
                <a:solidFill>
                  <a:srgbClr val="34D399"/>
                </a:solidFill>
                <a:latin typeface="Arial"/>
              </a:rPr>
              <a:t>In round one, not one assessor had picked it.</a:t>
            </a:r>
          </a:p>
        </p:txBody>
      </p:sp>
      <p:sp>
        <p:nvSpPr>
          <p:cNvPr id="18" name="TextBox 17"/>
          <p:cNvSpPr txBox="1"/>
          <p:nvPr/>
        </p:nvSpPr>
        <p:spPr>
          <a:xfrm>
            <a:off x="6903720" y="2706624"/>
            <a:ext cx="4389120" cy="2971800"/>
          </a:xfrm>
          <a:prstGeom prst="rect">
            <a:avLst/>
          </a:prstGeom>
          <a:noFill/>
        </p:spPr>
        <p:txBody>
          <a:bodyPr wrap="square" anchor="t" lIns="0" rIns="0" tIns="0" bIns="0">
            <a:spAutoFit/>
          </a:bodyPr>
          <a:lstStyle/>
          <a:p>
            <a:pPr algn="l">
              <a:lnSpc>
                <a:spcPts val="1800"/>
              </a:lnSpc>
            </a:pPr>
            <a:r>
              <a:rPr sz="1200" b="0" i="0">
                <a:solidFill>
                  <a:srgbClr val="9AA8BA"/>
                </a:solidFill>
                <a:latin typeface="Calibri"/>
              </a:rPr>
              <a:t>Power wanted zone-a. Facilities and cost wanted zone-b. The zone that actually works was nobody's first choice.</a:t>
            </a:r>
          </a:p>
          <a:p>
            <a:pPr algn="l">
              <a:lnSpc>
                <a:spcPts val="1800"/>
              </a:lnSpc>
            </a:pPr>
            <a:r>
              <a:rPr sz="1200" b="0" i="0">
                <a:solidFill>
                  <a:srgbClr val="9AA8BA"/>
                </a:solidFill>
                <a:latin typeface="Calibri"/>
              </a:rPr>
              <a:t/>
            </a:r>
          </a:p>
          <a:p>
            <a:pPr algn="l">
              <a:lnSpc>
                <a:spcPts val="1800"/>
              </a:lnSpc>
            </a:pPr>
            <a:r>
              <a:rPr sz="1200" b="0" i="0">
                <a:solidFill>
                  <a:srgbClr val="9AA8BA"/>
                </a:solidFill>
                <a:latin typeface="Calibri"/>
              </a:rPr>
              <a:t>Asked again with the conflict attached, facilities volunteered something it had no reason to mention before: zone-c has five liquid-ready racks and more that can be plumbed in about fourteen hours each. Cost re-priced one retrofit at $48,000 instead of the $288,000 it had assumed for six.</a:t>
            </a:r>
          </a:p>
          <a:p>
            <a:pPr algn="l">
              <a:lnSpc>
                <a:spcPts val="1800"/>
              </a:lnSpc>
            </a:pPr>
            <a:r>
              <a:rPr sz="1200" b="0" i="0">
                <a:solidFill>
                  <a:srgbClr val="9AA8BA"/>
                </a:solidFill>
                <a:latin typeface="Calibri"/>
              </a:rPr>
              <a:t/>
            </a:r>
          </a:p>
          <a:p>
            <a:pPr algn="l">
              <a:lnSpc>
                <a:spcPts val="1800"/>
              </a:lnSpc>
            </a:pPr>
            <a:r>
              <a:rPr sz="1200" b="0" i="0">
                <a:solidFill>
                  <a:srgbClr val="9AA8BA"/>
                </a:solidFill>
                <a:latin typeface="Calibri"/>
              </a:rPr>
              <a:t>Final plan: zone-c, five ready racks plus one retrofit, fourteen hours of delay.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System architecture</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Seven Cloud Run services, seven identities, five databases</a:t>
            </a:r>
          </a:p>
        </p:txBody>
      </p:sp>
      <p:sp>
        <p:nvSpPr>
          <p:cNvPr id="4" name="Rounded Rectangle 3"/>
          <p:cNvSpPr/>
          <p:nvPr/>
        </p:nvSpPr>
        <p:spPr>
          <a:xfrm>
            <a:off x="548640" y="1536192"/>
            <a:ext cx="11064240" cy="896112"/>
          </a:xfrm>
          <a:prstGeom prst="roundRect">
            <a:avLst>
              <a:gd name="adj" fmla="val 4000"/>
            </a:avLst>
          </a:prstGeom>
          <a:solidFill>
            <a:srgbClr val="141B25"/>
          </a:solidFill>
          <a:ln w="12700">
            <a:solidFill>
              <a:srgbClr val="6B7A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0" y="1609344"/>
            <a:ext cx="3657600" cy="237744"/>
          </a:xfrm>
          <a:prstGeom prst="rect">
            <a:avLst/>
          </a:prstGeom>
          <a:noFill/>
        </p:spPr>
        <p:txBody>
          <a:bodyPr wrap="square" anchor="t" lIns="0" rIns="0" tIns="0" bIns="0">
            <a:spAutoFit/>
          </a:bodyPr>
          <a:lstStyle/>
          <a:p>
            <a:pPr algn="r"/>
            <a:r>
              <a:rPr sz="1000" b="1" i="0">
                <a:solidFill>
                  <a:srgbClr val="6B7A8D"/>
                </a:solidFill>
                <a:latin typeface="Calibri"/>
              </a:rPr>
              <a:t>PUBLIC</a:t>
            </a:r>
          </a:p>
        </p:txBody>
      </p:sp>
      <p:sp>
        <p:nvSpPr>
          <p:cNvPr id="6" name="Rounded Rectangle 5"/>
          <p:cNvSpPr/>
          <p:nvPr/>
        </p:nvSpPr>
        <p:spPr>
          <a:xfrm>
            <a:off x="777240" y="1719072"/>
            <a:ext cx="2834640" cy="566928"/>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783080"/>
            <a:ext cx="2560320" cy="237744"/>
          </a:xfrm>
          <a:prstGeom prst="rect">
            <a:avLst/>
          </a:prstGeom>
          <a:noFill/>
        </p:spPr>
        <p:txBody>
          <a:bodyPr wrap="square" anchor="t" lIns="0" rIns="0" tIns="0" bIns="0">
            <a:spAutoFit/>
          </a:bodyPr>
          <a:lstStyle/>
          <a:p>
            <a:pPr algn="l"/>
            <a:r>
              <a:rPr sz="1250" b="1" i="0">
                <a:solidFill>
                  <a:srgbClr val="4DD6FF"/>
                </a:solidFill>
                <a:latin typeface="Calibri"/>
              </a:rPr>
              <a:t>gridmind, web tier</a:t>
            </a:r>
          </a:p>
        </p:txBody>
      </p:sp>
      <p:sp>
        <p:nvSpPr>
          <p:cNvPr id="8" name="TextBox 7"/>
          <p:cNvSpPr txBox="1"/>
          <p:nvPr/>
        </p:nvSpPr>
        <p:spPr>
          <a:xfrm>
            <a:off x="960120" y="2011680"/>
            <a:ext cx="2560320" cy="237744"/>
          </a:xfrm>
          <a:prstGeom prst="rect">
            <a:avLst/>
          </a:prstGeom>
          <a:noFill/>
        </p:spPr>
        <p:txBody>
          <a:bodyPr wrap="square" anchor="t" lIns="0" rIns="0" tIns="0" bIns="0">
            <a:spAutoFit/>
          </a:bodyPr>
          <a:lstStyle/>
          <a:p>
            <a:pPr algn="l"/>
            <a:r>
              <a:rPr sz="1000" b="0" i="0">
                <a:solidFill>
                  <a:srgbClr val="6B7A8D"/>
                </a:solidFill>
                <a:latin typeface="Calibri"/>
              </a:rPr>
              <a:t>read only, no model access</a:t>
            </a:r>
          </a:p>
        </p:txBody>
      </p:sp>
      <p:sp>
        <p:nvSpPr>
          <p:cNvPr id="9" name="TextBox 8"/>
          <p:cNvSpPr txBox="1"/>
          <p:nvPr/>
        </p:nvSpPr>
        <p:spPr>
          <a:xfrm>
            <a:off x="3886200" y="1828800"/>
            <a:ext cx="5669280" cy="411480"/>
          </a:xfrm>
          <a:prstGeom prst="rect">
            <a:avLst/>
          </a:prstGeom>
          <a:noFill/>
        </p:spPr>
        <p:txBody>
          <a:bodyPr wrap="square" anchor="t" lIns="0" rIns="0" tIns="0" bIns="0">
            <a:spAutoFit/>
          </a:bodyPr>
          <a:lstStyle/>
          <a:p>
            <a:pPr algn="l"/>
            <a:r>
              <a:rPr sz="1150" b="0" i="0">
                <a:solidFill>
                  <a:srgbClr val="9AA8BA"/>
                </a:solidFill>
                <a:latin typeface="Calibri"/>
              </a:rPr>
              <a:t>The only service reachable from the internet, and the least privileged one in the system.</a:t>
            </a:r>
          </a:p>
        </p:txBody>
      </p:sp>
      <p:sp>
        <p:nvSpPr>
          <p:cNvPr id="10" name="Rounded Rectangle 9"/>
          <p:cNvSpPr/>
          <p:nvPr/>
        </p:nvSpPr>
        <p:spPr>
          <a:xfrm>
            <a:off x="548640" y="2578608"/>
            <a:ext cx="11064240" cy="2212848"/>
          </a:xfrm>
          <a:prstGeom prst="roundRect">
            <a:avLst>
              <a:gd name="adj" fmla="val 4000"/>
            </a:avLst>
          </a:prstGeom>
          <a:solidFill>
            <a:srgbClr val="141B25"/>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0" y="2651760"/>
            <a:ext cx="3657600" cy="237744"/>
          </a:xfrm>
          <a:prstGeom prst="rect">
            <a:avLst/>
          </a:prstGeom>
          <a:noFill/>
        </p:spPr>
        <p:txBody>
          <a:bodyPr wrap="square" anchor="t" lIns="0" rIns="0" tIns="0" bIns="0">
            <a:spAutoFit/>
          </a:bodyPr>
          <a:lstStyle/>
          <a:p>
            <a:pPr algn="r"/>
            <a:r>
              <a:rPr sz="1000" b="1" i="0">
                <a:solidFill>
                  <a:srgbClr val="A78BFA"/>
                </a:solidFill>
                <a:latin typeface="Calibri"/>
              </a:rPr>
              <a:t>PRIVATE VPC, ingress=internal, 404 from the internet</a:t>
            </a:r>
          </a:p>
        </p:txBody>
      </p:sp>
      <p:sp>
        <p:nvSpPr>
          <p:cNvPr id="12" name="Rounded Rectangle 11"/>
          <p:cNvSpPr/>
          <p:nvPr/>
        </p:nvSpPr>
        <p:spPr>
          <a:xfrm>
            <a:off x="777240" y="2834640"/>
            <a:ext cx="3383280" cy="713232"/>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0120" y="2916936"/>
            <a:ext cx="3017520" cy="256032"/>
          </a:xfrm>
          <a:prstGeom prst="rect">
            <a:avLst/>
          </a:prstGeom>
          <a:noFill/>
        </p:spPr>
        <p:txBody>
          <a:bodyPr wrap="square" anchor="t" lIns="0" rIns="0" tIns="0" bIns="0">
            <a:spAutoFit/>
          </a:bodyPr>
          <a:lstStyle/>
          <a:p>
            <a:pPr algn="l"/>
            <a:r>
              <a:rPr sz="1300" b="1" i="0">
                <a:solidFill>
                  <a:srgbClr val="4DD6FF"/>
                </a:solidFill>
                <a:latin typeface="Calibri"/>
              </a:rPr>
              <a:t>Orchestrator</a:t>
            </a:r>
          </a:p>
        </p:txBody>
      </p:sp>
      <p:sp>
        <p:nvSpPr>
          <p:cNvPr id="14" name="TextBox 13"/>
          <p:cNvSpPr txBox="1"/>
          <p:nvPr/>
        </p:nvSpPr>
        <p:spPr>
          <a:xfrm>
            <a:off x="960120" y="3172968"/>
            <a:ext cx="3017520" cy="256032"/>
          </a:xfrm>
          <a:prstGeom prst="rect">
            <a:avLst/>
          </a:prstGeom>
          <a:noFill/>
        </p:spPr>
        <p:txBody>
          <a:bodyPr wrap="square" anchor="t" lIns="0" rIns="0" tIns="0" bIns="0">
            <a:spAutoFit/>
          </a:bodyPr>
          <a:lstStyle/>
          <a:p>
            <a:pPr algn="l"/>
            <a:r>
              <a:rPr sz="1050" b="0" i="0">
                <a:solidFill>
                  <a:srgbClr val="6B7A8D"/>
                </a:solidFill>
                <a:latin typeface="Calibri"/>
              </a:rPr>
              <a:t>shared store only</a:t>
            </a:r>
          </a:p>
        </p:txBody>
      </p:sp>
      <p:sp>
        <p:nvSpPr>
          <p:cNvPr id="15" name="Rounded Rectangle 14"/>
          <p:cNvSpPr/>
          <p:nvPr/>
        </p:nvSpPr>
        <p:spPr>
          <a:xfrm>
            <a:off x="4389120" y="2834640"/>
            <a:ext cx="3383280" cy="713232"/>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0" y="2916936"/>
            <a:ext cx="3017520" cy="256032"/>
          </a:xfrm>
          <a:prstGeom prst="rect">
            <a:avLst/>
          </a:prstGeom>
          <a:noFill/>
        </p:spPr>
        <p:txBody>
          <a:bodyPr wrap="square" anchor="t" lIns="0" rIns="0" tIns="0" bIns="0">
            <a:spAutoFit/>
          </a:bodyPr>
          <a:lstStyle/>
          <a:p>
            <a:pPr algn="l"/>
            <a:r>
              <a:rPr sz="1300" b="1" i="0">
                <a:solidFill>
                  <a:srgbClr val="FBBF24"/>
                </a:solidFill>
                <a:latin typeface="Calibri"/>
              </a:rPr>
              <a:t>Gateway</a:t>
            </a:r>
          </a:p>
        </p:txBody>
      </p:sp>
      <p:sp>
        <p:nvSpPr>
          <p:cNvPr id="17" name="TextBox 16"/>
          <p:cNvSpPr txBox="1"/>
          <p:nvPr/>
        </p:nvSpPr>
        <p:spPr>
          <a:xfrm>
            <a:off x="4572000" y="3172968"/>
            <a:ext cx="3017520" cy="256032"/>
          </a:xfrm>
          <a:prstGeom prst="rect">
            <a:avLst/>
          </a:prstGeom>
          <a:noFill/>
        </p:spPr>
        <p:txBody>
          <a:bodyPr wrap="square" anchor="t" lIns="0" rIns="0" tIns="0" bIns="0">
            <a:spAutoFit/>
          </a:bodyPr>
          <a:lstStyle/>
          <a:p>
            <a:pPr algn="l"/>
            <a:r>
              <a:rPr sz="1050" b="0" i="0">
                <a:solidFill>
                  <a:srgbClr val="6B7A8D"/>
                </a:solidFill>
                <a:latin typeface="Calibri"/>
              </a:rPr>
              <a:t>identity, routing, Model Armor</a:t>
            </a:r>
          </a:p>
        </p:txBody>
      </p:sp>
      <p:sp>
        <p:nvSpPr>
          <p:cNvPr id="18" name="Rounded Rectangle 17"/>
          <p:cNvSpPr/>
          <p:nvPr/>
        </p:nvSpPr>
        <p:spPr>
          <a:xfrm>
            <a:off x="8001000" y="2834640"/>
            <a:ext cx="3383280" cy="713232"/>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183879" y="2916936"/>
            <a:ext cx="3017520" cy="256032"/>
          </a:xfrm>
          <a:prstGeom prst="rect">
            <a:avLst/>
          </a:prstGeom>
          <a:noFill/>
        </p:spPr>
        <p:txBody>
          <a:bodyPr wrap="square" anchor="t" lIns="0" rIns="0" tIns="0" bIns="0">
            <a:spAutoFit/>
          </a:bodyPr>
          <a:lstStyle/>
          <a:p>
            <a:pPr algn="l"/>
            <a:r>
              <a:rPr sz="1300" b="1" i="0">
                <a:solidFill>
                  <a:srgbClr val="34D399"/>
                </a:solidFill>
                <a:latin typeface="Calibri"/>
              </a:rPr>
              <a:t>Four assessors</a:t>
            </a:r>
          </a:p>
        </p:txBody>
      </p:sp>
      <p:sp>
        <p:nvSpPr>
          <p:cNvPr id="20" name="TextBox 19"/>
          <p:cNvSpPr txBox="1"/>
          <p:nvPr/>
        </p:nvSpPr>
        <p:spPr>
          <a:xfrm>
            <a:off x="8183879" y="3172968"/>
            <a:ext cx="3017520" cy="256032"/>
          </a:xfrm>
          <a:prstGeom prst="rect">
            <a:avLst/>
          </a:prstGeom>
          <a:noFill/>
        </p:spPr>
        <p:txBody>
          <a:bodyPr wrap="square" anchor="t" lIns="0" rIns="0" tIns="0" bIns="0">
            <a:spAutoFit/>
          </a:bodyPr>
          <a:lstStyle/>
          <a:p>
            <a:pPr algn="l"/>
            <a:r>
              <a:rPr sz="1050" b="0" i="0">
                <a:solidFill>
                  <a:srgbClr val="6B7A8D"/>
                </a:solidFill>
                <a:latin typeface="Calibri"/>
              </a:rPr>
              <a:t>one store each</a:t>
            </a:r>
          </a:p>
        </p:txBody>
      </p:sp>
      <p:sp>
        <p:nvSpPr>
          <p:cNvPr id="21" name="TextBox 20"/>
          <p:cNvSpPr txBox="1"/>
          <p:nvPr/>
        </p:nvSpPr>
        <p:spPr>
          <a:xfrm>
            <a:off x="777240" y="3712463"/>
            <a:ext cx="10607040" cy="292608"/>
          </a:xfrm>
          <a:prstGeom prst="rect">
            <a:avLst/>
          </a:prstGeom>
          <a:noFill/>
        </p:spPr>
        <p:txBody>
          <a:bodyPr wrap="square" anchor="t" lIns="0" rIns="0" tIns="0" bIns="0">
            <a:spAutoFit/>
          </a:bodyPr>
          <a:lstStyle/>
          <a:p>
            <a:pPr algn="l"/>
            <a:r>
              <a:rPr sz="1150" b="1" i="0">
                <a:solidFill>
                  <a:srgbClr val="FBBF24"/>
                </a:solidFill>
                <a:latin typeface="Calibri"/>
              </a:rPr>
              <a:t>A harness wraps every assessor: scoped read, schema-checked output, guardrail re-check, retry with correction, fail safe.</a:t>
            </a:r>
          </a:p>
        </p:txBody>
      </p:sp>
      <p:sp>
        <p:nvSpPr>
          <p:cNvPr id="22" name="TextBox 21"/>
          <p:cNvSpPr txBox="1"/>
          <p:nvPr/>
        </p:nvSpPr>
        <p:spPr>
          <a:xfrm>
            <a:off x="777240" y="4041648"/>
            <a:ext cx="10607040" cy="548640"/>
          </a:xfrm>
          <a:prstGeom prst="rect">
            <a:avLst/>
          </a:prstGeom>
          <a:noFill/>
        </p:spPr>
        <p:txBody>
          <a:bodyPr wrap="square" anchor="t" lIns="0" rIns="0" tIns="0" bIns="0">
            <a:spAutoFit/>
          </a:bodyPr>
          <a:lstStyle/>
          <a:p>
            <a:pPr algn="l"/>
            <a:r>
              <a:rPr sz="1150" b="0" i="0">
                <a:solidFill>
                  <a:srgbClr val="A78BFA"/>
                </a:solidFill>
                <a:latin typeface="Calibri"/>
              </a:rPr>
              <a:t>Gemini 3.5 on Vertex AI. flash-lite for each assessor, flash with a 4,096-token thinking budget for reconciliation.</a:t>
            </a:r>
          </a:p>
        </p:txBody>
      </p:sp>
      <p:sp>
        <p:nvSpPr>
          <p:cNvPr id="23" name="Rounded Rectangle 22"/>
          <p:cNvSpPr/>
          <p:nvPr/>
        </p:nvSpPr>
        <p:spPr>
          <a:xfrm>
            <a:off x="548640" y="4901184"/>
            <a:ext cx="11064240" cy="877824"/>
          </a:xfrm>
          <a:prstGeom prst="roundRect">
            <a:avLst>
              <a:gd name="adj" fmla="val 4000"/>
            </a:avLst>
          </a:prstGeom>
          <a:solidFill>
            <a:srgbClr val="141B2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63840" y="4974336"/>
            <a:ext cx="3657600" cy="237744"/>
          </a:xfrm>
          <a:prstGeom prst="rect">
            <a:avLst/>
          </a:prstGeom>
          <a:noFill/>
        </p:spPr>
        <p:txBody>
          <a:bodyPr wrap="square" anchor="t" lIns="0" rIns="0" tIns="0" bIns="0">
            <a:spAutoFit/>
          </a:bodyPr>
          <a:lstStyle/>
          <a:p>
            <a:pPr algn="r"/>
            <a:r>
              <a:rPr sz="1000" b="1" i="0">
                <a:solidFill>
                  <a:srgbClr val="34D399"/>
                </a:solidFill>
                <a:latin typeface="Calibri"/>
              </a:rPr>
              <a:t>DATA</a:t>
            </a:r>
          </a:p>
        </p:txBody>
      </p:sp>
      <p:sp>
        <p:nvSpPr>
          <p:cNvPr id="25" name="Rounded Rectangle 24"/>
          <p:cNvSpPr/>
          <p:nvPr/>
        </p:nvSpPr>
        <p:spPr>
          <a:xfrm>
            <a:off x="777240" y="5065776"/>
            <a:ext cx="1975104" cy="54864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5138928"/>
            <a:ext cx="1975104" cy="237744"/>
          </a:xfrm>
          <a:prstGeom prst="rect">
            <a:avLst/>
          </a:prstGeom>
          <a:noFill/>
        </p:spPr>
        <p:txBody>
          <a:bodyPr wrap="square" anchor="t" lIns="0" rIns="0" tIns="0" bIns="0">
            <a:spAutoFit/>
          </a:bodyPr>
          <a:lstStyle/>
          <a:p>
            <a:pPr algn="ctr"/>
            <a:r>
              <a:rPr sz="1100" b="1" i="0">
                <a:solidFill>
                  <a:srgbClr val="34D399"/>
                </a:solidFill>
                <a:latin typeface="Courier New"/>
              </a:rPr>
              <a:t>power-db</a:t>
            </a:r>
          </a:p>
        </p:txBody>
      </p:sp>
      <p:sp>
        <p:nvSpPr>
          <p:cNvPr id="27" name="TextBox 26"/>
          <p:cNvSpPr txBox="1"/>
          <p:nvPr/>
        </p:nvSpPr>
        <p:spPr>
          <a:xfrm>
            <a:off x="777240" y="5358384"/>
            <a:ext cx="1975104" cy="219456"/>
          </a:xfrm>
          <a:prstGeom prst="rect">
            <a:avLst/>
          </a:prstGeom>
          <a:noFill/>
        </p:spPr>
        <p:txBody>
          <a:bodyPr wrap="square" anchor="t" lIns="0" rIns="0" tIns="0" bIns="0">
            <a:spAutoFit/>
          </a:bodyPr>
          <a:lstStyle/>
          <a:p>
            <a:pPr algn="ctr"/>
            <a:r>
              <a:rPr sz="950" b="0" i="0">
                <a:solidFill>
                  <a:srgbClr val="F87171"/>
                </a:solidFill>
                <a:latin typeface="Calibri"/>
              </a:rPr>
              <a:t>all others 403</a:t>
            </a:r>
          </a:p>
        </p:txBody>
      </p:sp>
      <p:sp>
        <p:nvSpPr>
          <p:cNvPr id="28" name="Rounded Rectangle 27"/>
          <p:cNvSpPr/>
          <p:nvPr/>
        </p:nvSpPr>
        <p:spPr>
          <a:xfrm>
            <a:off x="2935224" y="5065776"/>
            <a:ext cx="1975104" cy="54864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935224" y="5138928"/>
            <a:ext cx="1975104" cy="237744"/>
          </a:xfrm>
          <a:prstGeom prst="rect">
            <a:avLst/>
          </a:prstGeom>
          <a:noFill/>
        </p:spPr>
        <p:txBody>
          <a:bodyPr wrap="square" anchor="t" lIns="0" rIns="0" tIns="0" bIns="0">
            <a:spAutoFit/>
          </a:bodyPr>
          <a:lstStyle/>
          <a:p>
            <a:pPr algn="ctr"/>
            <a:r>
              <a:rPr sz="1100" b="1" i="0">
                <a:solidFill>
                  <a:srgbClr val="34D399"/>
                </a:solidFill>
                <a:latin typeface="Courier New"/>
              </a:rPr>
              <a:t>cooling-db</a:t>
            </a:r>
          </a:p>
        </p:txBody>
      </p:sp>
      <p:sp>
        <p:nvSpPr>
          <p:cNvPr id="30" name="TextBox 29"/>
          <p:cNvSpPr txBox="1"/>
          <p:nvPr/>
        </p:nvSpPr>
        <p:spPr>
          <a:xfrm>
            <a:off x="2935224" y="5358384"/>
            <a:ext cx="1975104" cy="219456"/>
          </a:xfrm>
          <a:prstGeom prst="rect">
            <a:avLst/>
          </a:prstGeom>
          <a:noFill/>
        </p:spPr>
        <p:txBody>
          <a:bodyPr wrap="square" anchor="t" lIns="0" rIns="0" tIns="0" bIns="0">
            <a:spAutoFit/>
          </a:bodyPr>
          <a:lstStyle/>
          <a:p>
            <a:pPr algn="ctr"/>
            <a:r>
              <a:rPr sz="950" b="0" i="0">
                <a:solidFill>
                  <a:srgbClr val="F87171"/>
                </a:solidFill>
                <a:latin typeface="Calibri"/>
              </a:rPr>
              <a:t>all others 403</a:t>
            </a:r>
          </a:p>
        </p:txBody>
      </p:sp>
      <p:sp>
        <p:nvSpPr>
          <p:cNvPr id="31" name="Rounded Rectangle 30"/>
          <p:cNvSpPr/>
          <p:nvPr/>
        </p:nvSpPr>
        <p:spPr>
          <a:xfrm>
            <a:off x="5093207" y="5065776"/>
            <a:ext cx="1975104" cy="54864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093207" y="5138928"/>
            <a:ext cx="1975104" cy="237744"/>
          </a:xfrm>
          <a:prstGeom prst="rect">
            <a:avLst/>
          </a:prstGeom>
          <a:noFill/>
        </p:spPr>
        <p:txBody>
          <a:bodyPr wrap="square" anchor="t" lIns="0" rIns="0" tIns="0" bIns="0">
            <a:spAutoFit/>
          </a:bodyPr>
          <a:lstStyle/>
          <a:p>
            <a:pPr algn="ctr"/>
            <a:r>
              <a:rPr sz="1100" b="1" i="0">
                <a:solidFill>
                  <a:srgbClr val="34D399"/>
                </a:solidFill>
                <a:latin typeface="Courier New"/>
              </a:rPr>
              <a:t>facilities-db</a:t>
            </a:r>
          </a:p>
        </p:txBody>
      </p:sp>
      <p:sp>
        <p:nvSpPr>
          <p:cNvPr id="33" name="TextBox 32"/>
          <p:cNvSpPr txBox="1"/>
          <p:nvPr/>
        </p:nvSpPr>
        <p:spPr>
          <a:xfrm>
            <a:off x="5093207" y="5358384"/>
            <a:ext cx="1975104" cy="219456"/>
          </a:xfrm>
          <a:prstGeom prst="rect">
            <a:avLst/>
          </a:prstGeom>
          <a:noFill/>
        </p:spPr>
        <p:txBody>
          <a:bodyPr wrap="square" anchor="t" lIns="0" rIns="0" tIns="0" bIns="0">
            <a:spAutoFit/>
          </a:bodyPr>
          <a:lstStyle/>
          <a:p>
            <a:pPr algn="ctr"/>
            <a:r>
              <a:rPr sz="950" b="0" i="0">
                <a:solidFill>
                  <a:srgbClr val="F87171"/>
                </a:solidFill>
                <a:latin typeface="Calibri"/>
              </a:rPr>
              <a:t>all others 403</a:t>
            </a:r>
          </a:p>
        </p:txBody>
      </p:sp>
      <p:sp>
        <p:nvSpPr>
          <p:cNvPr id="34" name="Rounded Rectangle 33"/>
          <p:cNvSpPr/>
          <p:nvPr/>
        </p:nvSpPr>
        <p:spPr>
          <a:xfrm>
            <a:off x="7251192" y="5065776"/>
            <a:ext cx="1975104" cy="54864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251192" y="5138928"/>
            <a:ext cx="1975104" cy="237744"/>
          </a:xfrm>
          <a:prstGeom prst="rect">
            <a:avLst/>
          </a:prstGeom>
          <a:noFill/>
        </p:spPr>
        <p:txBody>
          <a:bodyPr wrap="square" anchor="t" lIns="0" rIns="0" tIns="0" bIns="0">
            <a:spAutoFit/>
          </a:bodyPr>
          <a:lstStyle/>
          <a:p>
            <a:pPr algn="ctr"/>
            <a:r>
              <a:rPr sz="1100" b="1" i="0">
                <a:solidFill>
                  <a:srgbClr val="34D399"/>
                </a:solidFill>
                <a:latin typeface="Courier New"/>
              </a:rPr>
              <a:t>cost-db</a:t>
            </a:r>
          </a:p>
        </p:txBody>
      </p:sp>
      <p:sp>
        <p:nvSpPr>
          <p:cNvPr id="36" name="TextBox 35"/>
          <p:cNvSpPr txBox="1"/>
          <p:nvPr/>
        </p:nvSpPr>
        <p:spPr>
          <a:xfrm>
            <a:off x="7251192" y="5358384"/>
            <a:ext cx="1975104" cy="219456"/>
          </a:xfrm>
          <a:prstGeom prst="rect">
            <a:avLst/>
          </a:prstGeom>
          <a:noFill/>
        </p:spPr>
        <p:txBody>
          <a:bodyPr wrap="square" anchor="t" lIns="0" rIns="0" tIns="0" bIns="0">
            <a:spAutoFit/>
          </a:bodyPr>
          <a:lstStyle/>
          <a:p>
            <a:pPr algn="ctr"/>
            <a:r>
              <a:rPr sz="950" b="0" i="0">
                <a:solidFill>
                  <a:srgbClr val="F87171"/>
                </a:solidFill>
                <a:latin typeface="Calibri"/>
              </a:rPr>
              <a:t>all others 403</a:t>
            </a:r>
          </a:p>
        </p:txBody>
      </p:sp>
      <p:sp>
        <p:nvSpPr>
          <p:cNvPr id="37" name="Rounded Rectangle 36"/>
          <p:cNvSpPr/>
          <p:nvPr/>
        </p:nvSpPr>
        <p:spPr>
          <a:xfrm>
            <a:off x="9409176" y="5065776"/>
            <a:ext cx="1975104" cy="54864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409176" y="5138928"/>
            <a:ext cx="1975104" cy="237744"/>
          </a:xfrm>
          <a:prstGeom prst="rect">
            <a:avLst/>
          </a:prstGeom>
          <a:noFill/>
        </p:spPr>
        <p:txBody>
          <a:bodyPr wrap="square" anchor="t" lIns="0" rIns="0" tIns="0" bIns="0">
            <a:spAutoFit/>
          </a:bodyPr>
          <a:lstStyle/>
          <a:p>
            <a:pPr algn="ctr"/>
            <a:r>
              <a:rPr sz="1100" b="1" i="0">
                <a:solidFill>
                  <a:srgbClr val="34D399"/>
                </a:solidFill>
                <a:latin typeface="Courier New"/>
              </a:rPr>
              <a:t>shared-db</a:t>
            </a:r>
          </a:p>
        </p:txBody>
      </p:sp>
      <p:sp>
        <p:nvSpPr>
          <p:cNvPr id="39" name="TextBox 38"/>
          <p:cNvSpPr txBox="1"/>
          <p:nvPr/>
        </p:nvSpPr>
        <p:spPr>
          <a:xfrm>
            <a:off x="9409176" y="5358384"/>
            <a:ext cx="1975104" cy="219456"/>
          </a:xfrm>
          <a:prstGeom prst="rect">
            <a:avLst/>
          </a:prstGeom>
          <a:noFill/>
        </p:spPr>
        <p:txBody>
          <a:bodyPr wrap="square" anchor="t" lIns="0" rIns="0" tIns="0" bIns="0">
            <a:spAutoFit/>
          </a:bodyPr>
          <a:lstStyle/>
          <a:p>
            <a:pPr algn="ctr"/>
            <a:r>
              <a:rPr sz="950" b="0" i="0">
                <a:solidFill>
                  <a:srgbClr val="F87171"/>
                </a:solidFill>
                <a:latin typeface="Calibri"/>
              </a:rPr>
              <a:t>all others 403</a:t>
            </a:r>
          </a:p>
        </p:txBody>
      </p:sp>
      <p:sp>
        <p:nvSpPr>
          <p:cNvPr id="40" name="TextBox 39"/>
          <p:cNvSpPr txBox="1"/>
          <p:nvPr/>
        </p:nvSpPr>
        <p:spPr>
          <a:xfrm>
            <a:off x="548640" y="5989320"/>
            <a:ext cx="11064240" cy="292608"/>
          </a:xfrm>
          <a:prstGeom prst="rect">
            <a:avLst/>
          </a:prstGeom>
          <a:noFill/>
        </p:spPr>
        <p:txBody>
          <a:bodyPr wrap="square" anchor="t" lIns="0" rIns="0" tIns="0" bIns="0">
            <a:spAutoFit/>
          </a:bodyPr>
          <a:lstStyle/>
          <a:p>
            <a:pPr algn="l"/>
            <a:r>
              <a:rPr sz="1200" b="0" i="0">
                <a:solidFill>
                  <a:srgbClr val="9AA8BA"/>
                </a:solidFill>
                <a:latin typeface="Calibri"/>
              </a:rPr>
              <a:t>Full diagram with the Google Cloud icons, plus the setup scripts, are in the repo.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Data isolation, enforced by the platform</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Not a convention in our code. An IAM condition Firestore itself applies.</a:t>
            </a:r>
          </a:p>
        </p:txBody>
      </p:sp>
      <p:sp>
        <p:nvSpPr>
          <p:cNvPr id="4" name="TextBox 3"/>
          <p:cNvSpPr txBox="1"/>
          <p:nvPr/>
        </p:nvSpPr>
        <p:spPr>
          <a:xfrm>
            <a:off x="548640" y="1554480"/>
            <a:ext cx="11064240" cy="548640"/>
          </a:xfrm>
          <a:prstGeom prst="rect">
            <a:avLst/>
          </a:prstGeom>
          <a:noFill/>
        </p:spPr>
        <p:txBody>
          <a:bodyPr wrap="square" anchor="t" lIns="0" rIns="0" tIns="0" bIns="0">
            <a:spAutoFit/>
          </a:bodyPr>
          <a:lstStyle/>
          <a:p>
            <a:pPr algn="l">
              <a:lnSpc>
                <a:spcPts val="2000"/>
              </a:lnSpc>
            </a:pPr>
            <a:r>
              <a:rPr sz="1350" b="0" i="0">
                <a:solidFill>
                  <a:srgbClr val="FBBF24"/>
                </a:solidFill>
                <a:latin typeface="Calibri"/>
              </a:rPr>
              <a:t>Firestore Security Rules are not evaluated for server-side Admin SDK access. A design that scoped agents with per-collection rules would have enforced nothing at all, while looking correct in a diagram.</a:t>
            </a:r>
          </a:p>
        </p:txBody>
      </p:sp>
      <p:graphicFrame>
        <p:nvGraphicFramePr>
          <p:cNvPr id="5" name="Table 4"/>
          <p:cNvGraphicFramePr>
            <a:graphicFrameLocks noGrp="1"/>
          </p:cNvGraphicFramePr>
          <p:nvPr/>
        </p:nvGraphicFramePr>
        <p:xfrm>
          <a:off x="548640" y="2286000"/>
          <a:ext cx="11064240" cy="1828800"/>
        </p:xfrm>
        <a:graphic>
          <a:graphicData uri="http://schemas.openxmlformats.org/drawingml/2006/table">
            <a:tbl>
              <a:tblPr firstRow="1" bandRow="1">
                <a:tableStyleId>{5C22544A-7EE6-4342-B048-85BDC9FD1C3A}</a:tableStyleId>
              </a:tblPr>
              <a:tblGrid>
                <a:gridCol w="4023360"/>
                <a:gridCol w="2286000"/>
                <a:gridCol w="2468880"/>
                <a:gridCol w="2286000"/>
              </a:tblGrid>
              <a:tr h="457200">
                <a:tc>
                  <a:txBody>
                    <a:bodyPr/>
                    <a:lstStyle/>
                    <a:p>
                      <a:r>
                        <a:rPr sz="1300" b="1">
                          <a:solidFill>
                            <a:srgbClr val="6B7A8D"/>
                          </a:solidFill>
                          <a:latin typeface="Calibri"/>
                        </a:rPr>
                        <a:t>Identity</a:t>
                      </a:r>
                    </a:p>
                  </a:txBody>
                  <a:tcPr anchor="ctr" marL="128016">
                    <a:solidFill>
                      <a:srgbClr val="1E2735"/>
                    </a:solidFill>
                  </a:tcPr>
                </a:tc>
                <a:tc>
                  <a:txBody>
                    <a:bodyPr/>
                    <a:lstStyle/>
                    <a:p>
                      <a:r>
                        <a:rPr sz="1300" b="1">
                          <a:solidFill>
                            <a:srgbClr val="6B7A8D"/>
                          </a:solidFill>
                          <a:latin typeface="Calibri"/>
                        </a:rPr>
                        <a:t>Its own store</a:t>
                      </a:r>
                    </a:p>
                  </a:txBody>
                  <a:tcPr anchor="ctr" marL="128016">
                    <a:solidFill>
                      <a:srgbClr val="1E2735"/>
                    </a:solidFill>
                  </a:tcPr>
                </a:tc>
                <a:tc>
                  <a:txBody>
                    <a:bodyPr/>
                    <a:lstStyle/>
                    <a:p>
                      <a:r>
                        <a:rPr sz="1300" b="1">
                          <a:solidFill>
                            <a:srgbClr val="6B7A8D"/>
                          </a:solidFill>
                          <a:latin typeface="Calibri"/>
                        </a:rPr>
                        <a:t>The other stores</a:t>
                      </a:r>
                    </a:p>
                  </a:txBody>
                  <a:tcPr anchor="ctr" marL="128016">
                    <a:solidFill>
                      <a:srgbClr val="1E2735"/>
                    </a:solidFill>
                  </a:tcPr>
                </a:tc>
                <a:tc>
                  <a:txBody>
                    <a:bodyPr/>
                    <a:lstStyle/>
                    <a:p>
                      <a:r>
                        <a:rPr sz="1300" b="1">
                          <a:solidFill>
                            <a:srgbClr val="6B7A8D"/>
                          </a:solidFill>
                          <a:latin typeface="Calibri"/>
                        </a:rPr>
                        <a:t>From the internet</a:t>
                      </a:r>
                    </a:p>
                  </a:txBody>
                  <a:tcPr anchor="ctr" marL="128016">
                    <a:solidFill>
                      <a:srgbClr val="1E2735"/>
                    </a:solidFill>
                  </a:tcPr>
                </a:tc>
              </a:tr>
              <a:tr h="457200">
                <a:tc>
                  <a:txBody>
                    <a:bodyPr/>
                    <a:lstStyle/>
                    <a:p>
                      <a:r>
                        <a:rPr sz="1300" b="0">
                          <a:solidFill>
                            <a:srgbClr val="EEF2F7"/>
                          </a:solidFill>
                          <a:latin typeface="Calibri"/>
                        </a:rPr>
                        <a:t>power, cooling, facilities, cost</a:t>
                      </a:r>
                    </a:p>
                  </a:txBody>
                  <a:tcPr anchor="ctr" marL="128016">
                    <a:solidFill>
                      <a:srgbClr val="18202C"/>
                    </a:solidFill>
                  </a:tcPr>
                </a:tc>
                <a:tc>
                  <a:txBody>
                    <a:bodyPr/>
                    <a:lstStyle/>
                    <a:p>
                      <a:r>
                        <a:rPr sz="1300" b="1">
                          <a:solidFill>
                            <a:srgbClr val="34D399"/>
                          </a:solidFill>
                          <a:latin typeface="Calibri"/>
                        </a:rPr>
                        <a:t>200</a:t>
                      </a:r>
                    </a:p>
                  </a:txBody>
                  <a:tcPr anchor="ctr" marL="128016">
                    <a:solidFill>
                      <a:srgbClr val="18202C"/>
                    </a:solidFill>
                  </a:tcPr>
                </a:tc>
                <a:tc>
                  <a:txBody>
                    <a:bodyPr/>
                    <a:lstStyle/>
                    <a:p>
                      <a:r>
                        <a:rPr sz="1300" b="1">
                          <a:solidFill>
                            <a:srgbClr val="F87171"/>
                          </a:solidFill>
                          <a:latin typeface="Calibri"/>
                        </a:rPr>
                        <a:t>403</a:t>
                      </a:r>
                    </a:p>
                  </a:txBody>
                  <a:tcPr anchor="ctr" marL="128016">
                    <a:solidFill>
                      <a:srgbClr val="18202C"/>
                    </a:solidFill>
                  </a:tcPr>
                </a:tc>
                <a:tc>
                  <a:txBody>
                    <a:bodyPr/>
                    <a:lstStyle/>
                    <a:p>
                      <a:r>
                        <a:rPr sz="1300" b="1">
                          <a:solidFill>
                            <a:srgbClr val="F87171"/>
                          </a:solidFill>
                          <a:latin typeface="Calibri"/>
                        </a:rPr>
                        <a:t>404</a:t>
                      </a:r>
                    </a:p>
                  </a:txBody>
                  <a:tcPr anchor="ctr" marL="128016">
                    <a:solidFill>
                      <a:srgbClr val="18202C"/>
                    </a:solidFill>
                  </a:tcPr>
                </a:tc>
              </a:tr>
              <a:tr h="457200">
                <a:tc>
                  <a:txBody>
                    <a:bodyPr/>
                    <a:lstStyle/>
                    <a:p>
                      <a:r>
                        <a:rPr sz="1300" b="0">
                          <a:solidFill>
                            <a:srgbClr val="EEF2F7"/>
                          </a:solidFill>
                          <a:latin typeface="Calibri"/>
                        </a:rPr>
                        <a:t>orchestrator</a:t>
                      </a:r>
                    </a:p>
                  </a:txBody>
                  <a:tcPr anchor="ctr" marL="128016">
                    <a:solidFill>
                      <a:srgbClr val="18202C"/>
                    </a:solidFill>
                  </a:tcPr>
                </a:tc>
                <a:tc>
                  <a:txBody>
                    <a:bodyPr/>
                    <a:lstStyle/>
                    <a:p>
                      <a:r>
                        <a:rPr sz="1300" b="0">
                          <a:solidFill>
                            <a:srgbClr val="34D399"/>
                          </a:solidFill>
                          <a:latin typeface="Calibri"/>
                        </a:rPr>
                        <a:t>shared only</a:t>
                      </a:r>
                    </a:p>
                  </a:txBody>
                  <a:tcPr anchor="ctr" marL="128016">
                    <a:solidFill>
                      <a:srgbClr val="18202C"/>
                    </a:solidFill>
                  </a:tcPr>
                </a:tc>
                <a:tc>
                  <a:txBody>
                    <a:bodyPr/>
                    <a:lstStyle/>
                    <a:p>
                      <a:r>
                        <a:rPr sz="1300" b="1">
                          <a:solidFill>
                            <a:srgbClr val="F87171"/>
                          </a:solidFill>
                          <a:latin typeface="Calibri"/>
                        </a:rPr>
                        <a:t>403, all four</a:t>
                      </a:r>
                    </a:p>
                  </a:txBody>
                  <a:tcPr anchor="ctr" marL="128016">
                    <a:solidFill>
                      <a:srgbClr val="18202C"/>
                    </a:solidFill>
                  </a:tcPr>
                </a:tc>
                <a:tc>
                  <a:txBody>
                    <a:bodyPr/>
                    <a:lstStyle/>
                    <a:p>
                      <a:r>
                        <a:rPr sz="1300" b="1">
                          <a:solidFill>
                            <a:srgbClr val="F87171"/>
                          </a:solidFill>
                          <a:latin typeface="Calibri"/>
                        </a:rPr>
                        <a:t>404</a:t>
                      </a:r>
                    </a:p>
                  </a:txBody>
                  <a:tcPr anchor="ctr" marL="128016">
                    <a:solidFill>
                      <a:srgbClr val="18202C"/>
                    </a:solidFill>
                  </a:tcPr>
                </a:tc>
              </a:tr>
              <a:tr h="457200">
                <a:tc>
                  <a:txBody>
                    <a:bodyPr/>
                    <a:lstStyle/>
                    <a:p>
                      <a:r>
                        <a:rPr sz="1300" b="0">
                          <a:solidFill>
                            <a:srgbClr val="EEF2F7"/>
                          </a:solidFill>
                          <a:latin typeface="Calibri"/>
                        </a:rPr>
                        <a:t>public web tier</a:t>
                      </a:r>
                    </a:p>
                  </a:txBody>
                  <a:tcPr anchor="ctr" marL="128016">
                    <a:solidFill>
                      <a:srgbClr val="18202C"/>
                    </a:solidFill>
                  </a:tcPr>
                </a:tc>
                <a:tc>
                  <a:txBody>
                    <a:bodyPr/>
                    <a:lstStyle/>
                    <a:p>
                      <a:r>
                        <a:rPr sz="1300" b="0">
                          <a:solidFill>
                            <a:srgbClr val="34D399"/>
                          </a:solidFill>
                          <a:latin typeface="Calibri"/>
                        </a:rPr>
                        <a:t>shared, read only</a:t>
                      </a:r>
                    </a:p>
                  </a:txBody>
                  <a:tcPr anchor="ctr" marL="128016">
                    <a:solidFill>
                      <a:srgbClr val="18202C"/>
                    </a:solidFill>
                  </a:tcPr>
                </a:tc>
                <a:tc>
                  <a:txBody>
                    <a:bodyPr/>
                    <a:lstStyle/>
                    <a:p>
                      <a:r>
                        <a:rPr sz="1300" b="1">
                          <a:solidFill>
                            <a:srgbClr val="F87171"/>
                          </a:solidFill>
                          <a:latin typeface="Calibri"/>
                        </a:rPr>
                        <a:t>403</a:t>
                      </a:r>
                    </a:p>
                  </a:txBody>
                  <a:tcPr anchor="ctr" marL="128016">
                    <a:solidFill>
                      <a:srgbClr val="18202C"/>
                    </a:solidFill>
                  </a:tcPr>
                </a:tc>
                <a:tc>
                  <a:txBody>
                    <a:bodyPr/>
                    <a:lstStyle/>
                    <a:p>
                      <a:r>
                        <a:rPr sz="1300" b="1">
                          <a:solidFill>
                            <a:srgbClr val="4DD6FF"/>
                          </a:solidFill>
                          <a:latin typeface="Calibri"/>
                        </a:rPr>
                        <a:t>200, the only door</a:t>
                      </a:r>
                    </a:p>
                  </a:txBody>
                  <a:tcPr anchor="ctr" marL="128016">
                    <a:solidFill>
                      <a:srgbClr val="18202C"/>
                    </a:solidFill>
                  </a:tcPr>
                </a:tc>
              </a:tr>
            </a:tbl>
          </a:graphicData>
        </a:graphic>
      </p:graphicFrame>
      <p:sp>
        <p:nvSpPr>
          <p:cNvPr id="6" name="Rounded Rectangle 5"/>
          <p:cNvSpPr/>
          <p:nvPr/>
        </p:nvSpPr>
        <p:spPr>
          <a:xfrm>
            <a:off x="548640" y="4526280"/>
            <a:ext cx="5394960" cy="1417320"/>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4709160"/>
            <a:ext cx="4754880" cy="274320"/>
          </a:xfrm>
          <a:prstGeom prst="rect">
            <a:avLst/>
          </a:prstGeom>
          <a:noFill/>
        </p:spPr>
        <p:txBody>
          <a:bodyPr wrap="square" anchor="t" lIns="0" rIns="0" tIns="0" bIns="0">
            <a:spAutoFit/>
          </a:bodyPr>
          <a:lstStyle/>
          <a:p>
            <a:pPr algn="l"/>
            <a:r>
              <a:rPr sz="1450" b="1" i="0">
                <a:solidFill>
                  <a:srgbClr val="EEF2F7"/>
                </a:solidFill>
                <a:latin typeface="Arial"/>
              </a:rPr>
              <a:t>The orchestrator cannot read facility data</a:t>
            </a:r>
          </a:p>
        </p:txBody>
      </p:sp>
      <p:sp>
        <p:nvSpPr>
          <p:cNvPr id="8" name="TextBox 7"/>
          <p:cNvSpPr txBox="1"/>
          <p:nvPr/>
        </p:nvSpPr>
        <p:spPr>
          <a:xfrm>
            <a:off x="868680" y="5029200"/>
            <a:ext cx="4754880" cy="822960"/>
          </a:xfrm>
          <a:prstGeom prst="rect">
            <a:avLst/>
          </a:prstGeom>
          <a:noFill/>
        </p:spPr>
        <p:txBody>
          <a:bodyPr wrap="square" anchor="t" lIns="0" rIns="0" tIns="0" bIns="0">
            <a:spAutoFit/>
          </a:bodyPr>
          <a:lstStyle/>
          <a:p>
            <a:pPr algn="l">
              <a:lnSpc>
                <a:spcPts val="1700"/>
              </a:lnSpc>
            </a:pPr>
            <a:r>
              <a:rPr sz="1200" b="0" i="0">
                <a:solidFill>
                  <a:srgbClr val="9AA8BA"/>
                </a:solidFill>
                <a:latin typeface="Calibri"/>
              </a:rPr>
              <a:t>So "it only sees the assessors' verdicts" is a property of the platform, not a promise in a README. It is bound to one store and cannot open the others.</a:t>
            </a:r>
          </a:p>
        </p:txBody>
      </p:sp>
      <p:sp>
        <p:nvSpPr>
          <p:cNvPr id="9" name="Rounded Rectangle 8"/>
          <p:cNvSpPr/>
          <p:nvPr/>
        </p:nvSpPr>
        <p:spPr>
          <a:xfrm>
            <a:off x="6217920" y="4526280"/>
            <a:ext cx="5394960" cy="1417320"/>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37960" y="4709160"/>
            <a:ext cx="4754880" cy="274320"/>
          </a:xfrm>
          <a:prstGeom prst="rect">
            <a:avLst/>
          </a:prstGeom>
          <a:noFill/>
        </p:spPr>
        <p:txBody>
          <a:bodyPr wrap="square" anchor="t" lIns="0" rIns="0" tIns="0" bIns="0">
            <a:spAutoFit/>
          </a:bodyPr>
          <a:lstStyle/>
          <a:p>
            <a:pPr algn="l"/>
            <a:r>
              <a:rPr sz="1450" b="1" i="0">
                <a:solidFill>
                  <a:srgbClr val="EEF2F7"/>
                </a:solidFill>
                <a:latin typeface="Arial"/>
              </a:rPr>
              <a:t>Twenty-one checks, run live in the demo</a:t>
            </a:r>
          </a:p>
        </p:txBody>
      </p:sp>
      <p:sp>
        <p:nvSpPr>
          <p:cNvPr id="11" name="TextBox 10"/>
          <p:cNvSpPr txBox="1"/>
          <p:nvPr/>
        </p:nvSpPr>
        <p:spPr>
          <a:xfrm>
            <a:off x="6537960" y="5029200"/>
            <a:ext cx="4754880" cy="548640"/>
          </a:xfrm>
          <a:prstGeom prst="rect">
            <a:avLst/>
          </a:prstGeom>
          <a:noFill/>
        </p:spPr>
        <p:txBody>
          <a:bodyPr wrap="square" anchor="t" lIns="0" rIns="0" tIns="0" bIns="0">
            <a:spAutoFit/>
          </a:bodyPr>
          <a:lstStyle/>
          <a:p>
            <a:pPr algn="l">
              <a:lnSpc>
                <a:spcPts val="1700"/>
              </a:lnSpc>
            </a:pPr>
            <a:r>
              <a:rPr sz="1150" b="0" i="0">
                <a:solidFill>
                  <a:srgbClr val="34D399"/>
                </a:solidFill>
                <a:latin typeface="Courier New"/>
              </a:rPr>
              <a:t>bash infra/iam/03_verify_isolation.sh</a:t>
            </a:r>
          </a:p>
          <a:p>
            <a:pPr algn="l">
              <a:lnSpc>
                <a:spcPts val="1700"/>
              </a:lnSpc>
            </a:pPr>
            <a:r>
              <a:rPr sz="1150" b="0" i="0">
                <a:solidFill>
                  <a:srgbClr val="34D399"/>
                </a:solidFill>
                <a:latin typeface="Courier New"/>
              </a:rPr>
              <a:t>bash scripts/demo_denial.sh</a:t>
            </a:r>
          </a:p>
        </p:txBody>
      </p:sp>
      <p:sp>
        <p:nvSpPr>
          <p:cNvPr id="12" name="TextBox 11"/>
          <p:cNvSpPr txBox="1"/>
          <p:nvPr/>
        </p:nvSpPr>
        <p:spPr>
          <a:xfrm>
            <a:off x="6537960" y="5559552"/>
            <a:ext cx="4754880" cy="274320"/>
          </a:xfrm>
          <a:prstGeom prst="rect">
            <a:avLst/>
          </a:prstGeom>
          <a:noFill/>
        </p:spPr>
        <p:txBody>
          <a:bodyPr wrap="square" anchor="t" lIns="0" rIns="0" tIns="0" bIns="0">
            <a:spAutoFit/>
          </a:bodyPr>
          <a:lstStyle/>
          <a:p>
            <a:pPr algn="l"/>
            <a:r>
              <a:rPr sz="1100" b="0" i="0">
                <a:solidFill>
                  <a:srgbClr val="6B7A8D"/>
                </a:solidFill>
                <a:latin typeface="Calibri"/>
              </a:rPr>
              <a:t>Every denial comes from Google Cloud, not from our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When an assessor gets it wrong</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The rubric asks how the system recovers if a worker agent loops or returns a hallucination</a:t>
            </a:r>
          </a:p>
        </p:txBody>
      </p:sp>
      <p:sp>
        <p:nvSpPr>
          <p:cNvPr id="4" name="Rounded Rectangle 3"/>
          <p:cNvSpPr/>
          <p:nvPr/>
        </p:nvSpPr>
        <p:spPr>
          <a:xfrm>
            <a:off x="548640" y="1737360"/>
            <a:ext cx="5394960" cy="2011680"/>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901952"/>
            <a:ext cx="4754880" cy="256032"/>
          </a:xfrm>
          <a:prstGeom prst="rect">
            <a:avLst/>
          </a:prstGeom>
          <a:noFill/>
        </p:spPr>
        <p:txBody>
          <a:bodyPr wrap="square" anchor="t" lIns="0" rIns="0" tIns="0" bIns="0">
            <a:spAutoFit/>
          </a:bodyPr>
          <a:lstStyle/>
          <a:p>
            <a:pPr algn="l"/>
            <a:r>
              <a:rPr sz="1200" b="0" i="0">
                <a:solidFill>
                  <a:srgbClr val="6B7A8D"/>
                </a:solidFill>
                <a:latin typeface="Calibri"/>
              </a:rPr>
              <a:t>A verdict the model actually produced</a:t>
            </a:r>
          </a:p>
        </p:txBody>
      </p:sp>
      <p:sp>
        <p:nvSpPr>
          <p:cNvPr id="6" name="TextBox 5"/>
          <p:cNvSpPr txBox="1"/>
          <p:nvPr/>
        </p:nvSpPr>
        <p:spPr>
          <a:xfrm>
            <a:off x="868680" y="2194560"/>
            <a:ext cx="4754880" cy="1005840"/>
          </a:xfrm>
          <a:prstGeom prst="rect">
            <a:avLst/>
          </a:prstGeom>
          <a:noFill/>
        </p:spPr>
        <p:txBody>
          <a:bodyPr wrap="square" anchor="t" lIns="0" rIns="0" tIns="0" bIns="0">
            <a:spAutoFit/>
          </a:bodyPr>
          <a:lstStyle/>
          <a:p>
            <a:pPr algn="l">
              <a:lnSpc>
                <a:spcPts val="1700"/>
              </a:lnSpc>
            </a:pPr>
            <a:r>
              <a:rPr sz="1150" b="0" i="0">
                <a:solidFill>
                  <a:srgbClr val="EEF2F7"/>
                </a:solidFill>
                <a:latin typeface="Courier New"/>
              </a:rPr>
              <a:t>"status": "feasible",</a:t>
            </a:r>
          </a:p>
          <a:p>
            <a:pPr algn="l">
              <a:lnSpc>
                <a:spcPts val="1700"/>
              </a:lnSpc>
            </a:pPr>
            <a:r>
              <a:rPr sz="1150" b="0" i="0">
                <a:solidFill>
                  <a:srgbClr val="EEF2F7"/>
                </a:solidFill>
                <a:latin typeface="Courier New"/>
              </a:rPr>
              <a:t>"target_zone": "zone-b",</a:t>
            </a:r>
          </a:p>
          <a:p>
            <a:pPr algn="l">
              <a:lnSpc>
                <a:spcPts val="1700"/>
              </a:lnSpc>
            </a:pPr>
            <a:r>
              <a:rPr sz="1150" b="0" i="0">
                <a:solidFill>
                  <a:srgbClr val="EEF2F7"/>
                </a:solidFill>
                <a:latin typeface="Courier New"/>
              </a:rPr>
              <a:t>"reasoning": "Zone B has ample</a:t>
            </a:r>
          </a:p>
          <a:p>
            <a:pPr algn="l">
              <a:lnSpc>
                <a:spcPts val="1700"/>
              </a:lnSpc>
            </a:pPr>
            <a:r>
              <a:rPr sz="1150" b="0" i="0">
                <a:solidFill>
                  <a:srgbClr val="EEF2F7"/>
                </a:solidFill>
                <a:latin typeface="Courier New"/>
              </a:rPr>
              <a:t>  headroom for this deployment."</a:t>
            </a:r>
          </a:p>
        </p:txBody>
      </p:sp>
      <p:sp>
        <p:nvSpPr>
          <p:cNvPr id="7" name="TextBox 6"/>
          <p:cNvSpPr txBox="1"/>
          <p:nvPr/>
        </p:nvSpPr>
        <p:spPr>
          <a:xfrm>
            <a:off x="868680" y="3200400"/>
            <a:ext cx="4754880" cy="274320"/>
          </a:xfrm>
          <a:prstGeom prst="rect">
            <a:avLst/>
          </a:prstGeom>
          <a:noFill/>
        </p:spPr>
        <p:txBody>
          <a:bodyPr wrap="square" anchor="t" lIns="0" rIns="0" tIns="0" bIns="0">
            <a:spAutoFit/>
          </a:bodyPr>
          <a:lstStyle/>
          <a:p>
            <a:pPr algn="l"/>
            <a:r>
              <a:rPr sz="1300" b="1" i="0">
                <a:solidFill>
                  <a:srgbClr val="F87171"/>
                </a:solidFill>
                <a:latin typeface="Calibri"/>
              </a:rPr>
              <a:t>zone-b has 561 kW. The request needs 792 kW.</a:t>
            </a:r>
          </a:p>
        </p:txBody>
      </p:sp>
      <p:sp>
        <p:nvSpPr>
          <p:cNvPr id="8" name="TextBox 7"/>
          <p:cNvSpPr txBox="1"/>
          <p:nvPr/>
        </p:nvSpPr>
        <p:spPr>
          <a:xfrm>
            <a:off x="868680" y="3456432"/>
            <a:ext cx="4754880" cy="256032"/>
          </a:xfrm>
          <a:prstGeom prst="rect">
            <a:avLst/>
          </a:prstGeom>
          <a:noFill/>
        </p:spPr>
        <p:txBody>
          <a:bodyPr wrap="square" anchor="t" lIns="0" rIns="0" tIns="0" bIns="0">
            <a:spAutoFit/>
          </a:bodyPr>
          <a:lstStyle/>
          <a:p>
            <a:pPr algn="l"/>
            <a:r>
              <a:rPr sz="1150" b="0" i="0">
                <a:solidFill>
                  <a:srgbClr val="9AA8BA"/>
                </a:solidFill>
                <a:latin typeface="Calibri"/>
              </a:rPr>
              <a:t>Confident, well formed, and wrong by 231 kW.</a:t>
            </a:r>
          </a:p>
        </p:txBody>
      </p:sp>
      <p:sp>
        <p:nvSpPr>
          <p:cNvPr id="9" name="Rounded Rectangle 8"/>
          <p:cNvSpPr/>
          <p:nvPr/>
        </p:nvSpPr>
        <p:spPr>
          <a:xfrm>
            <a:off x="6217920" y="1737360"/>
            <a:ext cx="5394960" cy="1170432"/>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46520" y="1975104"/>
            <a:ext cx="310896" cy="3108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011679"/>
            <a:ext cx="310896" cy="256032"/>
          </a:xfrm>
          <a:prstGeom prst="rect">
            <a:avLst/>
          </a:prstGeom>
          <a:noFill/>
        </p:spPr>
        <p:txBody>
          <a:bodyPr wrap="square" anchor="t" lIns="0" rIns="0" tIns="0" bIns="0">
            <a:spAutoFit/>
          </a:bodyPr>
          <a:lstStyle/>
          <a:p>
            <a:pPr algn="ctr"/>
            <a:r>
              <a:rPr sz="1300" b="1" i="0">
                <a:solidFill>
                  <a:srgbClr val="0E1319"/>
                </a:solidFill>
                <a:latin typeface="Arial"/>
              </a:rPr>
              <a:t>1</a:t>
            </a:r>
          </a:p>
        </p:txBody>
      </p:sp>
      <p:sp>
        <p:nvSpPr>
          <p:cNvPr id="12" name="TextBox 11"/>
          <p:cNvSpPr txBox="1"/>
          <p:nvPr/>
        </p:nvSpPr>
        <p:spPr>
          <a:xfrm>
            <a:off x="6903720" y="1920240"/>
            <a:ext cx="4480560" cy="274320"/>
          </a:xfrm>
          <a:prstGeom prst="rect">
            <a:avLst/>
          </a:prstGeom>
          <a:noFill/>
        </p:spPr>
        <p:txBody>
          <a:bodyPr wrap="square" anchor="t" lIns="0" rIns="0" tIns="0" bIns="0">
            <a:spAutoFit/>
          </a:bodyPr>
          <a:lstStyle/>
          <a:p>
            <a:pPr algn="l"/>
            <a:r>
              <a:rPr sz="1400" b="1" i="0">
                <a:solidFill>
                  <a:srgbClr val="34D399"/>
                </a:solidFill>
                <a:latin typeface="Calibri"/>
              </a:rPr>
              <a:t>Guardrail</a:t>
            </a:r>
          </a:p>
        </p:txBody>
      </p:sp>
      <p:sp>
        <p:nvSpPr>
          <p:cNvPr id="13" name="TextBox 12"/>
          <p:cNvSpPr txBox="1"/>
          <p:nvPr/>
        </p:nvSpPr>
        <p:spPr>
          <a:xfrm>
            <a:off x="6903720" y="2212848"/>
            <a:ext cx="4526280" cy="640080"/>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Re-checks every verdict against the same figures the assessor was given. Not the model checking itself. Ordinary code.</a:t>
            </a:r>
          </a:p>
        </p:txBody>
      </p:sp>
      <p:sp>
        <p:nvSpPr>
          <p:cNvPr id="14" name="Rounded Rectangle 13"/>
          <p:cNvSpPr/>
          <p:nvPr/>
        </p:nvSpPr>
        <p:spPr>
          <a:xfrm>
            <a:off x="6217920" y="3063239"/>
            <a:ext cx="5394960" cy="1170432"/>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46520" y="3300983"/>
            <a:ext cx="310896" cy="310896"/>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337559"/>
            <a:ext cx="310896" cy="256032"/>
          </a:xfrm>
          <a:prstGeom prst="rect">
            <a:avLst/>
          </a:prstGeom>
          <a:noFill/>
        </p:spPr>
        <p:txBody>
          <a:bodyPr wrap="square" anchor="t" lIns="0" rIns="0" tIns="0" bIns="0">
            <a:spAutoFit/>
          </a:bodyPr>
          <a:lstStyle/>
          <a:p>
            <a:pPr algn="ctr"/>
            <a:r>
              <a:rPr sz="1300" b="1" i="0">
                <a:solidFill>
                  <a:srgbClr val="0E1319"/>
                </a:solidFill>
                <a:latin typeface="Arial"/>
              </a:rPr>
              <a:t>2</a:t>
            </a:r>
          </a:p>
        </p:txBody>
      </p:sp>
      <p:sp>
        <p:nvSpPr>
          <p:cNvPr id="17" name="TextBox 16"/>
          <p:cNvSpPr txBox="1"/>
          <p:nvPr/>
        </p:nvSpPr>
        <p:spPr>
          <a:xfrm>
            <a:off x="6903720" y="3246120"/>
            <a:ext cx="4480560" cy="274320"/>
          </a:xfrm>
          <a:prstGeom prst="rect">
            <a:avLst/>
          </a:prstGeom>
          <a:noFill/>
        </p:spPr>
        <p:txBody>
          <a:bodyPr wrap="square" anchor="t" lIns="0" rIns="0" tIns="0" bIns="0">
            <a:spAutoFit/>
          </a:bodyPr>
          <a:lstStyle/>
          <a:p>
            <a:pPr algn="l"/>
            <a:r>
              <a:rPr sz="1400" b="1" i="0">
                <a:solidFill>
                  <a:srgbClr val="4DD6FF"/>
                </a:solidFill>
                <a:latin typeface="Calibri"/>
              </a:rPr>
              <a:t>Retry with correction</a:t>
            </a:r>
          </a:p>
        </p:txBody>
      </p:sp>
      <p:sp>
        <p:nvSpPr>
          <p:cNvPr id="18" name="TextBox 17"/>
          <p:cNvSpPr txBox="1"/>
          <p:nvPr/>
        </p:nvSpPr>
        <p:spPr>
          <a:xfrm>
            <a:off x="6903720" y="3538727"/>
            <a:ext cx="4526280" cy="640080"/>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The violation text goes back in: zone-b has 561 kW against a 792 kW request. It usually corrects on attempt two.</a:t>
            </a:r>
          </a:p>
        </p:txBody>
      </p:sp>
      <p:sp>
        <p:nvSpPr>
          <p:cNvPr id="19" name="Rounded Rectangle 18"/>
          <p:cNvSpPr/>
          <p:nvPr/>
        </p:nvSpPr>
        <p:spPr>
          <a:xfrm>
            <a:off x="6217920" y="4389120"/>
            <a:ext cx="5394960" cy="1170432"/>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46520" y="4626864"/>
            <a:ext cx="310896" cy="310896"/>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663440"/>
            <a:ext cx="310896" cy="256032"/>
          </a:xfrm>
          <a:prstGeom prst="rect">
            <a:avLst/>
          </a:prstGeom>
          <a:noFill/>
        </p:spPr>
        <p:txBody>
          <a:bodyPr wrap="square" anchor="t" lIns="0" rIns="0" tIns="0" bIns="0">
            <a:spAutoFit/>
          </a:bodyPr>
          <a:lstStyle/>
          <a:p>
            <a:pPr algn="ctr"/>
            <a:r>
              <a:rPr sz="1300" b="1" i="0">
                <a:solidFill>
                  <a:srgbClr val="0E1319"/>
                </a:solidFill>
                <a:latin typeface="Arial"/>
              </a:rPr>
              <a:t>3</a:t>
            </a:r>
          </a:p>
        </p:txBody>
      </p:sp>
      <p:sp>
        <p:nvSpPr>
          <p:cNvPr id="22" name="TextBox 21"/>
          <p:cNvSpPr txBox="1"/>
          <p:nvPr/>
        </p:nvSpPr>
        <p:spPr>
          <a:xfrm>
            <a:off x="6903720" y="4572000"/>
            <a:ext cx="4480560" cy="274320"/>
          </a:xfrm>
          <a:prstGeom prst="rect">
            <a:avLst/>
          </a:prstGeom>
          <a:noFill/>
        </p:spPr>
        <p:txBody>
          <a:bodyPr wrap="square" anchor="t" lIns="0" rIns="0" tIns="0" bIns="0">
            <a:spAutoFit/>
          </a:bodyPr>
          <a:lstStyle/>
          <a:p>
            <a:pPr algn="l"/>
            <a:r>
              <a:rPr sz="1400" b="1" i="0">
                <a:solidFill>
                  <a:srgbClr val="FBBF24"/>
                </a:solidFill>
                <a:latin typeface="Calibri"/>
              </a:rPr>
              <a:t>Fail safe, never open</a:t>
            </a:r>
          </a:p>
        </p:txBody>
      </p:sp>
      <p:sp>
        <p:nvSpPr>
          <p:cNvPr id="23" name="TextBox 22"/>
          <p:cNvSpPr txBox="1"/>
          <p:nvPr/>
        </p:nvSpPr>
        <p:spPr>
          <a:xfrm>
            <a:off x="6903720" y="4864608"/>
            <a:ext cx="4526280" cy="640080"/>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Retries exhausted, so it returns infeasible and escalates. A broken assessor stops the line rather than approving.</a:t>
            </a:r>
          </a:p>
        </p:txBody>
      </p:sp>
      <p:sp>
        <p:nvSpPr>
          <p:cNvPr id="24" name="Rounded Rectangle 23"/>
          <p:cNvSpPr/>
          <p:nvPr/>
        </p:nvSpPr>
        <p:spPr>
          <a:xfrm>
            <a:off x="548640" y="3931920"/>
            <a:ext cx="5394960" cy="182880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4114800"/>
            <a:ext cx="4754880" cy="274320"/>
          </a:xfrm>
          <a:prstGeom prst="rect">
            <a:avLst/>
          </a:prstGeom>
          <a:noFill/>
        </p:spPr>
        <p:txBody>
          <a:bodyPr wrap="square" anchor="t" lIns="0" rIns="0" tIns="0" bIns="0">
            <a:spAutoFit/>
          </a:bodyPr>
          <a:lstStyle/>
          <a:p>
            <a:pPr algn="l"/>
            <a:r>
              <a:rPr sz="1450" b="1" i="0">
                <a:solidFill>
                  <a:srgbClr val="EEF2F7"/>
                </a:solidFill>
                <a:latin typeface="Arial"/>
              </a:rPr>
              <a:t>It caught a failure we had not thought of</a:t>
            </a:r>
          </a:p>
        </p:txBody>
      </p:sp>
      <p:sp>
        <p:nvSpPr>
          <p:cNvPr id="26" name="TextBox 25"/>
          <p:cNvSpPr txBox="1"/>
          <p:nvPr/>
        </p:nvSpPr>
        <p:spPr>
          <a:xfrm>
            <a:off x="868680" y="4443984"/>
            <a:ext cx="4754880" cy="1280160"/>
          </a:xfrm>
          <a:prstGeom prst="rect">
            <a:avLst/>
          </a:prstGeom>
          <a:noFill/>
        </p:spPr>
        <p:txBody>
          <a:bodyPr wrap="square" anchor="t" lIns="0" rIns="0" tIns="0" bIns="0">
            <a:spAutoFit/>
          </a:bodyPr>
          <a:lstStyle/>
          <a:p>
            <a:pPr algn="l">
              <a:lnSpc>
                <a:spcPts val="1700"/>
              </a:lnSpc>
            </a:pPr>
            <a:r>
              <a:rPr sz="1200" b="0" i="0">
                <a:solidFill>
                  <a:srgbClr val="9AA8BA"/>
                </a:solidFill>
                <a:latin typeface="Calibri"/>
              </a:rPr>
              <a:t>Twice during the build, a gateway bug broke every request in production. Every assessor hit its retry limit, refused, and the system returned escalated, needs a human.</a:t>
            </a:r>
          </a:p>
          <a:p>
            <a:pPr algn="l">
              <a:lnSpc>
                <a:spcPts val="1700"/>
              </a:lnSpc>
            </a:pPr>
            <a:r>
              <a:rPr sz="1200" b="0" i="0">
                <a:solidFill>
                  <a:srgbClr val="9AA8BA"/>
                </a:solidFill>
                <a:latin typeface="Calibri"/>
              </a:rPr>
              <a:t/>
            </a:r>
          </a:p>
          <a:p>
            <a:pPr algn="l">
              <a:lnSpc>
                <a:spcPts val="1700"/>
              </a:lnSpc>
            </a:pPr>
            <a:r>
              <a:rPr sz="1200" b="0" i="0">
                <a:solidFill>
                  <a:srgbClr val="9AA8BA"/>
                </a:solidFill>
                <a:latin typeface="Calibri"/>
              </a:rPr>
              <a:t>It did not crash and it did not approve anything. The fail safe held against a bug that was not in the assessors at 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Five layers, each one verified</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Every denial below is produced by Google Cloud, not by our application code</a:t>
            </a:r>
          </a:p>
        </p:txBody>
      </p:sp>
      <p:sp>
        <p:nvSpPr>
          <p:cNvPr id="4" name="Rounded Rectangle 3"/>
          <p:cNvSpPr/>
          <p:nvPr/>
        </p:nvSpPr>
        <p:spPr>
          <a:xfrm>
            <a:off x="548640" y="1627632"/>
            <a:ext cx="11064240" cy="73152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41248" y="1837944"/>
            <a:ext cx="310896" cy="310896"/>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98448" y="1755648"/>
            <a:ext cx="2103120" cy="274320"/>
          </a:xfrm>
          <a:prstGeom prst="rect">
            <a:avLst/>
          </a:prstGeom>
          <a:noFill/>
        </p:spPr>
        <p:txBody>
          <a:bodyPr wrap="square" anchor="t" lIns="0" rIns="0" tIns="0" bIns="0">
            <a:spAutoFit/>
          </a:bodyPr>
          <a:lstStyle/>
          <a:p>
            <a:pPr algn="l"/>
            <a:r>
              <a:rPr sz="1400" b="1" i="0">
                <a:solidFill>
                  <a:srgbClr val="EEF2F7"/>
                </a:solidFill>
                <a:latin typeface="Calibri"/>
              </a:rPr>
              <a:t>Identity</a:t>
            </a:r>
          </a:p>
        </p:txBody>
      </p:sp>
      <p:sp>
        <p:nvSpPr>
          <p:cNvPr id="7" name="TextBox 6"/>
          <p:cNvSpPr txBox="1"/>
          <p:nvPr/>
        </p:nvSpPr>
        <p:spPr>
          <a:xfrm>
            <a:off x="3474720" y="1773936"/>
            <a:ext cx="7863840" cy="475488"/>
          </a:xfrm>
          <a:prstGeom prst="rect">
            <a:avLst/>
          </a:prstGeom>
          <a:noFill/>
        </p:spPr>
        <p:txBody>
          <a:bodyPr wrap="square" anchor="t" lIns="0" rIns="0" tIns="0" bIns="0">
            <a:spAutoFit/>
          </a:bodyPr>
          <a:lstStyle/>
          <a:p>
            <a:pPr algn="l">
              <a:lnSpc>
                <a:spcPts val="1700"/>
              </a:lnSpc>
            </a:pPr>
            <a:r>
              <a:rPr sz="1200" b="0" i="0">
                <a:solidFill>
                  <a:srgbClr val="9AA8BA"/>
                </a:solidFill>
                <a:latin typeface="Calibri"/>
              </a:rPr>
              <a:t>Seven service accounts and three custom least-privilege roles. No shared credentials anywhere in the system.</a:t>
            </a:r>
          </a:p>
        </p:txBody>
      </p:sp>
      <p:sp>
        <p:nvSpPr>
          <p:cNvPr id="8" name="Rounded Rectangle 7"/>
          <p:cNvSpPr/>
          <p:nvPr/>
        </p:nvSpPr>
        <p:spPr>
          <a:xfrm>
            <a:off x="548640" y="2468880"/>
            <a:ext cx="11064240" cy="73152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41248" y="2679192"/>
            <a:ext cx="310896" cy="310896"/>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8448" y="2596896"/>
            <a:ext cx="2103120" cy="274320"/>
          </a:xfrm>
          <a:prstGeom prst="rect">
            <a:avLst/>
          </a:prstGeom>
          <a:noFill/>
        </p:spPr>
        <p:txBody>
          <a:bodyPr wrap="square" anchor="t" lIns="0" rIns="0" tIns="0" bIns="0">
            <a:spAutoFit/>
          </a:bodyPr>
          <a:lstStyle/>
          <a:p>
            <a:pPr algn="l"/>
            <a:r>
              <a:rPr sz="1400" b="1" i="0">
                <a:solidFill>
                  <a:srgbClr val="EEF2F7"/>
                </a:solidFill>
                <a:latin typeface="Calibri"/>
              </a:rPr>
              <a:t>Network</a:t>
            </a:r>
          </a:p>
        </p:txBody>
      </p:sp>
      <p:sp>
        <p:nvSpPr>
          <p:cNvPr id="11" name="TextBox 10"/>
          <p:cNvSpPr txBox="1"/>
          <p:nvPr/>
        </p:nvSpPr>
        <p:spPr>
          <a:xfrm>
            <a:off x="3474720" y="2615184"/>
            <a:ext cx="7863840" cy="475488"/>
          </a:xfrm>
          <a:prstGeom prst="rect">
            <a:avLst/>
          </a:prstGeom>
          <a:noFill/>
        </p:spPr>
        <p:txBody>
          <a:bodyPr wrap="square" anchor="t" lIns="0" rIns="0" tIns="0" bIns="0">
            <a:spAutoFit/>
          </a:bodyPr>
          <a:lstStyle/>
          <a:p>
            <a:pPr algn="l">
              <a:lnSpc>
                <a:spcPts val="1700"/>
              </a:lnSpc>
            </a:pPr>
            <a:r>
              <a:rPr sz="1200" b="0" i="0">
                <a:solidFill>
                  <a:srgbClr val="9AA8BA"/>
                </a:solidFill>
                <a:latin typeface="Calibri"/>
              </a:rPr>
              <a:t>Six of the seven services sit inside a VPC with ingress=internal. An unauthenticated call gets 404, not 403, so the service is not discoverable.</a:t>
            </a:r>
          </a:p>
        </p:txBody>
      </p:sp>
      <p:sp>
        <p:nvSpPr>
          <p:cNvPr id="12" name="Rounded Rectangle 11"/>
          <p:cNvSpPr/>
          <p:nvPr/>
        </p:nvSpPr>
        <p:spPr>
          <a:xfrm>
            <a:off x="548640" y="3310128"/>
            <a:ext cx="11064240" cy="73152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41248" y="3520440"/>
            <a:ext cx="310896" cy="3108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3438144"/>
            <a:ext cx="2103120" cy="274320"/>
          </a:xfrm>
          <a:prstGeom prst="rect">
            <a:avLst/>
          </a:prstGeom>
          <a:noFill/>
        </p:spPr>
        <p:txBody>
          <a:bodyPr wrap="square" anchor="t" lIns="0" rIns="0" tIns="0" bIns="0">
            <a:spAutoFit/>
          </a:bodyPr>
          <a:lstStyle/>
          <a:p>
            <a:pPr algn="l"/>
            <a:r>
              <a:rPr sz="1400" b="1" i="0">
                <a:solidFill>
                  <a:srgbClr val="EEF2F7"/>
                </a:solidFill>
                <a:latin typeface="Calibri"/>
              </a:rPr>
              <a:t>Data</a:t>
            </a:r>
          </a:p>
        </p:txBody>
      </p:sp>
      <p:sp>
        <p:nvSpPr>
          <p:cNvPr id="15" name="TextBox 14"/>
          <p:cNvSpPr txBox="1"/>
          <p:nvPr/>
        </p:nvSpPr>
        <p:spPr>
          <a:xfrm>
            <a:off x="3474720" y="3456432"/>
            <a:ext cx="7863840" cy="475488"/>
          </a:xfrm>
          <a:prstGeom prst="rect">
            <a:avLst/>
          </a:prstGeom>
          <a:noFill/>
        </p:spPr>
        <p:txBody>
          <a:bodyPr wrap="square" anchor="t" lIns="0" rIns="0" tIns="0" bIns="0">
            <a:spAutoFit/>
          </a:bodyPr>
          <a:lstStyle/>
          <a:p>
            <a:pPr algn="l">
              <a:lnSpc>
                <a:spcPts val="1700"/>
              </a:lnSpc>
            </a:pPr>
            <a:r>
              <a:rPr sz="1200" b="0" i="0">
                <a:solidFill>
                  <a:srgbClr val="9AA8BA"/>
                </a:solidFill>
                <a:latin typeface="Calibri"/>
              </a:rPr>
              <a:t>IAM conditions on resource.name. A cross-domain read is refused by Firestore before any of our code runs.</a:t>
            </a:r>
          </a:p>
        </p:txBody>
      </p:sp>
      <p:sp>
        <p:nvSpPr>
          <p:cNvPr id="16" name="Rounded Rectangle 15"/>
          <p:cNvSpPr/>
          <p:nvPr/>
        </p:nvSpPr>
        <p:spPr>
          <a:xfrm>
            <a:off x="548640" y="4151376"/>
            <a:ext cx="11064240" cy="73152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41248" y="4361688"/>
            <a:ext cx="310896" cy="310896"/>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98448" y="4279392"/>
            <a:ext cx="2103120" cy="274320"/>
          </a:xfrm>
          <a:prstGeom prst="rect">
            <a:avLst/>
          </a:prstGeom>
          <a:noFill/>
        </p:spPr>
        <p:txBody>
          <a:bodyPr wrap="square" anchor="t" lIns="0" rIns="0" tIns="0" bIns="0">
            <a:spAutoFit/>
          </a:bodyPr>
          <a:lstStyle/>
          <a:p>
            <a:pPr algn="l"/>
            <a:r>
              <a:rPr sz="1400" b="1" i="0">
                <a:solidFill>
                  <a:srgbClr val="EEF2F7"/>
                </a:solidFill>
                <a:latin typeface="Calibri"/>
              </a:rPr>
              <a:t>Content</a:t>
            </a:r>
          </a:p>
        </p:txBody>
      </p:sp>
      <p:sp>
        <p:nvSpPr>
          <p:cNvPr id="19" name="TextBox 18"/>
          <p:cNvSpPr txBox="1"/>
          <p:nvPr/>
        </p:nvSpPr>
        <p:spPr>
          <a:xfrm>
            <a:off x="3474720" y="4297680"/>
            <a:ext cx="7863840" cy="475488"/>
          </a:xfrm>
          <a:prstGeom prst="rect">
            <a:avLst/>
          </a:prstGeom>
          <a:noFill/>
        </p:spPr>
        <p:txBody>
          <a:bodyPr wrap="square" anchor="t" lIns="0" rIns="0" tIns="0" bIns="0">
            <a:spAutoFit/>
          </a:bodyPr>
          <a:lstStyle/>
          <a:p>
            <a:pPr algn="l">
              <a:lnSpc>
                <a:spcPts val="1700"/>
              </a:lnSpc>
            </a:pPr>
            <a:r>
              <a:rPr sz="1200" b="0" i="0">
                <a:solidFill>
                  <a:srgbClr val="9AA8BA"/>
                </a:solidFill>
                <a:latin typeface="Calibri"/>
              </a:rPr>
              <a:t>Model Armor screens traffic between agents on the way in and on the way out. It fails closed.</a:t>
            </a:r>
          </a:p>
        </p:txBody>
      </p:sp>
      <p:sp>
        <p:nvSpPr>
          <p:cNvPr id="20" name="Rounded Rectangle 19"/>
          <p:cNvSpPr/>
          <p:nvPr/>
        </p:nvSpPr>
        <p:spPr>
          <a:xfrm>
            <a:off x="548640" y="4992624"/>
            <a:ext cx="11064240" cy="73152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248" y="5202936"/>
            <a:ext cx="310896" cy="310896"/>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98448" y="5120640"/>
            <a:ext cx="2103120" cy="274320"/>
          </a:xfrm>
          <a:prstGeom prst="rect">
            <a:avLst/>
          </a:prstGeom>
          <a:noFill/>
        </p:spPr>
        <p:txBody>
          <a:bodyPr wrap="square" anchor="t" lIns="0" rIns="0" tIns="0" bIns="0">
            <a:spAutoFit/>
          </a:bodyPr>
          <a:lstStyle/>
          <a:p>
            <a:pPr algn="l"/>
            <a:r>
              <a:rPr sz="1400" b="1" i="0">
                <a:solidFill>
                  <a:srgbClr val="EEF2F7"/>
                </a:solidFill>
                <a:latin typeface="Calibri"/>
              </a:rPr>
              <a:t>Audit</a:t>
            </a:r>
          </a:p>
        </p:txBody>
      </p:sp>
      <p:sp>
        <p:nvSpPr>
          <p:cNvPr id="23" name="TextBox 22"/>
          <p:cNvSpPr txBox="1"/>
          <p:nvPr/>
        </p:nvSpPr>
        <p:spPr>
          <a:xfrm>
            <a:off x="3474720" y="5138928"/>
            <a:ext cx="7863840" cy="475488"/>
          </a:xfrm>
          <a:prstGeom prst="rect">
            <a:avLst/>
          </a:prstGeom>
          <a:noFill/>
        </p:spPr>
        <p:txBody>
          <a:bodyPr wrap="square" anchor="t" lIns="0" rIns="0" tIns="0" bIns="0">
            <a:spAutoFit/>
          </a:bodyPr>
          <a:lstStyle/>
          <a:p>
            <a:pPr algn="l">
              <a:lnSpc>
                <a:spcPts val="1700"/>
              </a:lnSpc>
            </a:pPr>
            <a:r>
              <a:rPr sz="1200" b="0" i="0">
                <a:solidFill>
                  <a:srgbClr val="9AA8BA"/>
                </a:solidFill>
                <a:latin typeface="Calibri"/>
              </a:rPr>
              <a:t>One correlation id threads every model call, guardrail result, screening result and routing decision into Cloud Logging.</a:t>
            </a:r>
          </a:p>
        </p:txBody>
      </p:sp>
      <p:sp>
        <p:nvSpPr>
          <p:cNvPr id="24" name="TextBox 23"/>
          <p:cNvSpPr txBox="1"/>
          <p:nvPr/>
        </p:nvSpPr>
        <p:spPr>
          <a:xfrm>
            <a:off x="548640" y="5961888"/>
            <a:ext cx="11064240" cy="329184"/>
          </a:xfrm>
          <a:prstGeom prst="rect">
            <a:avLst/>
          </a:prstGeom>
          <a:noFill/>
        </p:spPr>
        <p:txBody>
          <a:bodyPr wrap="square" anchor="t" lIns="0" rIns="0" tIns="0" bIns="0">
            <a:spAutoFit/>
          </a:bodyPr>
          <a:lstStyle/>
          <a:p>
            <a:pPr algn="l"/>
            <a:r>
              <a:rPr sz="1200" b="0" i="0">
                <a:solidFill>
                  <a:srgbClr val="4DD6FF"/>
                </a:solidFill>
                <a:latin typeface="Calibri"/>
              </a:rPr>
              <a:t>Someone who fully owns the public container gets a request queue and a decision log. Not the facility, and no way to spend the inference budget.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Running in production</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Deployed, reproducible, and checkable by anyone</a:t>
            </a:r>
          </a:p>
        </p:txBody>
      </p:sp>
      <p:sp>
        <p:nvSpPr>
          <p:cNvPr id="4" name="Rounded Rectangle 3"/>
          <p:cNvSpPr/>
          <p:nvPr/>
        </p:nvSpPr>
        <p:spPr>
          <a:xfrm>
            <a:off x="548640" y="1627632"/>
            <a:ext cx="5394960" cy="124358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04672" y="1901952"/>
            <a:ext cx="329184" cy="329184"/>
          </a:xfrm>
          <a:prstGeom prst="ellipse">
            <a:avLst/>
          </a:prstGeom>
          <a:solidFill>
            <a:srgbClr val="4D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1847088"/>
            <a:ext cx="4389120" cy="274320"/>
          </a:xfrm>
          <a:prstGeom prst="rect">
            <a:avLst/>
          </a:prstGeom>
          <a:noFill/>
        </p:spPr>
        <p:txBody>
          <a:bodyPr wrap="square" anchor="t" lIns="0" rIns="0" tIns="0" bIns="0">
            <a:spAutoFit/>
          </a:bodyPr>
          <a:lstStyle/>
          <a:p>
            <a:pPr algn="l"/>
            <a:r>
              <a:rPr sz="1400" b="1" i="0">
                <a:solidFill>
                  <a:srgbClr val="EEF2F7"/>
                </a:solidFill>
                <a:latin typeface="Calibri"/>
              </a:rPr>
              <a:t>Live on Google Cloud</a:t>
            </a:r>
          </a:p>
        </p:txBody>
      </p:sp>
      <p:sp>
        <p:nvSpPr>
          <p:cNvPr id="7" name="TextBox 6"/>
          <p:cNvSpPr txBox="1"/>
          <p:nvPr/>
        </p:nvSpPr>
        <p:spPr>
          <a:xfrm>
            <a:off x="1316736" y="2139696"/>
            <a:ext cx="4480560" cy="658368"/>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Seven Cloud Run services, each under its own service account, scale to zero, instance count capped.</a:t>
            </a:r>
          </a:p>
        </p:txBody>
      </p:sp>
      <p:sp>
        <p:nvSpPr>
          <p:cNvPr id="8" name="Rounded Rectangle 7"/>
          <p:cNvSpPr/>
          <p:nvPr/>
        </p:nvSpPr>
        <p:spPr>
          <a:xfrm>
            <a:off x="6217920" y="1627632"/>
            <a:ext cx="5394960" cy="124358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73952" y="1901952"/>
            <a:ext cx="329184" cy="32918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86016" y="1847088"/>
            <a:ext cx="4389120" cy="274320"/>
          </a:xfrm>
          <a:prstGeom prst="rect">
            <a:avLst/>
          </a:prstGeom>
          <a:noFill/>
        </p:spPr>
        <p:txBody>
          <a:bodyPr wrap="square" anchor="t" lIns="0" rIns="0" tIns="0" bIns="0">
            <a:spAutoFit/>
          </a:bodyPr>
          <a:lstStyle/>
          <a:p>
            <a:pPr algn="l"/>
            <a:r>
              <a:rPr sz="1400" b="1" i="0">
                <a:solidFill>
                  <a:srgbClr val="EEF2F7"/>
                </a:solidFill>
                <a:latin typeface="Calibri"/>
              </a:rPr>
              <a:t>Reproducible from scratch</a:t>
            </a:r>
          </a:p>
        </p:txBody>
      </p:sp>
      <p:sp>
        <p:nvSpPr>
          <p:cNvPr id="11" name="TextBox 10"/>
          <p:cNvSpPr txBox="1"/>
          <p:nvPr/>
        </p:nvSpPr>
        <p:spPr>
          <a:xfrm>
            <a:off x="6986016" y="2139696"/>
            <a:ext cx="4480560" cy="658368"/>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Every resource has a script. APIs, databases, IAM roles and conditions, VPC, deploy, seed.</a:t>
            </a:r>
          </a:p>
        </p:txBody>
      </p:sp>
      <p:sp>
        <p:nvSpPr>
          <p:cNvPr id="12" name="Rounded Rectangle 11"/>
          <p:cNvSpPr/>
          <p:nvPr/>
        </p:nvSpPr>
        <p:spPr>
          <a:xfrm>
            <a:off x="548640" y="3054096"/>
            <a:ext cx="5394960" cy="124358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04672" y="3328415"/>
            <a:ext cx="329184" cy="329184"/>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6736" y="3273552"/>
            <a:ext cx="4389120" cy="274320"/>
          </a:xfrm>
          <a:prstGeom prst="rect">
            <a:avLst/>
          </a:prstGeom>
          <a:noFill/>
        </p:spPr>
        <p:txBody>
          <a:bodyPr wrap="square" anchor="t" lIns="0" rIns="0" tIns="0" bIns="0">
            <a:spAutoFit/>
          </a:bodyPr>
          <a:lstStyle/>
          <a:p>
            <a:pPr algn="l"/>
            <a:r>
              <a:rPr sz="1400" b="1" i="0">
                <a:solidFill>
                  <a:srgbClr val="EEF2F7"/>
                </a:solidFill>
                <a:latin typeface="Calibri"/>
              </a:rPr>
              <a:t>Auditable by design</a:t>
            </a:r>
          </a:p>
        </p:txBody>
      </p:sp>
      <p:sp>
        <p:nvSpPr>
          <p:cNvPr id="15" name="TextBox 14"/>
          <p:cNvSpPr txBox="1"/>
          <p:nvPr/>
        </p:nvSpPr>
        <p:spPr>
          <a:xfrm>
            <a:off x="1316736" y="3566160"/>
            <a:ext cx="4480560" cy="658368"/>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A whole multi-agent decision can be reconstructed from one log filter on the correlation id.</a:t>
            </a:r>
          </a:p>
        </p:txBody>
      </p:sp>
      <p:sp>
        <p:nvSpPr>
          <p:cNvPr id="16" name="Rounded Rectangle 15"/>
          <p:cNvSpPr/>
          <p:nvPr/>
        </p:nvSpPr>
        <p:spPr>
          <a:xfrm>
            <a:off x="6217920" y="3054096"/>
            <a:ext cx="5394960" cy="124358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73952" y="3328415"/>
            <a:ext cx="329184" cy="329184"/>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6016" y="3273552"/>
            <a:ext cx="4389120" cy="274320"/>
          </a:xfrm>
          <a:prstGeom prst="rect">
            <a:avLst/>
          </a:prstGeom>
          <a:noFill/>
        </p:spPr>
        <p:txBody>
          <a:bodyPr wrap="square" anchor="t" lIns="0" rIns="0" tIns="0" bIns="0">
            <a:spAutoFit/>
          </a:bodyPr>
          <a:lstStyle/>
          <a:p>
            <a:pPr algn="l"/>
            <a:r>
              <a:rPr sz="1400" b="1" i="0">
                <a:solidFill>
                  <a:srgbClr val="EEF2F7"/>
                </a:solidFill>
                <a:latin typeface="Calibri"/>
              </a:rPr>
              <a:t>Decision report</a:t>
            </a:r>
          </a:p>
        </p:txBody>
      </p:sp>
      <p:sp>
        <p:nvSpPr>
          <p:cNvPr id="19" name="TextBox 18"/>
          <p:cNvSpPr txBox="1"/>
          <p:nvPr/>
        </p:nvSpPr>
        <p:spPr>
          <a:xfrm>
            <a:off x="6986016" y="3566160"/>
            <a:ext cx="4480560" cy="658368"/>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A PDF per decision showing what each assessor was shown beside what it concluded.</a:t>
            </a:r>
          </a:p>
        </p:txBody>
      </p:sp>
      <p:sp>
        <p:nvSpPr>
          <p:cNvPr id="20" name="Rounded Rectangle 19"/>
          <p:cNvSpPr/>
          <p:nvPr/>
        </p:nvSpPr>
        <p:spPr>
          <a:xfrm>
            <a:off x="548640" y="4526280"/>
            <a:ext cx="11064240" cy="1417320"/>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681728"/>
            <a:ext cx="4572000" cy="274320"/>
          </a:xfrm>
          <a:prstGeom prst="rect">
            <a:avLst/>
          </a:prstGeom>
          <a:noFill/>
        </p:spPr>
        <p:txBody>
          <a:bodyPr wrap="square" anchor="t" lIns="0" rIns="0" tIns="0" bIns="0">
            <a:spAutoFit/>
          </a:bodyPr>
          <a:lstStyle/>
          <a:p>
            <a:pPr algn="l"/>
            <a:r>
              <a:rPr sz="1250" b="1" i="0">
                <a:solidFill>
                  <a:srgbClr val="EEF2F7"/>
                </a:solidFill>
                <a:latin typeface="Calibri"/>
              </a:rPr>
              <a:t>Run these yourself</a:t>
            </a:r>
          </a:p>
        </p:txBody>
      </p:sp>
      <p:sp>
        <p:nvSpPr>
          <p:cNvPr id="22" name="TextBox 21"/>
          <p:cNvSpPr txBox="1"/>
          <p:nvPr/>
        </p:nvSpPr>
        <p:spPr>
          <a:xfrm>
            <a:off x="868680" y="4992624"/>
            <a:ext cx="7863840" cy="822960"/>
          </a:xfrm>
          <a:prstGeom prst="rect">
            <a:avLst/>
          </a:prstGeom>
          <a:noFill/>
        </p:spPr>
        <p:txBody>
          <a:bodyPr wrap="square" anchor="t" lIns="0" rIns="0" tIns="0" bIns="0">
            <a:spAutoFit/>
          </a:bodyPr>
          <a:lstStyle/>
          <a:p>
            <a:pPr algn="l">
              <a:lnSpc>
                <a:spcPts val="1700"/>
              </a:lnSpc>
            </a:pPr>
            <a:r>
              <a:rPr sz="1100" b="0" i="0">
                <a:solidFill>
                  <a:srgbClr val="34D399"/>
                </a:solidFill>
                <a:latin typeface="Courier New"/>
              </a:rPr>
              <a:t>bash infra/iam/03_verify_isolation.sh    14 database isolation checks</a:t>
            </a:r>
          </a:p>
          <a:p>
            <a:pPr algn="l">
              <a:lnSpc>
                <a:spcPts val="1700"/>
              </a:lnSpc>
            </a:pPr>
            <a:r>
              <a:rPr sz="1100" b="0" i="0">
                <a:solidFill>
                  <a:srgbClr val="34D399"/>
                </a:solidFill>
                <a:latin typeface="Courier New"/>
              </a:rPr>
              <a:t>bash scripts/demo_denial.sh              every layer, live denials</a:t>
            </a:r>
          </a:p>
          <a:p>
            <a:pPr algn="l">
              <a:lnSpc>
                <a:spcPts val="1700"/>
              </a:lnSpc>
            </a:pPr>
            <a:r>
              <a:rPr sz="1100" b="0" i="0">
                <a:solidFill>
                  <a:srgbClr val="34D399"/>
                </a:solidFill>
                <a:latin typeface="Courier New"/>
              </a:rPr>
              <a:t>python -m scripts.demo_guardrails        6 guardrail assertions, no model calls</a:t>
            </a:r>
          </a:p>
        </p:txBody>
      </p:sp>
      <p:sp>
        <p:nvSpPr>
          <p:cNvPr id="23" name="TextBox 22"/>
          <p:cNvSpPr txBox="1"/>
          <p:nvPr/>
        </p:nvSpPr>
        <p:spPr>
          <a:xfrm>
            <a:off x="9006840" y="4791456"/>
            <a:ext cx="2377440" cy="457200"/>
          </a:xfrm>
          <a:prstGeom prst="rect">
            <a:avLst/>
          </a:prstGeom>
          <a:noFill/>
        </p:spPr>
        <p:txBody>
          <a:bodyPr wrap="square" anchor="t" lIns="0" rIns="0" tIns="0" bIns="0">
            <a:spAutoFit/>
          </a:bodyPr>
          <a:lstStyle/>
          <a:p>
            <a:pPr algn="l"/>
            <a:r>
              <a:rPr sz="2700" b="1" i="0">
                <a:solidFill>
                  <a:srgbClr val="4DD6FF"/>
                </a:solidFill>
                <a:latin typeface="Arial"/>
              </a:rPr>
              <a:t>60 / day</a:t>
            </a:r>
          </a:p>
        </p:txBody>
      </p:sp>
      <p:sp>
        <p:nvSpPr>
          <p:cNvPr id="24" name="TextBox 23"/>
          <p:cNvSpPr txBox="1"/>
          <p:nvPr/>
        </p:nvSpPr>
        <p:spPr>
          <a:xfrm>
            <a:off x="9006840" y="5285232"/>
            <a:ext cx="2468880" cy="457200"/>
          </a:xfrm>
          <a:prstGeom prst="rect">
            <a:avLst/>
          </a:prstGeom>
          <a:noFill/>
        </p:spPr>
        <p:txBody>
          <a:bodyPr wrap="square" anchor="t" lIns="0" rIns="0" tIns="0" bIns="0">
            <a:spAutoFit/>
          </a:bodyPr>
          <a:lstStyle/>
          <a:p>
            <a:pPr algn="l">
              <a:lnSpc>
                <a:spcPts val="1500"/>
              </a:lnSpc>
            </a:pPr>
            <a:r>
              <a:rPr sz="1100" b="0" i="0">
                <a:solidFill>
                  <a:srgbClr val="9AA8BA"/>
                </a:solidFill>
                <a:latin typeface="Calibri"/>
              </a:rPr>
              <a:t>hard cap on the public demo, about $1.50 a day worst case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Gemini Enterprise Agent Platform coverage</a:t>
            </a:r>
          </a:p>
        </p:txBody>
      </p:sp>
      <p:sp>
        <p:nvSpPr>
          <p:cNvPr id="3" name="TextBox 2"/>
          <p:cNvSpPr txBox="1"/>
          <p:nvPr/>
        </p:nvSpPr>
        <p:spPr>
          <a:xfrm>
            <a:off x="548640" y="1060704"/>
            <a:ext cx="11064240" cy="329184"/>
          </a:xfrm>
          <a:prstGeom prst="rect">
            <a:avLst/>
          </a:prstGeom>
          <a:noFill/>
        </p:spPr>
        <p:txBody>
          <a:bodyPr wrap="square" anchor="t" lIns="0" rIns="0" tIns="0" bIns="0">
            <a:spAutoFit/>
          </a:bodyPr>
          <a:lstStyle/>
          <a:p>
            <a:pPr algn="l"/>
            <a:r>
              <a:rPr sz="1400" b="0" i="0">
                <a:solidFill>
                  <a:srgbClr val="9AA8BA"/>
                </a:solidFill>
                <a:latin typeface="Calibri"/>
              </a:rPr>
              <a:t>Six of the seven capabilities are built. One is partial, and we say so.</a:t>
            </a:r>
          </a:p>
        </p:txBody>
      </p:sp>
      <p:sp>
        <p:nvSpPr>
          <p:cNvPr id="4" name="Rounded Rectangle 3"/>
          <p:cNvSpPr/>
          <p:nvPr/>
        </p:nvSpPr>
        <p:spPr>
          <a:xfrm>
            <a:off x="548640" y="1609344"/>
            <a:ext cx="11064240" cy="51206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46504"/>
            <a:ext cx="2560320" cy="256032"/>
          </a:xfrm>
          <a:prstGeom prst="rect">
            <a:avLst/>
          </a:prstGeom>
          <a:noFill/>
        </p:spPr>
        <p:txBody>
          <a:bodyPr wrap="square" anchor="t" lIns="0" rIns="0" tIns="0" bIns="0">
            <a:spAutoFit/>
          </a:bodyPr>
          <a:lstStyle/>
          <a:p>
            <a:pPr algn="l"/>
            <a:r>
              <a:rPr sz="1300" b="1" i="0">
                <a:solidFill>
                  <a:srgbClr val="EEF2F7"/>
                </a:solidFill>
                <a:latin typeface="Calibri"/>
              </a:rPr>
              <a:t>Agent Identity</a:t>
            </a:r>
          </a:p>
        </p:txBody>
      </p:sp>
      <p:sp>
        <p:nvSpPr>
          <p:cNvPr id="6" name="TextBox 5"/>
          <p:cNvSpPr txBox="1"/>
          <p:nvPr/>
        </p:nvSpPr>
        <p:spPr>
          <a:xfrm>
            <a:off x="3429000" y="1755648"/>
            <a:ext cx="6492240" cy="256032"/>
          </a:xfrm>
          <a:prstGeom prst="rect">
            <a:avLst/>
          </a:prstGeom>
          <a:noFill/>
        </p:spPr>
        <p:txBody>
          <a:bodyPr wrap="square" anchor="t" lIns="0" rIns="0" tIns="0" bIns="0">
            <a:spAutoFit/>
          </a:bodyPr>
          <a:lstStyle/>
          <a:p>
            <a:pPr algn="l"/>
            <a:r>
              <a:rPr sz="1150" b="0" i="0">
                <a:solidFill>
                  <a:srgbClr val="9AA8BA"/>
                </a:solidFill>
                <a:latin typeface="Calibri"/>
              </a:rPr>
              <a:t>Seven service accounts, three custom roles, IAM conditions</a:t>
            </a:r>
          </a:p>
        </p:txBody>
      </p:sp>
      <p:sp>
        <p:nvSpPr>
          <p:cNvPr id="7" name="TextBox 6"/>
          <p:cNvSpPr txBox="1"/>
          <p:nvPr/>
        </p:nvSpPr>
        <p:spPr>
          <a:xfrm>
            <a:off x="9966960" y="1755648"/>
            <a:ext cx="1371600" cy="256032"/>
          </a:xfrm>
          <a:prstGeom prst="rect">
            <a:avLst/>
          </a:prstGeom>
          <a:noFill/>
        </p:spPr>
        <p:txBody>
          <a:bodyPr wrap="square" anchor="t" lIns="0" rIns="0" tIns="0" bIns="0">
            <a:spAutoFit/>
          </a:bodyPr>
          <a:lstStyle/>
          <a:p>
            <a:pPr algn="r"/>
            <a:r>
              <a:rPr sz="1150" b="1" i="0">
                <a:solidFill>
                  <a:srgbClr val="34D399"/>
                </a:solidFill>
                <a:latin typeface="Calibri"/>
              </a:rPr>
              <a:t>BUILT</a:t>
            </a:r>
          </a:p>
        </p:txBody>
      </p:sp>
      <p:sp>
        <p:nvSpPr>
          <p:cNvPr id="8" name="Rounded Rectangle 7"/>
          <p:cNvSpPr/>
          <p:nvPr/>
        </p:nvSpPr>
        <p:spPr>
          <a:xfrm>
            <a:off x="548640" y="2212848"/>
            <a:ext cx="11064240" cy="51206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350008"/>
            <a:ext cx="2560320" cy="256032"/>
          </a:xfrm>
          <a:prstGeom prst="rect">
            <a:avLst/>
          </a:prstGeom>
          <a:noFill/>
        </p:spPr>
        <p:txBody>
          <a:bodyPr wrap="square" anchor="t" lIns="0" rIns="0" tIns="0" bIns="0">
            <a:spAutoFit/>
          </a:bodyPr>
          <a:lstStyle/>
          <a:p>
            <a:pPr algn="l"/>
            <a:r>
              <a:rPr sz="1300" b="1" i="0">
                <a:solidFill>
                  <a:srgbClr val="EEF2F7"/>
                </a:solidFill>
                <a:latin typeface="Calibri"/>
              </a:rPr>
              <a:t>Agent Gateway</a:t>
            </a:r>
          </a:p>
        </p:txBody>
      </p:sp>
      <p:sp>
        <p:nvSpPr>
          <p:cNvPr id="10" name="TextBox 9"/>
          <p:cNvSpPr txBox="1"/>
          <p:nvPr/>
        </p:nvSpPr>
        <p:spPr>
          <a:xfrm>
            <a:off x="3429000" y="2359152"/>
            <a:ext cx="6492240" cy="256032"/>
          </a:xfrm>
          <a:prstGeom prst="rect">
            <a:avLst/>
          </a:prstGeom>
          <a:noFill/>
        </p:spPr>
        <p:txBody>
          <a:bodyPr wrap="square" anchor="t" lIns="0" rIns="0" tIns="0" bIns="0">
            <a:spAutoFit/>
          </a:bodyPr>
          <a:lstStyle/>
          <a:p>
            <a:pPr algn="l"/>
            <a:r>
              <a:rPr sz="1150" b="0" i="0">
                <a:solidFill>
                  <a:srgbClr val="9AA8BA"/>
                </a:solidFill>
                <a:latin typeface="Calibri"/>
              </a:rPr>
              <a:t>Routing table, identity checks, audience-scoped tokens, audit log</a:t>
            </a:r>
          </a:p>
        </p:txBody>
      </p:sp>
      <p:sp>
        <p:nvSpPr>
          <p:cNvPr id="11" name="TextBox 10"/>
          <p:cNvSpPr txBox="1"/>
          <p:nvPr/>
        </p:nvSpPr>
        <p:spPr>
          <a:xfrm>
            <a:off x="9966960" y="2359152"/>
            <a:ext cx="1371600" cy="256032"/>
          </a:xfrm>
          <a:prstGeom prst="rect">
            <a:avLst/>
          </a:prstGeom>
          <a:noFill/>
        </p:spPr>
        <p:txBody>
          <a:bodyPr wrap="square" anchor="t" lIns="0" rIns="0" tIns="0" bIns="0">
            <a:spAutoFit/>
          </a:bodyPr>
          <a:lstStyle/>
          <a:p>
            <a:pPr algn="r"/>
            <a:r>
              <a:rPr sz="1150" b="1" i="0">
                <a:solidFill>
                  <a:srgbClr val="34D399"/>
                </a:solidFill>
                <a:latin typeface="Calibri"/>
              </a:rPr>
              <a:t>BUILT</a:t>
            </a:r>
          </a:p>
        </p:txBody>
      </p:sp>
      <p:sp>
        <p:nvSpPr>
          <p:cNvPr id="12" name="Rounded Rectangle 11"/>
          <p:cNvSpPr/>
          <p:nvPr/>
        </p:nvSpPr>
        <p:spPr>
          <a:xfrm>
            <a:off x="548640" y="2816352"/>
            <a:ext cx="11064240" cy="51206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2953512"/>
            <a:ext cx="2560320" cy="256032"/>
          </a:xfrm>
          <a:prstGeom prst="rect">
            <a:avLst/>
          </a:prstGeom>
          <a:noFill/>
        </p:spPr>
        <p:txBody>
          <a:bodyPr wrap="square" anchor="t" lIns="0" rIns="0" tIns="0" bIns="0">
            <a:spAutoFit/>
          </a:bodyPr>
          <a:lstStyle/>
          <a:p>
            <a:pPr algn="l"/>
            <a:r>
              <a:rPr sz="1300" b="1" i="0">
                <a:solidFill>
                  <a:srgbClr val="EEF2F7"/>
                </a:solidFill>
                <a:latin typeface="Calibri"/>
              </a:rPr>
              <a:t>Model Armor</a:t>
            </a:r>
          </a:p>
        </p:txBody>
      </p:sp>
      <p:sp>
        <p:nvSpPr>
          <p:cNvPr id="14" name="TextBox 13"/>
          <p:cNvSpPr txBox="1"/>
          <p:nvPr/>
        </p:nvSpPr>
        <p:spPr>
          <a:xfrm>
            <a:off x="3429000" y="2962656"/>
            <a:ext cx="6492240" cy="256032"/>
          </a:xfrm>
          <a:prstGeom prst="rect">
            <a:avLst/>
          </a:prstGeom>
          <a:noFill/>
        </p:spPr>
        <p:txBody>
          <a:bodyPr wrap="square" anchor="t" lIns="0" rIns="0" tIns="0" bIns="0">
            <a:spAutoFit/>
          </a:bodyPr>
          <a:lstStyle/>
          <a:p>
            <a:pPr algn="l"/>
            <a:r>
              <a:rPr sz="1150" b="0" i="0">
                <a:solidFill>
                  <a:srgbClr val="9AA8BA"/>
                </a:solidFill>
                <a:latin typeface="Calibri"/>
              </a:rPr>
              <a:t>Screens traffic between agents in both directions, fails closed</a:t>
            </a:r>
          </a:p>
        </p:txBody>
      </p:sp>
      <p:sp>
        <p:nvSpPr>
          <p:cNvPr id="15" name="TextBox 14"/>
          <p:cNvSpPr txBox="1"/>
          <p:nvPr/>
        </p:nvSpPr>
        <p:spPr>
          <a:xfrm>
            <a:off x="9966960" y="2962656"/>
            <a:ext cx="1371600" cy="256032"/>
          </a:xfrm>
          <a:prstGeom prst="rect">
            <a:avLst/>
          </a:prstGeom>
          <a:noFill/>
        </p:spPr>
        <p:txBody>
          <a:bodyPr wrap="square" anchor="t" lIns="0" rIns="0" tIns="0" bIns="0">
            <a:spAutoFit/>
          </a:bodyPr>
          <a:lstStyle/>
          <a:p>
            <a:pPr algn="r"/>
            <a:r>
              <a:rPr sz="1150" b="1" i="0">
                <a:solidFill>
                  <a:srgbClr val="34D399"/>
                </a:solidFill>
                <a:latin typeface="Calibri"/>
              </a:rPr>
              <a:t>BUILT</a:t>
            </a:r>
          </a:p>
        </p:txBody>
      </p:sp>
      <p:sp>
        <p:nvSpPr>
          <p:cNvPr id="16" name="Rounded Rectangle 15"/>
          <p:cNvSpPr/>
          <p:nvPr/>
        </p:nvSpPr>
        <p:spPr>
          <a:xfrm>
            <a:off x="548640" y="3419856"/>
            <a:ext cx="11064240" cy="51206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557016"/>
            <a:ext cx="2560320" cy="256032"/>
          </a:xfrm>
          <a:prstGeom prst="rect">
            <a:avLst/>
          </a:prstGeom>
          <a:noFill/>
        </p:spPr>
        <p:txBody>
          <a:bodyPr wrap="square" anchor="t" lIns="0" rIns="0" tIns="0" bIns="0">
            <a:spAutoFit/>
          </a:bodyPr>
          <a:lstStyle/>
          <a:p>
            <a:pPr algn="l"/>
            <a:r>
              <a:rPr sz="1300" b="1" i="0">
                <a:solidFill>
                  <a:srgbClr val="EEF2F7"/>
                </a:solidFill>
                <a:latin typeface="Calibri"/>
              </a:rPr>
              <a:t>Agent Registry</a:t>
            </a:r>
          </a:p>
        </p:txBody>
      </p:sp>
      <p:sp>
        <p:nvSpPr>
          <p:cNvPr id="18" name="TextBox 17"/>
          <p:cNvSpPr txBox="1"/>
          <p:nvPr/>
        </p:nvSpPr>
        <p:spPr>
          <a:xfrm>
            <a:off x="3429000" y="3566160"/>
            <a:ext cx="6492240" cy="256032"/>
          </a:xfrm>
          <a:prstGeom prst="rect">
            <a:avLst/>
          </a:prstGeom>
          <a:noFill/>
        </p:spPr>
        <p:txBody>
          <a:bodyPr wrap="square" anchor="t" lIns="0" rIns="0" tIns="0" bIns="0">
            <a:spAutoFit/>
          </a:bodyPr>
          <a:lstStyle/>
          <a:p>
            <a:pPr algn="l"/>
            <a:r>
              <a:rPr sz="1150" b="0" i="0">
                <a:solidFill>
                  <a:srgbClr val="9AA8BA"/>
                </a:solidFill>
                <a:latin typeface="Calibri"/>
              </a:rPr>
              <a:t>Contract, version, owner, guardrails and data scope per agent</a:t>
            </a:r>
          </a:p>
        </p:txBody>
      </p:sp>
      <p:sp>
        <p:nvSpPr>
          <p:cNvPr id="19" name="TextBox 18"/>
          <p:cNvSpPr txBox="1"/>
          <p:nvPr/>
        </p:nvSpPr>
        <p:spPr>
          <a:xfrm>
            <a:off x="9966960" y="3566160"/>
            <a:ext cx="1371600" cy="256032"/>
          </a:xfrm>
          <a:prstGeom prst="rect">
            <a:avLst/>
          </a:prstGeom>
          <a:noFill/>
        </p:spPr>
        <p:txBody>
          <a:bodyPr wrap="square" anchor="t" lIns="0" rIns="0" tIns="0" bIns="0">
            <a:spAutoFit/>
          </a:bodyPr>
          <a:lstStyle/>
          <a:p>
            <a:pPr algn="r"/>
            <a:r>
              <a:rPr sz="1150" b="1" i="0">
                <a:solidFill>
                  <a:srgbClr val="34D399"/>
                </a:solidFill>
                <a:latin typeface="Calibri"/>
              </a:rPr>
              <a:t>BUILT</a:t>
            </a:r>
          </a:p>
        </p:txBody>
      </p:sp>
      <p:sp>
        <p:nvSpPr>
          <p:cNvPr id="20" name="Rounded Rectangle 19"/>
          <p:cNvSpPr/>
          <p:nvPr/>
        </p:nvSpPr>
        <p:spPr>
          <a:xfrm>
            <a:off x="548640" y="4023360"/>
            <a:ext cx="11064240" cy="51206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60" y="4160520"/>
            <a:ext cx="2560320" cy="256032"/>
          </a:xfrm>
          <a:prstGeom prst="rect">
            <a:avLst/>
          </a:prstGeom>
          <a:noFill/>
        </p:spPr>
        <p:txBody>
          <a:bodyPr wrap="square" anchor="t" lIns="0" rIns="0" tIns="0" bIns="0">
            <a:spAutoFit/>
          </a:bodyPr>
          <a:lstStyle/>
          <a:p>
            <a:pPr algn="l"/>
            <a:r>
              <a:rPr sz="1300" b="1" i="0">
                <a:solidFill>
                  <a:srgbClr val="EEF2F7"/>
                </a:solidFill>
                <a:latin typeface="Calibri"/>
              </a:rPr>
              <a:t>Memory Bank</a:t>
            </a:r>
          </a:p>
        </p:txBody>
      </p:sp>
      <p:sp>
        <p:nvSpPr>
          <p:cNvPr id="22" name="TextBox 21"/>
          <p:cNvSpPr txBox="1"/>
          <p:nvPr/>
        </p:nvSpPr>
        <p:spPr>
          <a:xfrm>
            <a:off x="3429000" y="4169664"/>
            <a:ext cx="6492240" cy="256032"/>
          </a:xfrm>
          <a:prstGeom prst="rect">
            <a:avLst/>
          </a:prstGeom>
          <a:noFill/>
        </p:spPr>
        <p:txBody>
          <a:bodyPr wrap="square" anchor="t" lIns="0" rIns="0" tIns="0" bIns="0">
            <a:spAutoFit/>
          </a:bodyPr>
          <a:lstStyle/>
          <a:p>
            <a:pPr algn="l"/>
            <a:r>
              <a:rPr sz="1150" b="0" i="0">
                <a:solidFill>
                  <a:srgbClr val="9AA8BA"/>
                </a:solidFill>
                <a:latin typeface="Calibri"/>
              </a:rPr>
              <a:t>Precedent recalled before reconciling, written back afterwards</a:t>
            </a:r>
          </a:p>
        </p:txBody>
      </p:sp>
      <p:sp>
        <p:nvSpPr>
          <p:cNvPr id="23" name="TextBox 22"/>
          <p:cNvSpPr txBox="1"/>
          <p:nvPr/>
        </p:nvSpPr>
        <p:spPr>
          <a:xfrm>
            <a:off x="9966960" y="4169664"/>
            <a:ext cx="1371600" cy="256032"/>
          </a:xfrm>
          <a:prstGeom prst="rect">
            <a:avLst/>
          </a:prstGeom>
          <a:noFill/>
        </p:spPr>
        <p:txBody>
          <a:bodyPr wrap="square" anchor="t" lIns="0" rIns="0" tIns="0" bIns="0">
            <a:spAutoFit/>
          </a:bodyPr>
          <a:lstStyle/>
          <a:p>
            <a:pPr algn="r"/>
            <a:r>
              <a:rPr sz="1150" b="1" i="0">
                <a:solidFill>
                  <a:srgbClr val="34D399"/>
                </a:solidFill>
                <a:latin typeface="Calibri"/>
              </a:rPr>
              <a:t>BUILT</a:t>
            </a:r>
          </a:p>
        </p:txBody>
      </p:sp>
      <p:sp>
        <p:nvSpPr>
          <p:cNvPr id="24" name="Rounded Rectangle 23"/>
          <p:cNvSpPr/>
          <p:nvPr/>
        </p:nvSpPr>
        <p:spPr>
          <a:xfrm>
            <a:off x="548640" y="4626864"/>
            <a:ext cx="11064240" cy="512064"/>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2960" y="4764024"/>
            <a:ext cx="2560320" cy="256032"/>
          </a:xfrm>
          <a:prstGeom prst="rect">
            <a:avLst/>
          </a:prstGeom>
          <a:noFill/>
        </p:spPr>
        <p:txBody>
          <a:bodyPr wrap="square" anchor="t" lIns="0" rIns="0" tIns="0" bIns="0">
            <a:spAutoFit/>
          </a:bodyPr>
          <a:lstStyle/>
          <a:p>
            <a:pPr algn="l"/>
            <a:r>
              <a:rPr sz="1300" b="1" i="0">
                <a:solidFill>
                  <a:srgbClr val="EEF2F7"/>
                </a:solidFill>
                <a:latin typeface="Calibri"/>
              </a:rPr>
              <a:t>Agent Observability</a:t>
            </a:r>
          </a:p>
        </p:txBody>
      </p:sp>
      <p:sp>
        <p:nvSpPr>
          <p:cNvPr id="26" name="TextBox 25"/>
          <p:cNvSpPr txBox="1"/>
          <p:nvPr/>
        </p:nvSpPr>
        <p:spPr>
          <a:xfrm>
            <a:off x="3429000" y="4773168"/>
            <a:ext cx="6492240" cy="256032"/>
          </a:xfrm>
          <a:prstGeom prst="rect">
            <a:avLst/>
          </a:prstGeom>
          <a:noFill/>
        </p:spPr>
        <p:txBody>
          <a:bodyPr wrap="square" anchor="t" lIns="0" rIns="0" tIns="0" bIns="0">
            <a:spAutoFit/>
          </a:bodyPr>
          <a:lstStyle/>
          <a:p>
            <a:pPr algn="l"/>
            <a:r>
              <a:rPr sz="1150" b="0" i="0">
                <a:solidFill>
                  <a:srgbClr val="9AA8BA"/>
                </a:solidFill>
                <a:latin typeface="Calibri"/>
              </a:rPr>
              <a:t>Correlation id through every agent, full reasoning chain kept</a:t>
            </a:r>
          </a:p>
        </p:txBody>
      </p:sp>
      <p:sp>
        <p:nvSpPr>
          <p:cNvPr id="27" name="TextBox 26"/>
          <p:cNvSpPr txBox="1"/>
          <p:nvPr/>
        </p:nvSpPr>
        <p:spPr>
          <a:xfrm>
            <a:off x="9966960" y="4773168"/>
            <a:ext cx="1371600" cy="256032"/>
          </a:xfrm>
          <a:prstGeom prst="rect">
            <a:avLst/>
          </a:prstGeom>
          <a:noFill/>
        </p:spPr>
        <p:txBody>
          <a:bodyPr wrap="square" anchor="t" lIns="0" rIns="0" tIns="0" bIns="0">
            <a:spAutoFit/>
          </a:bodyPr>
          <a:lstStyle/>
          <a:p>
            <a:pPr algn="r"/>
            <a:r>
              <a:rPr sz="1150" b="1" i="0">
                <a:solidFill>
                  <a:srgbClr val="34D399"/>
                </a:solidFill>
                <a:latin typeface="Calibri"/>
              </a:rPr>
              <a:t>BUILT</a:t>
            </a:r>
          </a:p>
        </p:txBody>
      </p:sp>
      <p:sp>
        <p:nvSpPr>
          <p:cNvPr id="28" name="Rounded Rectangle 27"/>
          <p:cNvSpPr/>
          <p:nvPr/>
        </p:nvSpPr>
        <p:spPr>
          <a:xfrm>
            <a:off x="548640" y="5230368"/>
            <a:ext cx="11064240" cy="512064"/>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2960" y="5367528"/>
            <a:ext cx="2560320" cy="256032"/>
          </a:xfrm>
          <a:prstGeom prst="rect">
            <a:avLst/>
          </a:prstGeom>
          <a:noFill/>
        </p:spPr>
        <p:txBody>
          <a:bodyPr wrap="square" anchor="t" lIns="0" rIns="0" tIns="0" bIns="0">
            <a:spAutoFit/>
          </a:bodyPr>
          <a:lstStyle/>
          <a:p>
            <a:pPr algn="l"/>
            <a:r>
              <a:rPr sz="1300" b="1" i="0">
                <a:solidFill>
                  <a:srgbClr val="EEF2F7"/>
                </a:solidFill>
                <a:latin typeface="Calibri"/>
              </a:rPr>
              <a:t>Agent Runtime</a:t>
            </a:r>
          </a:p>
        </p:txBody>
      </p:sp>
      <p:sp>
        <p:nvSpPr>
          <p:cNvPr id="30" name="TextBox 29"/>
          <p:cNvSpPr txBox="1"/>
          <p:nvPr/>
        </p:nvSpPr>
        <p:spPr>
          <a:xfrm>
            <a:off x="3429000" y="5376672"/>
            <a:ext cx="6492240" cy="256032"/>
          </a:xfrm>
          <a:prstGeom prst="rect">
            <a:avLst/>
          </a:prstGeom>
          <a:noFill/>
        </p:spPr>
        <p:txBody>
          <a:bodyPr wrap="square" anchor="t" lIns="0" rIns="0" tIns="0" bIns="0">
            <a:spAutoFit/>
          </a:bodyPr>
          <a:lstStyle/>
          <a:p>
            <a:pPr algn="l"/>
            <a:r>
              <a:rPr sz="1150" b="0" i="0">
                <a:solidFill>
                  <a:srgbClr val="9AA8BA"/>
                </a:solidFill>
                <a:latin typeface="Calibri"/>
              </a:rPr>
              <a:t>Cloud Run with per-agent identity, but delivery is synchronous</a:t>
            </a:r>
          </a:p>
        </p:txBody>
      </p:sp>
      <p:sp>
        <p:nvSpPr>
          <p:cNvPr id="31" name="TextBox 30"/>
          <p:cNvSpPr txBox="1"/>
          <p:nvPr/>
        </p:nvSpPr>
        <p:spPr>
          <a:xfrm>
            <a:off x="9966960" y="5376672"/>
            <a:ext cx="1371600" cy="256032"/>
          </a:xfrm>
          <a:prstGeom prst="rect">
            <a:avLst/>
          </a:prstGeom>
          <a:noFill/>
        </p:spPr>
        <p:txBody>
          <a:bodyPr wrap="square" anchor="t" lIns="0" rIns="0" tIns="0" bIns="0">
            <a:spAutoFit/>
          </a:bodyPr>
          <a:lstStyle/>
          <a:p>
            <a:pPr algn="r"/>
            <a:r>
              <a:rPr sz="1150" b="1" i="0">
                <a:solidFill>
                  <a:srgbClr val="FBBF24"/>
                </a:solidFill>
                <a:latin typeface="Calibri"/>
              </a:rPr>
              <a:t>PARTIAL</a:t>
            </a:r>
          </a:p>
        </p:txBody>
      </p:sp>
      <p:sp>
        <p:nvSpPr>
          <p:cNvPr id="32" name="TextBox 31"/>
          <p:cNvSpPr txBox="1"/>
          <p:nvPr/>
        </p:nvSpPr>
        <p:spPr>
          <a:xfrm>
            <a:off x="548640" y="5888736"/>
            <a:ext cx="11064240" cy="402336"/>
          </a:xfrm>
          <a:prstGeom prst="rect">
            <a:avLst/>
          </a:prstGeom>
          <a:noFill/>
        </p:spPr>
        <p:txBody>
          <a:bodyPr wrap="square" anchor="t" lIns="0" rIns="0" tIns="0" bIns="0">
            <a:spAutoFit/>
          </a:bodyPr>
          <a:lstStyle/>
          <a:p>
            <a:pPr algn="l"/>
            <a:r>
              <a:rPr sz="1200" b="0" i="0">
                <a:solidFill>
                  <a:srgbClr val="6B7A8D"/>
                </a:solidFill>
                <a:latin typeface="Calibri"/>
              </a:rPr>
              <a:t>Each capability is built on Google Cloud primitives rather than adopted as a managed product. The behaviour is real and checkable, but it is our implementation, and this deck says so.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548640" y="457200"/>
            <a:ext cx="11064240" cy="585216"/>
          </a:xfrm>
          <a:prstGeom prst="rect">
            <a:avLst/>
          </a:prstGeom>
          <a:noFill/>
        </p:spPr>
        <p:txBody>
          <a:bodyPr wrap="square" anchor="t" lIns="0" rIns="0" tIns="0" bIns="0">
            <a:spAutoFit/>
          </a:bodyPr>
          <a:lstStyle/>
          <a:p>
            <a:pPr algn="l"/>
            <a:r>
              <a:rPr sz="2900" b="1" i="0">
                <a:solidFill>
                  <a:srgbClr val="EEF2F7"/>
                </a:solidFill>
                <a:latin typeface="Arial"/>
              </a:rPr>
              <a:t>Limits, and what comes next</a:t>
            </a:r>
          </a:p>
        </p:txBody>
      </p:sp>
      <p:sp>
        <p:nvSpPr>
          <p:cNvPr id="3" name="Rounded Rectangle 2"/>
          <p:cNvSpPr/>
          <p:nvPr/>
        </p:nvSpPr>
        <p:spPr>
          <a:xfrm>
            <a:off x="548640" y="1572768"/>
            <a:ext cx="5394960" cy="4114800"/>
          </a:xfrm>
          <a:prstGeom prst="roundRect">
            <a:avLst>
              <a:gd name="adj" fmla="val 6000"/>
            </a:avLst>
          </a:prstGeom>
          <a:solidFill>
            <a:srgbClr val="18202C"/>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773936"/>
            <a:ext cx="4754880" cy="274320"/>
          </a:xfrm>
          <a:prstGeom prst="rect">
            <a:avLst/>
          </a:prstGeom>
          <a:noFill/>
        </p:spPr>
        <p:txBody>
          <a:bodyPr wrap="square" anchor="t" lIns="0" rIns="0" tIns="0" bIns="0">
            <a:spAutoFit/>
          </a:bodyPr>
          <a:lstStyle/>
          <a:p>
            <a:pPr algn="l"/>
            <a:r>
              <a:rPr sz="1200" b="0" i="0">
                <a:solidFill>
                  <a:srgbClr val="6B7A8D"/>
                </a:solidFill>
                <a:latin typeface="Calibri"/>
              </a:rPr>
              <a:t>Next</a:t>
            </a:r>
          </a:p>
        </p:txBody>
      </p:sp>
      <p:sp>
        <p:nvSpPr>
          <p:cNvPr id="5" name="TextBox 4"/>
          <p:cNvSpPr txBox="1"/>
          <p:nvPr/>
        </p:nvSpPr>
        <p:spPr>
          <a:xfrm>
            <a:off x="868680" y="2139696"/>
            <a:ext cx="4754880" cy="274320"/>
          </a:xfrm>
          <a:prstGeom prst="rect">
            <a:avLst/>
          </a:prstGeom>
          <a:noFill/>
        </p:spPr>
        <p:txBody>
          <a:bodyPr wrap="square" anchor="t" lIns="0" rIns="0" tIns="0" bIns="0">
            <a:spAutoFit/>
          </a:bodyPr>
          <a:lstStyle/>
          <a:p>
            <a:pPr algn="l"/>
            <a:r>
              <a:rPr sz="1350" b="1" i="0">
                <a:solidFill>
                  <a:srgbClr val="4DD6FF"/>
                </a:solidFill>
                <a:latin typeface="Calibri"/>
              </a:rPr>
              <a:t>A read-only capacity audit</a:t>
            </a:r>
          </a:p>
        </p:txBody>
      </p:sp>
      <p:sp>
        <p:nvSpPr>
          <p:cNvPr id="6" name="TextBox 5"/>
          <p:cNvSpPr txBox="1"/>
          <p:nvPr/>
        </p:nvSpPr>
        <p:spPr>
          <a:xfrm>
            <a:off x="868680" y="2432303"/>
            <a:ext cx="4754880" cy="804672"/>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Point it at a DCIM export and report the megawatts a site has paid for and cannot use. No integration risk, and it earns the right to be in the decision loop later.</a:t>
            </a:r>
          </a:p>
        </p:txBody>
      </p:sp>
      <p:sp>
        <p:nvSpPr>
          <p:cNvPr id="7" name="TextBox 6"/>
          <p:cNvSpPr txBox="1"/>
          <p:nvPr/>
        </p:nvSpPr>
        <p:spPr>
          <a:xfrm>
            <a:off x="868680" y="3310128"/>
            <a:ext cx="4754880" cy="274320"/>
          </a:xfrm>
          <a:prstGeom prst="rect">
            <a:avLst/>
          </a:prstGeom>
          <a:noFill/>
        </p:spPr>
        <p:txBody>
          <a:bodyPr wrap="square" anchor="t" lIns="0" rIns="0" tIns="0" bIns="0">
            <a:spAutoFit/>
          </a:bodyPr>
          <a:lstStyle/>
          <a:p>
            <a:pPr algn="l"/>
            <a:r>
              <a:rPr sz="1350" b="1" i="0">
                <a:solidFill>
                  <a:srgbClr val="4DD6FF"/>
                </a:solidFill>
                <a:latin typeface="Calibri"/>
              </a:rPr>
              <a:t>Durable async execution</a:t>
            </a:r>
          </a:p>
        </p:txBody>
      </p:sp>
      <p:sp>
        <p:nvSpPr>
          <p:cNvPr id="8" name="TextBox 7"/>
          <p:cNvSpPr txBox="1"/>
          <p:nvPr/>
        </p:nvSpPr>
        <p:spPr>
          <a:xfrm>
            <a:off x="868680" y="3602736"/>
            <a:ext cx="4754880" cy="804672"/>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Results are already durable, but delivery is still synchronous. Cloud Tasks closes the last gap.</a:t>
            </a:r>
          </a:p>
        </p:txBody>
      </p:sp>
      <p:sp>
        <p:nvSpPr>
          <p:cNvPr id="9" name="TextBox 8"/>
          <p:cNvSpPr txBox="1"/>
          <p:nvPr/>
        </p:nvSpPr>
        <p:spPr>
          <a:xfrm>
            <a:off x="868680" y="4480560"/>
            <a:ext cx="4754880" cy="274320"/>
          </a:xfrm>
          <a:prstGeom prst="rect">
            <a:avLst/>
          </a:prstGeom>
          <a:noFill/>
        </p:spPr>
        <p:txBody>
          <a:bodyPr wrap="square" anchor="t" lIns="0" rIns="0" tIns="0" bIns="0">
            <a:spAutoFit/>
          </a:bodyPr>
          <a:lstStyle/>
          <a:p>
            <a:pPr algn="l"/>
            <a:r>
              <a:rPr sz="1350" b="1" i="0">
                <a:solidFill>
                  <a:srgbClr val="4DD6FF"/>
                </a:solidFill>
                <a:latin typeface="Calibri"/>
              </a:rPr>
              <a:t>A solver under the reasoning</a:t>
            </a:r>
          </a:p>
        </p:txBody>
      </p:sp>
      <p:sp>
        <p:nvSpPr>
          <p:cNvPr id="10" name="TextBox 9"/>
          <p:cNvSpPr txBox="1"/>
          <p:nvPr/>
        </p:nvSpPr>
        <p:spPr>
          <a:xfrm>
            <a:off x="868680" y="4773168"/>
            <a:ext cx="4754880" cy="804672"/>
          </a:xfrm>
          <a:prstGeom prst="rect">
            <a:avLst/>
          </a:prstGeom>
          <a:noFill/>
        </p:spPr>
        <p:txBody>
          <a:bodyPr wrap="square" anchor="t" lIns="0" rIns="0" tIns="0" bIns="0">
            <a:spAutoFit/>
          </a:bodyPr>
          <a:lstStyle/>
          <a:p>
            <a:pPr algn="l">
              <a:lnSpc>
                <a:spcPts val="1600"/>
              </a:lnSpc>
            </a:pPr>
            <a:r>
              <a:rPr sz="1150" b="0" i="0">
                <a:solidFill>
                  <a:srgbClr val="9AA8BA"/>
                </a:solidFill>
                <a:latin typeface="Calibri"/>
              </a:rPr>
              <a:t>Comparing 792 kW against 3,053 kW is arithmetic. The model earns its place on interpretation and negotiation, not on the maths.</a:t>
            </a:r>
          </a:p>
        </p:txBody>
      </p:sp>
      <p:sp>
        <p:nvSpPr>
          <p:cNvPr id="11" name="Rounded Rectangle 10"/>
          <p:cNvSpPr/>
          <p:nvPr/>
        </p:nvSpPr>
        <p:spPr>
          <a:xfrm>
            <a:off x="6217920" y="1572768"/>
            <a:ext cx="5394960" cy="4114800"/>
          </a:xfrm>
          <a:prstGeom prst="roundRect">
            <a:avLst>
              <a:gd name="adj" fmla="val 6000"/>
            </a:avLst>
          </a:prstGeom>
          <a:solidFill>
            <a:srgbClr val="1E2735"/>
          </a:solidFill>
          <a:ln w="12700">
            <a:solidFill>
              <a:srgbClr val="2A35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37960" y="1773936"/>
            <a:ext cx="4754880" cy="274320"/>
          </a:xfrm>
          <a:prstGeom prst="rect">
            <a:avLst/>
          </a:prstGeom>
          <a:noFill/>
        </p:spPr>
        <p:txBody>
          <a:bodyPr wrap="square" anchor="t" lIns="0" rIns="0" tIns="0" bIns="0">
            <a:spAutoFit/>
          </a:bodyPr>
          <a:lstStyle/>
          <a:p>
            <a:pPr algn="l"/>
            <a:r>
              <a:rPr sz="1200" b="0" i="0">
                <a:solidFill>
                  <a:srgbClr val="6B7A8D"/>
                </a:solidFill>
                <a:latin typeface="Calibri"/>
              </a:rPr>
              <a:t>Stated plainly</a:t>
            </a:r>
          </a:p>
        </p:txBody>
      </p:sp>
      <p:sp>
        <p:nvSpPr>
          <p:cNvPr id="13" name="TextBox 12"/>
          <p:cNvSpPr txBox="1"/>
          <p:nvPr/>
        </p:nvSpPr>
        <p:spPr>
          <a:xfrm>
            <a:off x="6537960" y="2139696"/>
            <a:ext cx="4754880" cy="274320"/>
          </a:xfrm>
          <a:prstGeom prst="rect">
            <a:avLst/>
          </a:prstGeom>
          <a:noFill/>
        </p:spPr>
        <p:txBody>
          <a:bodyPr wrap="square" anchor="t" lIns="0" rIns="0" tIns="0" bIns="0">
            <a:spAutoFit/>
          </a:bodyPr>
          <a:lstStyle/>
          <a:p>
            <a:pPr algn="l"/>
            <a:r>
              <a:rPr sz="1400" b="1" i="0">
                <a:solidFill>
                  <a:srgbClr val="FBBF24"/>
                </a:solidFill>
                <a:latin typeface="Calibri"/>
              </a:rPr>
              <a:t>The facility is simulated.</a:t>
            </a:r>
          </a:p>
        </p:txBody>
      </p:sp>
      <p:sp>
        <p:nvSpPr>
          <p:cNvPr id="14" name="TextBox 13"/>
          <p:cNvSpPr txBox="1"/>
          <p:nvPr/>
        </p:nvSpPr>
        <p:spPr>
          <a:xfrm>
            <a:off x="6537960" y="2505456"/>
            <a:ext cx="4754880" cy="2103120"/>
          </a:xfrm>
          <a:prstGeom prst="rect">
            <a:avLst/>
          </a:prstGeom>
          <a:noFill/>
        </p:spPr>
        <p:txBody>
          <a:bodyPr wrap="square" anchor="t" lIns="0" rIns="0" tIns="0" bIns="0">
            <a:spAutoFit/>
          </a:bodyPr>
          <a:lstStyle/>
          <a:p>
            <a:pPr algn="l">
              <a:lnSpc>
                <a:spcPts val="1800"/>
              </a:lnSpc>
            </a:pPr>
            <a:r>
              <a:rPr sz="1200" b="0" i="0">
                <a:solidFill>
                  <a:srgbClr val="9AA8BA"/>
                </a:solidFill>
                <a:latin typeface="Calibri"/>
              </a:rPr>
              <a:t>The agents, the infrastructure, the isolation and every denial shown are real. The data center is not. It is generated from published engineering figures, physically consistent, and reproducible from a fixed seed.</a:t>
            </a:r>
          </a:p>
          <a:p>
            <a:pPr algn="l">
              <a:lnSpc>
                <a:spcPts val="1800"/>
              </a:lnSpc>
            </a:pPr>
            <a:r>
              <a:rPr sz="1200" b="0" i="0">
                <a:solidFill>
                  <a:srgbClr val="9AA8BA"/>
                </a:solidFill>
                <a:latin typeface="Calibri"/>
              </a:rPr>
              <a:t/>
            </a:r>
          </a:p>
          <a:p>
            <a:pPr algn="l">
              <a:lnSpc>
                <a:spcPts val="1800"/>
              </a:lnSpc>
            </a:pPr>
            <a:r>
              <a:rPr sz="1200" b="0" i="0">
                <a:solidFill>
                  <a:srgbClr val="9AA8BA"/>
                </a:solidFill>
                <a:latin typeface="Calibri"/>
              </a:rPr>
              <a:t>How these decisions actually get made inside an operations team is something we would need to learn by shadowing one, not by writing a seed file. That is the honest boundary of what we built.</a:t>
            </a:r>
          </a:p>
        </p:txBody>
      </p:sp>
      <p:sp>
        <p:nvSpPr>
          <p:cNvPr id="15" name="TextBox 14"/>
          <p:cNvSpPr txBox="1"/>
          <p:nvPr/>
        </p:nvSpPr>
        <p:spPr>
          <a:xfrm>
            <a:off x="6537960" y="4956048"/>
            <a:ext cx="4754880" cy="640080"/>
          </a:xfrm>
          <a:prstGeom prst="rect">
            <a:avLst/>
          </a:prstGeom>
          <a:noFill/>
        </p:spPr>
        <p:txBody>
          <a:bodyPr wrap="square" anchor="t" lIns="0" rIns="0" tIns="0" bIns="0">
            <a:spAutoFit/>
          </a:bodyPr>
          <a:lstStyle/>
          <a:p>
            <a:pPr algn="l">
              <a:lnSpc>
                <a:spcPts val="1700"/>
              </a:lnSpc>
            </a:pPr>
            <a:r>
              <a:rPr sz="1200" b="1" i="0">
                <a:solidFill>
                  <a:srgbClr val="34D399"/>
                </a:solidFill>
                <a:latin typeface="Calibri"/>
              </a:rPr>
              <a:t>What is real: 21 security checks, 7 deployed services, and every decision auditable.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319"/>
        </a:solidFill>
        <a:effectLst/>
      </p:bgPr>
    </p:bg>
    <p:spTree>
      <p:nvGrpSpPr>
        <p:cNvPr id="1" name=""/>
        <p:cNvGrpSpPr/>
        <p:nvPr/>
      </p:nvGrpSpPr>
      <p:grpSpPr/>
      <p:sp>
        <p:nvSpPr>
          <p:cNvPr id="2" name="TextBox 1"/>
          <p:cNvSpPr txBox="1"/>
          <p:nvPr/>
        </p:nvSpPr>
        <p:spPr>
          <a:xfrm>
            <a:off x="822960" y="2103120"/>
            <a:ext cx="10515600" cy="1280160"/>
          </a:xfrm>
          <a:prstGeom prst="rect">
            <a:avLst/>
          </a:prstGeom>
          <a:noFill/>
        </p:spPr>
        <p:txBody>
          <a:bodyPr wrap="square" anchor="t" lIns="0" rIns="0" tIns="0" bIns="0">
            <a:spAutoFit/>
          </a:bodyPr>
          <a:lstStyle/>
          <a:p>
            <a:pPr algn="l">
              <a:lnSpc>
                <a:spcPts val="4200"/>
              </a:lnSpc>
            </a:pPr>
            <a:r>
              <a:rPr sz="2900" b="1" i="0">
                <a:solidFill>
                  <a:srgbClr val="EEF2F7"/>
                </a:solidFill>
                <a:latin typeface="Arial"/>
              </a:rPr>
              <a:t>Four correct answers still add up to nothing</a:t>
            </a:r>
          </a:p>
          <a:p>
            <a:pPr algn="l">
              <a:lnSpc>
                <a:spcPts val="4200"/>
              </a:lnSpc>
            </a:pPr>
            <a:r>
              <a:rPr sz="2900" b="1" i="0">
                <a:solidFill>
                  <a:srgbClr val="EEF2F7"/>
                </a:solidFill>
                <a:latin typeface="Arial"/>
              </a:rPr>
              <a:t>unless something checks them together.</a:t>
            </a:r>
          </a:p>
        </p:txBody>
      </p:sp>
      <p:sp>
        <p:nvSpPr>
          <p:cNvPr id="3" name="TextBox 2"/>
          <p:cNvSpPr txBox="1"/>
          <p:nvPr/>
        </p:nvSpPr>
        <p:spPr>
          <a:xfrm>
            <a:off x="868680" y="3611880"/>
            <a:ext cx="10424160" cy="365760"/>
          </a:xfrm>
          <a:prstGeom prst="rect">
            <a:avLst/>
          </a:prstGeom>
          <a:noFill/>
        </p:spPr>
        <p:txBody>
          <a:bodyPr wrap="square" anchor="t" lIns="0" rIns="0" tIns="0" bIns="0">
            <a:spAutoFit/>
          </a:bodyPr>
          <a:lstStyle/>
          <a:p>
            <a:pPr algn="l"/>
            <a:r>
              <a:rPr sz="1600" b="0" i="0">
                <a:solidFill>
                  <a:srgbClr val="4DD6FF"/>
                </a:solidFill>
                <a:latin typeface="Calibri"/>
              </a:rPr>
              <a:t>GridMind, capacity planning for high-density data centers</a:t>
            </a:r>
          </a:p>
        </p:txBody>
      </p:sp>
      <p:sp>
        <p:nvSpPr>
          <p:cNvPr id="4" name="TextBox 3"/>
          <p:cNvSpPr txBox="1"/>
          <p:nvPr/>
        </p:nvSpPr>
        <p:spPr>
          <a:xfrm>
            <a:off x="822960" y="4526280"/>
            <a:ext cx="3383280" cy="256032"/>
          </a:xfrm>
          <a:prstGeom prst="rect">
            <a:avLst/>
          </a:prstGeom>
          <a:noFill/>
        </p:spPr>
        <p:txBody>
          <a:bodyPr wrap="square" anchor="t" lIns="0" rIns="0" tIns="0" bIns="0">
            <a:spAutoFit/>
          </a:bodyPr>
          <a:lstStyle/>
          <a:p>
            <a:pPr algn="l"/>
            <a:r>
              <a:rPr sz="1100" b="0" i="0">
                <a:solidFill>
                  <a:srgbClr val="6B7A8D"/>
                </a:solidFill>
                <a:latin typeface="Calibri"/>
              </a:rPr>
              <a:t>Live</a:t>
            </a:r>
          </a:p>
        </p:txBody>
      </p:sp>
      <p:sp>
        <p:nvSpPr>
          <p:cNvPr id="5" name="TextBox 4"/>
          <p:cNvSpPr txBox="1"/>
          <p:nvPr/>
        </p:nvSpPr>
        <p:spPr>
          <a:xfrm>
            <a:off x="822960" y="4773168"/>
            <a:ext cx="3474720" cy="292608"/>
          </a:xfrm>
          <a:prstGeom prst="rect">
            <a:avLst/>
          </a:prstGeom>
          <a:noFill/>
        </p:spPr>
        <p:txBody>
          <a:bodyPr wrap="square" anchor="t" lIns="0" rIns="0" tIns="0" bIns="0">
            <a:spAutoFit/>
          </a:bodyPr>
          <a:lstStyle/>
          <a:p>
            <a:pPr algn="l"/>
            <a:r>
              <a:rPr sz="1300" b="1" i="0">
                <a:solidFill>
                  <a:srgbClr val="EEF2F7"/>
                </a:solidFill>
                <a:latin typeface="Calibri"/>
              </a:rPr>
              <a:t>gridmind-wuvfpvopoq-uk.a.run.app</a:t>
            </a:r>
          </a:p>
        </p:txBody>
      </p:sp>
      <p:sp>
        <p:nvSpPr>
          <p:cNvPr id="6" name="TextBox 5"/>
          <p:cNvSpPr txBox="1"/>
          <p:nvPr/>
        </p:nvSpPr>
        <p:spPr>
          <a:xfrm>
            <a:off x="4480560" y="4526280"/>
            <a:ext cx="3383280" cy="256032"/>
          </a:xfrm>
          <a:prstGeom prst="rect">
            <a:avLst/>
          </a:prstGeom>
          <a:noFill/>
        </p:spPr>
        <p:txBody>
          <a:bodyPr wrap="square" anchor="t" lIns="0" rIns="0" tIns="0" bIns="0">
            <a:spAutoFit/>
          </a:bodyPr>
          <a:lstStyle/>
          <a:p>
            <a:pPr algn="l"/>
            <a:r>
              <a:rPr sz="1100" b="0" i="0">
                <a:solidFill>
                  <a:srgbClr val="6B7A8D"/>
                </a:solidFill>
                <a:latin typeface="Calibri"/>
              </a:rPr>
              <a:t>Code</a:t>
            </a:r>
          </a:p>
        </p:txBody>
      </p:sp>
      <p:sp>
        <p:nvSpPr>
          <p:cNvPr id="7" name="TextBox 6"/>
          <p:cNvSpPr txBox="1"/>
          <p:nvPr/>
        </p:nvSpPr>
        <p:spPr>
          <a:xfrm>
            <a:off x="4480560" y="4773168"/>
            <a:ext cx="3474720" cy="292608"/>
          </a:xfrm>
          <a:prstGeom prst="rect">
            <a:avLst/>
          </a:prstGeom>
          <a:noFill/>
        </p:spPr>
        <p:txBody>
          <a:bodyPr wrap="square" anchor="t" lIns="0" rIns="0" tIns="0" bIns="0">
            <a:spAutoFit/>
          </a:bodyPr>
          <a:lstStyle/>
          <a:p>
            <a:pPr algn="l"/>
            <a:r>
              <a:rPr sz="1300" b="1" i="0">
                <a:solidFill>
                  <a:srgbClr val="EEF2F7"/>
                </a:solidFill>
                <a:latin typeface="Calibri"/>
              </a:rPr>
              <a:t>github.com/PRACHIT27/GridMindAI</a:t>
            </a:r>
          </a:p>
        </p:txBody>
      </p:sp>
      <p:sp>
        <p:nvSpPr>
          <p:cNvPr id="8" name="TextBox 7"/>
          <p:cNvSpPr txBox="1"/>
          <p:nvPr/>
        </p:nvSpPr>
        <p:spPr>
          <a:xfrm>
            <a:off x="8138160" y="4526280"/>
            <a:ext cx="3383280" cy="256032"/>
          </a:xfrm>
          <a:prstGeom prst="rect">
            <a:avLst/>
          </a:prstGeom>
          <a:noFill/>
        </p:spPr>
        <p:txBody>
          <a:bodyPr wrap="square" anchor="t" lIns="0" rIns="0" tIns="0" bIns="0">
            <a:spAutoFit/>
          </a:bodyPr>
          <a:lstStyle/>
          <a:p>
            <a:pPr algn="l"/>
            <a:r>
              <a:rPr sz="1100" b="0" i="0">
                <a:solidFill>
                  <a:srgbClr val="6B7A8D"/>
                </a:solidFill>
                <a:latin typeface="Calibri"/>
              </a:rPr>
              <a:t>Track</a:t>
            </a:r>
          </a:p>
        </p:txBody>
      </p:sp>
      <p:sp>
        <p:nvSpPr>
          <p:cNvPr id="9" name="TextBox 8"/>
          <p:cNvSpPr txBox="1"/>
          <p:nvPr/>
        </p:nvSpPr>
        <p:spPr>
          <a:xfrm>
            <a:off x="8138160" y="4773168"/>
            <a:ext cx="3474720" cy="292608"/>
          </a:xfrm>
          <a:prstGeom prst="rect">
            <a:avLst/>
          </a:prstGeom>
          <a:noFill/>
        </p:spPr>
        <p:txBody>
          <a:bodyPr wrap="square" anchor="t" lIns="0" rIns="0" tIns="0" bIns="0">
            <a:spAutoFit/>
          </a:bodyPr>
          <a:lstStyle/>
          <a:p>
            <a:pPr algn="l"/>
            <a:r>
              <a:rPr sz="1300" b="1" i="0">
                <a:solidFill>
                  <a:srgbClr val="EEF2F7"/>
                </a:solidFill>
                <a:latin typeface="Calibri"/>
              </a:rPr>
              <a:t>The Fortified Enterprise Fleet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