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seconds. Name it, say the one line, move 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The failure is not that a team gets it wrong. All four can be right and still describe a plan nobody can build.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seconds. The defensibility line: nobody in the current process can compute the intersection of all four constraints, because no team can see outside its own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This is the whole product in one slide. Cue the live run 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Say the four zones out loud, then pause before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the most important slide. Left side is the protocol, right side is the result. The point to land: the answer was nobody's first choice.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Do not read the six boxes. Say the shape: the most exposed service holds the least privilege, everything else is off the internet, and each of those six is one sentence because the repo has the detail. The load-bearing one is data isolation: Firestore Security Rules are not evaluated for server-side Admin SDK access, so we used IAM conditions instead.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 seconds. Run at least one of the three commands live and unedited. Drawing the boundary ourselves buys credibility for everything else.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seconds. Close on the one 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319"/>
        </a:solidFill>
        <a:effectLst/>
      </p:bgPr>
    </p:bg>
    <p:spTree>
      <p:nvGrpSpPr>
        <p:cNvPr id="1" name=""/>
        <p:cNvGrpSpPr/>
        <p:nvPr/>
      </p:nvGrpSpPr>
      <p:grpSpPr/>
      <p:sp>
        <p:nvSpPr>
          <p:cNvPr id="2" name="TextBox 1"/>
          <p:cNvSpPr txBox="1"/>
          <p:nvPr/>
        </p:nvSpPr>
        <p:spPr>
          <a:xfrm>
            <a:off x="685800" y="1737360"/>
            <a:ext cx="7680960" cy="1051560"/>
          </a:xfrm>
          <a:prstGeom prst="rect">
            <a:avLst/>
          </a:prstGeom>
          <a:noFill/>
        </p:spPr>
        <p:txBody>
          <a:bodyPr wrap="square" anchor="t" lIns="0" rIns="0" tIns="0" bIns="0">
            <a:spAutoFit/>
          </a:bodyPr>
          <a:lstStyle/>
          <a:p>
            <a:pPr algn="l"/>
            <a:r>
              <a:rPr sz="6000" b="1">
                <a:solidFill>
                  <a:srgbClr val="EEF2F7"/>
                </a:solidFill>
                <a:latin typeface="Arial"/>
              </a:rPr>
              <a:t>GridMind</a:t>
            </a:r>
          </a:p>
        </p:txBody>
      </p:sp>
      <p:sp>
        <p:nvSpPr>
          <p:cNvPr id="3" name="TextBox 2"/>
          <p:cNvSpPr txBox="1"/>
          <p:nvPr/>
        </p:nvSpPr>
        <p:spPr>
          <a:xfrm>
            <a:off x="713232" y="2798064"/>
            <a:ext cx="7863840" cy="457200"/>
          </a:xfrm>
          <a:prstGeom prst="rect">
            <a:avLst/>
          </a:prstGeom>
          <a:noFill/>
        </p:spPr>
        <p:txBody>
          <a:bodyPr wrap="square" anchor="t" lIns="0" rIns="0" tIns="0" bIns="0">
            <a:spAutoFit/>
          </a:bodyPr>
          <a:lstStyle/>
          <a:p>
            <a:pPr algn="l"/>
            <a:r>
              <a:rPr sz="2100" b="0">
                <a:solidFill>
                  <a:srgbClr val="4DD6FF"/>
                </a:solidFill>
                <a:latin typeface="Calibri"/>
              </a:rPr>
              <a:t>Capacity planning for high-density data centers</a:t>
            </a:r>
          </a:p>
        </p:txBody>
      </p:sp>
      <p:sp>
        <p:nvSpPr>
          <p:cNvPr id="4" name="TextBox 3"/>
          <p:cNvSpPr txBox="1"/>
          <p:nvPr/>
        </p:nvSpPr>
        <p:spPr>
          <a:xfrm>
            <a:off x="713232" y="3419856"/>
            <a:ext cx="7589520" cy="1097280"/>
          </a:xfrm>
          <a:prstGeom prst="rect">
            <a:avLst/>
          </a:prstGeom>
          <a:noFill/>
        </p:spPr>
        <p:txBody>
          <a:bodyPr wrap="square" anchor="t" lIns="0" rIns="0" tIns="0" bIns="0">
            <a:spAutoFit/>
          </a:bodyPr>
          <a:lstStyle/>
          <a:p>
            <a:pPr algn="l">
              <a:lnSpc>
                <a:spcPts val="2100"/>
              </a:lnSpc>
            </a:pPr>
            <a:r>
              <a:rPr sz="1400" b="0">
                <a:solidFill>
                  <a:srgbClr val="9AA8BA"/>
                </a:solidFill>
                <a:latin typeface="Calibri"/>
              </a:rPr>
              <a:t>Every new workload has to clear power, cooling, floor space and budget before it can be placed. Today four teams check those four things separately, over several days. GridMind checks them together and returns a plan the site can actually build.</a:t>
            </a:r>
          </a:p>
        </p:txBody>
      </p:sp>
      <p:sp>
        <p:nvSpPr>
          <p:cNvPr id="5" name="Rounded Rectangle 4"/>
          <p:cNvSpPr/>
          <p:nvPr/>
        </p:nvSpPr>
        <p:spPr>
          <a:xfrm>
            <a:off x="8732520" y="1737360"/>
            <a:ext cx="2834640" cy="324612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9006840" y="1993392"/>
            <a:ext cx="2377440" cy="237744"/>
          </a:xfrm>
          <a:prstGeom prst="rect">
            <a:avLst/>
          </a:prstGeom>
          <a:noFill/>
        </p:spPr>
        <p:txBody>
          <a:bodyPr wrap="square" anchor="t" lIns="0" rIns="0" tIns="0" bIns="0">
            <a:spAutoFit/>
          </a:bodyPr>
          <a:lstStyle/>
          <a:p>
            <a:pPr algn="l"/>
            <a:r>
              <a:rPr sz="1050" b="0">
                <a:solidFill>
                  <a:srgbClr val="6B7A8D"/>
                </a:solidFill>
                <a:latin typeface="Calibri"/>
              </a:rPr>
              <a:t>Track</a:t>
            </a:r>
          </a:p>
        </p:txBody>
      </p:sp>
      <p:sp>
        <p:nvSpPr>
          <p:cNvPr id="7" name="TextBox 6"/>
          <p:cNvSpPr txBox="1"/>
          <p:nvPr/>
        </p:nvSpPr>
        <p:spPr>
          <a:xfrm>
            <a:off x="9006840" y="2221992"/>
            <a:ext cx="2377440" cy="621792"/>
          </a:xfrm>
          <a:prstGeom prst="rect">
            <a:avLst/>
          </a:prstGeom>
          <a:noFill/>
        </p:spPr>
        <p:txBody>
          <a:bodyPr wrap="square" anchor="t" lIns="0" rIns="0" tIns="0" bIns="0">
            <a:spAutoFit/>
          </a:bodyPr>
          <a:lstStyle/>
          <a:p>
            <a:pPr algn="l">
              <a:lnSpc>
                <a:spcPts val="1600"/>
              </a:lnSpc>
            </a:pPr>
            <a:r>
              <a:rPr sz="1300" b="1">
                <a:solidFill>
                  <a:srgbClr val="EEF2F7"/>
                </a:solidFill>
                <a:latin typeface="Arial"/>
              </a:rPr>
              <a:t>The Fortified</a:t>
            </a:r>
          </a:p>
          <a:p>
            <a:pPr algn="l">
              <a:lnSpc>
                <a:spcPts val="1600"/>
              </a:lnSpc>
            </a:pPr>
            <a:r>
              <a:rPr sz="1300" b="1">
                <a:solidFill>
                  <a:srgbClr val="EEF2F7"/>
                </a:solidFill>
                <a:latin typeface="Arial"/>
              </a:rPr>
              <a:t>Enterprise Fleet</a:t>
            </a:r>
          </a:p>
        </p:txBody>
      </p:sp>
      <p:sp>
        <p:nvSpPr>
          <p:cNvPr id="8" name="TextBox 7"/>
          <p:cNvSpPr txBox="1"/>
          <p:nvPr/>
        </p:nvSpPr>
        <p:spPr>
          <a:xfrm>
            <a:off x="9006840" y="2999232"/>
            <a:ext cx="2377440" cy="237744"/>
          </a:xfrm>
          <a:prstGeom prst="rect">
            <a:avLst/>
          </a:prstGeom>
          <a:noFill/>
        </p:spPr>
        <p:txBody>
          <a:bodyPr wrap="square" anchor="t" lIns="0" rIns="0" tIns="0" bIns="0">
            <a:spAutoFit/>
          </a:bodyPr>
          <a:lstStyle/>
          <a:p>
            <a:pPr algn="l"/>
            <a:r>
              <a:rPr sz="1050" b="0">
                <a:solidFill>
                  <a:srgbClr val="6B7A8D"/>
                </a:solidFill>
                <a:latin typeface="Calibri"/>
              </a:rPr>
              <a:t>Live</a:t>
            </a:r>
          </a:p>
        </p:txBody>
      </p:sp>
      <p:sp>
        <p:nvSpPr>
          <p:cNvPr id="9" name="TextBox 8"/>
          <p:cNvSpPr txBox="1"/>
          <p:nvPr/>
        </p:nvSpPr>
        <p:spPr>
          <a:xfrm>
            <a:off x="9006840" y="3227832"/>
            <a:ext cx="2377440" cy="621792"/>
          </a:xfrm>
          <a:prstGeom prst="rect">
            <a:avLst/>
          </a:prstGeom>
          <a:noFill/>
        </p:spPr>
        <p:txBody>
          <a:bodyPr wrap="square" anchor="t" lIns="0" rIns="0" tIns="0" bIns="0">
            <a:spAutoFit/>
          </a:bodyPr>
          <a:lstStyle/>
          <a:p>
            <a:pPr algn="l">
              <a:lnSpc>
                <a:spcPts val="1600"/>
              </a:lnSpc>
            </a:pPr>
            <a:r>
              <a:rPr sz="1150" b="0">
                <a:solidFill>
                  <a:srgbClr val="4DD6FF"/>
                </a:solidFill>
                <a:latin typeface="Calibri"/>
              </a:rPr>
              <a:t>gridmind-wuvfpvopoq</a:t>
            </a:r>
          </a:p>
          <a:p>
            <a:pPr algn="l">
              <a:lnSpc>
                <a:spcPts val="1600"/>
              </a:lnSpc>
            </a:pPr>
            <a:r>
              <a:rPr sz="1150" b="0">
                <a:solidFill>
                  <a:srgbClr val="4DD6FF"/>
                </a:solidFill>
                <a:latin typeface="Calibri"/>
              </a:rPr>
              <a:t>-uk.a.run.app</a:t>
            </a:r>
          </a:p>
        </p:txBody>
      </p:sp>
      <p:sp>
        <p:nvSpPr>
          <p:cNvPr id="10" name="TextBox 9"/>
          <p:cNvSpPr txBox="1"/>
          <p:nvPr/>
        </p:nvSpPr>
        <p:spPr>
          <a:xfrm>
            <a:off x="9006840" y="4005072"/>
            <a:ext cx="2377440" cy="237744"/>
          </a:xfrm>
          <a:prstGeom prst="rect">
            <a:avLst/>
          </a:prstGeom>
          <a:noFill/>
        </p:spPr>
        <p:txBody>
          <a:bodyPr wrap="square" anchor="t" lIns="0" rIns="0" tIns="0" bIns="0">
            <a:spAutoFit/>
          </a:bodyPr>
          <a:lstStyle/>
          <a:p>
            <a:pPr algn="l"/>
            <a:r>
              <a:rPr sz="1050" b="0">
                <a:solidFill>
                  <a:srgbClr val="6B7A8D"/>
                </a:solidFill>
                <a:latin typeface="Calibri"/>
              </a:rPr>
              <a:t>Built on</a:t>
            </a:r>
          </a:p>
        </p:txBody>
      </p:sp>
      <p:sp>
        <p:nvSpPr>
          <p:cNvPr id="11" name="TextBox 10"/>
          <p:cNvSpPr txBox="1"/>
          <p:nvPr/>
        </p:nvSpPr>
        <p:spPr>
          <a:xfrm>
            <a:off x="9006840" y="4233672"/>
            <a:ext cx="2377440" cy="621792"/>
          </a:xfrm>
          <a:prstGeom prst="rect">
            <a:avLst/>
          </a:prstGeom>
          <a:noFill/>
        </p:spPr>
        <p:txBody>
          <a:bodyPr wrap="square" anchor="t" lIns="0" rIns="0" tIns="0" bIns="0">
            <a:spAutoFit/>
          </a:bodyPr>
          <a:lstStyle/>
          <a:p>
            <a:pPr algn="l">
              <a:lnSpc>
                <a:spcPts val="1600"/>
              </a:lnSpc>
            </a:pPr>
            <a:r>
              <a:rPr sz="1150" b="0">
                <a:solidFill>
                  <a:srgbClr val="9AA8BA"/>
                </a:solidFill>
                <a:latin typeface="Calibri"/>
              </a:rPr>
              <a:t>Gemini 3.5 on Vertex AI</a:t>
            </a:r>
          </a:p>
          <a:p>
            <a:pPr algn="l">
              <a:lnSpc>
                <a:spcPts val="1600"/>
              </a:lnSpc>
            </a:pPr>
            <a:r>
              <a:rPr sz="1150" b="0">
                <a:solidFill>
                  <a:srgbClr val="9AA8BA"/>
                </a:solidFill>
                <a:latin typeface="Calibri"/>
              </a:rPr>
              <a:t>Cloud Run, Firestore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319"/>
        </a:solidFill>
        <a:effectLst/>
      </p:bgPr>
    </p:bg>
    <p:spTree>
      <p:nvGrpSpPr>
        <p:cNvPr id="1" name=""/>
        <p:cNvGrpSpPr/>
        <p:nvPr/>
      </p:nvGrpSpPr>
      <p:grpSpPr/>
      <p:sp>
        <p:nvSpPr>
          <p:cNvPr id="2" name="TextBox 1"/>
          <p:cNvSpPr txBox="1"/>
          <p:nvPr/>
        </p:nvSpPr>
        <p:spPr>
          <a:xfrm>
            <a:off x="548640" y="457200"/>
            <a:ext cx="11064240" cy="585216"/>
          </a:xfrm>
          <a:prstGeom prst="rect">
            <a:avLst/>
          </a:prstGeom>
          <a:noFill/>
        </p:spPr>
        <p:txBody>
          <a:bodyPr wrap="square" anchor="t" lIns="0" rIns="0" tIns="0" bIns="0">
            <a:spAutoFit/>
          </a:bodyPr>
          <a:lstStyle/>
          <a:p>
            <a:pPr algn="l"/>
            <a:r>
              <a:rPr sz="2900" b="1">
                <a:solidFill>
                  <a:srgbClr val="EEF2F7"/>
                </a:solidFill>
                <a:latin typeface="Arial"/>
              </a:rPr>
              <a:t>The problem</a:t>
            </a:r>
          </a:p>
        </p:txBody>
      </p:sp>
      <p:sp>
        <p:nvSpPr>
          <p:cNvPr id="3" name="TextBox 2"/>
          <p:cNvSpPr txBox="1"/>
          <p:nvPr/>
        </p:nvSpPr>
        <p:spPr>
          <a:xfrm>
            <a:off x="548640" y="1060704"/>
            <a:ext cx="11064240" cy="329184"/>
          </a:xfrm>
          <a:prstGeom prst="rect">
            <a:avLst/>
          </a:prstGeom>
          <a:noFill/>
        </p:spPr>
        <p:txBody>
          <a:bodyPr wrap="square" anchor="t" lIns="0" rIns="0" tIns="0" bIns="0">
            <a:spAutoFit/>
          </a:bodyPr>
          <a:lstStyle/>
          <a:p>
            <a:pPr algn="l"/>
            <a:r>
              <a:rPr sz="1400" b="0">
                <a:solidFill>
                  <a:srgbClr val="9AA8BA"/>
                </a:solidFill>
                <a:latin typeface="Calibri"/>
              </a:rPr>
              <a:t>Four teams, four inboxes, and nobody who checks the four answers together</a:t>
            </a:r>
          </a:p>
        </p:txBody>
      </p:sp>
      <p:sp>
        <p:nvSpPr>
          <p:cNvPr id="4" name="Rounded Rectangle 3"/>
          <p:cNvSpPr/>
          <p:nvPr/>
        </p:nvSpPr>
        <p:spPr>
          <a:xfrm>
            <a:off x="548640" y="1600200"/>
            <a:ext cx="5943600" cy="658368"/>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04672" y="1801368"/>
            <a:ext cx="256032" cy="256032"/>
          </a:xfrm>
          <a:prstGeom prst="ellipse">
            <a:avLst/>
          </a:prstGeom>
          <a:solidFill>
            <a:srgbClr val="4D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07008" y="1691640"/>
            <a:ext cx="2651760" cy="256032"/>
          </a:xfrm>
          <a:prstGeom prst="rect">
            <a:avLst/>
          </a:prstGeom>
          <a:noFill/>
        </p:spPr>
        <p:txBody>
          <a:bodyPr wrap="square" anchor="t" lIns="0" rIns="0" tIns="0" bIns="0">
            <a:spAutoFit/>
          </a:bodyPr>
          <a:lstStyle/>
          <a:p>
            <a:pPr algn="l"/>
            <a:r>
              <a:rPr sz="1350" b="1">
                <a:solidFill>
                  <a:srgbClr val="EEF2F7"/>
                </a:solidFill>
                <a:latin typeface="Calibri"/>
              </a:rPr>
              <a:t>Power engineering</a:t>
            </a:r>
          </a:p>
        </p:txBody>
      </p:sp>
      <p:sp>
        <p:nvSpPr>
          <p:cNvPr id="7" name="TextBox 6"/>
          <p:cNvSpPr txBox="1"/>
          <p:nvPr/>
        </p:nvSpPr>
        <p:spPr>
          <a:xfrm>
            <a:off x="1207008" y="1947672"/>
            <a:ext cx="4846320" cy="256032"/>
          </a:xfrm>
          <a:prstGeom prst="rect">
            <a:avLst/>
          </a:prstGeom>
          <a:noFill/>
        </p:spPr>
        <p:txBody>
          <a:bodyPr wrap="square" anchor="t" lIns="0" rIns="0" tIns="0" bIns="0">
            <a:spAutoFit/>
          </a:bodyPr>
          <a:lstStyle/>
          <a:p>
            <a:pPr algn="l"/>
            <a:r>
              <a:rPr sz="1150" b="0">
                <a:solidFill>
                  <a:srgbClr val="9AA8BA"/>
                </a:solidFill>
                <a:latin typeface="Calibri"/>
              </a:rPr>
              <a:t>breaker capacity, spare circuits, grid events</a:t>
            </a:r>
          </a:p>
        </p:txBody>
      </p:sp>
      <p:sp>
        <p:nvSpPr>
          <p:cNvPr id="8" name="Rounded Rectangle 7"/>
          <p:cNvSpPr/>
          <p:nvPr/>
        </p:nvSpPr>
        <p:spPr>
          <a:xfrm>
            <a:off x="548640" y="2368296"/>
            <a:ext cx="5943600" cy="658368"/>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04672" y="2569464"/>
            <a:ext cx="256032" cy="256032"/>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07008" y="2459736"/>
            <a:ext cx="2651760" cy="256032"/>
          </a:xfrm>
          <a:prstGeom prst="rect">
            <a:avLst/>
          </a:prstGeom>
          <a:noFill/>
        </p:spPr>
        <p:txBody>
          <a:bodyPr wrap="square" anchor="t" lIns="0" rIns="0" tIns="0" bIns="0">
            <a:spAutoFit/>
          </a:bodyPr>
          <a:lstStyle/>
          <a:p>
            <a:pPr algn="l"/>
            <a:r>
              <a:rPr sz="1350" b="1">
                <a:solidFill>
                  <a:srgbClr val="EEF2F7"/>
                </a:solidFill>
                <a:latin typeface="Calibri"/>
              </a:rPr>
              <a:t>Cooling and thermal ops</a:t>
            </a:r>
          </a:p>
        </p:txBody>
      </p:sp>
      <p:sp>
        <p:nvSpPr>
          <p:cNvPr id="11" name="TextBox 10"/>
          <p:cNvSpPr txBox="1"/>
          <p:nvPr/>
        </p:nvSpPr>
        <p:spPr>
          <a:xfrm>
            <a:off x="1207008" y="2715768"/>
            <a:ext cx="4846320" cy="256032"/>
          </a:xfrm>
          <a:prstGeom prst="rect">
            <a:avLst/>
          </a:prstGeom>
          <a:noFill/>
        </p:spPr>
        <p:txBody>
          <a:bodyPr wrap="square" anchor="t" lIns="0" rIns="0" tIns="0" bIns="0">
            <a:spAutoFit/>
          </a:bodyPr>
          <a:lstStyle/>
          <a:p>
            <a:pPr algn="l"/>
            <a:r>
              <a:rPr sz="1150" b="0">
                <a:solidFill>
                  <a:srgbClr val="9AA8BA"/>
                </a:solidFill>
                <a:latin typeface="Calibri"/>
              </a:rPr>
              <a:t>heat removal, efficiency, water permits</a:t>
            </a:r>
          </a:p>
        </p:txBody>
      </p:sp>
      <p:sp>
        <p:nvSpPr>
          <p:cNvPr id="12" name="Rounded Rectangle 11"/>
          <p:cNvSpPr/>
          <p:nvPr/>
        </p:nvSpPr>
        <p:spPr>
          <a:xfrm>
            <a:off x="548640" y="3136391"/>
            <a:ext cx="5943600" cy="658368"/>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804672" y="3337560"/>
            <a:ext cx="256032" cy="256032"/>
          </a:xfrm>
          <a:prstGeom prst="ellipse">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207008" y="3227832"/>
            <a:ext cx="2651760" cy="256032"/>
          </a:xfrm>
          <a:prstGeom prst="rect">
            <a:avLst/>
          </a:prstGeom>
          <a:noFill/>
        </p:spPr>
        <p:txBody>
          <a:bodyPr wrap="square" anchor="t" lIns="0" rIns="0" tIns="0" bIns="0">
            <a:spAutoFit/>
          </a:bodyPr>
          <a:lstStyle/>
          <a:p>
            <a:pPr algn="l"/>
            <a:r>
              <a:rPr sz="1350" b="1">
                <a:solidFill>
                  <a:srgbClr val="EEF2F7"/>
                </a:solidFill>
                <a:latin typeface="Calibri"/>
              </a:rPr>
              <a:t>Facilities and DCOps</a:t>
            </a:r>
          </a:p>
        </p:txBody>
      </p:sp>
      <p:sp>
        <p:nvSpPr>
          <p:cNvPr id="15" name="TextBox 14"/>
          <p:cNvSpPr txBox="1"/>
          <p:nvPr/>
        </p:nvSpPr>
        <p:spPr>
          <a:xfrm>
            <a:off x="1207008" y="3483863"/>
            <a:ext cx="4846320" cy="256032"/>
          </a:xfrm>
          <a:prstGeom prst="rect">
            <a:avLst/>
          </a:prstGeom>
          <a:noFill/>
        </p:spPr>
        <p:txBody>
          <a:bodyPr wrap="square" anchor="t" lIns="0" rIns="0" tIns="0" bIns="0">
            <a:spAutoFit/>
          </a:bodyPr>
          <a:lstStyle/>
          <a:p>
            <a:pPr algn="l"/>
            <a:r>
              <a:rPr sz="1150" b="0">
                <a:solidFill>
                  <a:srgbClr val="9AA8BA"/>
                </a:solidFill>
                <a:latin typeface="Calibri"/>
              </a:rPr>
              <a:t>rack space, floor loading, install crews</a:t>
            </a:r>
          </a:p>
        </p:txBody>
      </p:sp>
      <p:sp>
        <p:nvSpPr>
          <p:cNvPr id="16" name="Rounded Rectangle 15"/>
          <p:cNvSpPr/>
          <p:nvPr/>
        </p:nvSpPr>
        <p:spPr>
          <a:xfrm>
            <a:off x="548640" y="3904487"/>
            <a:ext cx="5943600" cy="658368"/>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04672" y="4105655"/>
            <a:ext cx="256032" cy="256032"/>
          </a:xfrm>
          <a:prstGeom prst="ellipse">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07008" y="3995927"/>
            <a:ext cx="2651760" cy="256032"/>
          </a:xfrm>
          <a:prstGeom prst="rect">
            <a:avLst/>
          </a:prstGeom>
          <a:noFill/>
        </p:spPr>
        <p:txBody>
          <a:bodyPr wrap="square" anchor="t" lIns="0" rIns="0" tIns="0" bIns="0">
            <a:spAutoFit/>
          </a:bodyPr>
          <a:lstStyle/>
          <a:p>
            <a:pPr algn="l"/>
            <a:r>
              <a:rPr sz="1350" b="1">
                <a:solidFill>
                  <a:srgbClr val="EEF2F7"/>
                </a:solidFill>
                <a:latin typeface="Calibri"/>
              </a:rPr>
              <a:t>Finance and procurement</a:t>
            </a:r>
          </a:p>
        </p:txBody>
      </p:sp>
      <p:sp>
        <p:nvSpPr>
          <p:cNvPr id="19" name="TextBox 18"/>
          <p:cNvSpPr txBox="1"/>
          <p:nvPr/>
        </p:nvSpPr>
        <p:spPr>
          <a:xfrm>
            <a:off x="1207008" y="4251959"/>
            <a:ext cx="4846320" cy="256032"/>
          </a:xfrm>
          <a:prstGeom prst="rect">
            <a:avLst/>
          </a:prstGeom>
          <a:noFill/>
        </p:spPr>
        <p:txBody>
          <a:bodyPr wrap="square" anchor="t" lIns="0" rIns="0" tIns="0" bIns="0">
            <a:spAutoFit/>
          </a:bodyPr>
          <a:lstStyle/>
          <a:p>
            <a:pPr algn="l"/>
            <a:r>
              <a:rPr sz="1150" b="0">
                <a:solidFill>
                  <a:srgbClr val="9AA8BA"/>
                </a:solidFill>
                <a:latin typeface="Calibri"/>
              </a:rPr>
              <a:t>budget, cost per GPU-hour, capex</a:t>
            </a:r>
          </a:p>
        </p:txBody>
      </p:sp>
      <p:sp>
        <p:nvSpPr>
          <p:cNvPr id="20" name="Rounded Rectangle 19"/>
          <p:cNvSpPr/>
          <p:nvPr/>
        </p:nvSpPr>
        <p:spPr>
          <a:xfrm>
            <a:off x="6858000" y="1600200"/>
            <a:ext cx="4754880" cy="3200400"/>
          </a:xfrm>
          <a:prstGeom prst="roundRect">
            <a:avLst>
              <a:gd name="adj" fmla="val 6000"/>
            </a:avLst>
          </a:prstGeom>
          <a:solidFill>
            <a:srgbClr val="1E2735"/>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178040" y="1847088"/>
            <a:ext cx="4114800" cy="777240"/>
          </a:xfrm>
          <a:prstGeom prst="rect">
            <a:avLst/>
          </a:prstGeom>
          <a:noFill/>
        </p:spPr>
        <p:txBody>
          <a:bodyPr wrap="square" anchor="t" lIns="0" rIns="0" tIns="0" bIns="0">
            <a:spAutoFit/>
          </a:bodyPr>
          <a:lstStyle/>
          <a:p>
            <a:pPr algn="l">
              <a:lnSpc>
                <a:spcPts val="2500"/>
              </a:lnSpc>
            </a:pPr>
            <a:r>
              <a:rPr sz="1900" b="1">
                <a:solidFill>
                  <a:srgbClr val="EEF2F7"/>
                </a:solidFill>
                <a:latin typeface="Arial"/>
              </a:rPr>
              <a:t>Each one is right.</a:t>
            </a:r>
          </a:p>
          <a:p>
            <a:pPr algn="l">
              <a:lnSpc>
                <a:spcPts val="2500"/>
              </a:lnSpc>
            </a:pPr>
            <a:r>
              <a:rPr sz="1900" b="1">
                <a:solidFill>
                  <a:srgbClr val="EEF2F7"/>
                </a:solidFill>
                <a:latin typeface="Arial"/>
              </a:rPr>
              <a:t>Nobody owns the joint check.</a:t>
            </a:r>
          </a:p>
        </p:txBody>
      </p:sp>
      <p:sp>
        <p:nvSpPr>
          <p:cNvPr id="22" name="TextBox 21"/>
          <p:cNvSpPr txBox="1"/>
          <p:nvPr/>
        </p:nvSpPr>
        <p:spPr>
          <a:xfrm>
            <a:off x="7178040" y="2743200"/>
            <a:ext cx="4114800" cy="2011680"/>
          </a:xfrm>
          <a:prstGeom prst="rect">
            <a:avLst/>
          </a:prstGeom>
          <a:noFill/>
        </p:spPr>
        <p:txBody>
          <a:bodyPr wrap="square" anchor="t" lIns="0" rIns="0" tIns="0" bIns="0">
            <a:spAutoFit/>
          </a:bodyPr>
          <a:lstStyle/>
          <a:p>
            <a:pPr algn="l">
              <a:lnSpc>
                <a:spcPts val="1900"/>
              </a:lnSpc>
            </a:pPr>
            <a:r>
              <a:rPr sz="1250" b="0">
                <a:solidFill>
                  <a:srgbClr val="9AA8BA"/>
                </a:solidFill>
                <a:latin typeface="Calibri"/>
              </a:rPr>
              <a:t>Requests move from team to team by email and spreadsheet. Every approval is correct on its own axis, and no one asks whether the four approvals describe the same plan.</a:t>
            </a:r>
          </a:p>
          <a:p>
            <a:pPr algn="l">
              <a:lnSpc>
                <a:spcPts val="1900"/>
              </a:lnSpc>
            </a:pPr>
            <a:r>
              <a:rPr sz="1250" b="0">
                <a:solidFill>
                  <a:srgbClr val="9AA8BA"/>
                </a:solidFill>
                <a:latin typeface="Calibri"/>
              </a:rPr>
              <a:t/>
            </a:r>
          </a:p>
          <a:p>
            <a:pPr algn="l">
              <a:lnSpc>
                <a:spcPts val="1900"/>
              </a:lnSpc>
            </a:pPr>
            <a:r>
              <a:rPr sz="1250" b="0">
                <a:solidFill>
                  <a:srgbClr val="9AA8BA"/>
                </a:solidFill>
                <a:latin typeface="Calibri"/>
              </a:rPr>
              <a:t>What that leaves behind has a name in the industry: stranded capacity. Megawatts a site has paid for and cannot use.</a:t>
            </a:r>
          </a:p>
        </p:txBody>
      </p:sp>
      <p:sp>
        <p:nvSpPr>
          <p:cNvPr id="23" name="TextBox 22"/>
          <p:cNvSpPr txBox="1"/>
          <p:nvPr/>
        </p:nvSpPr>
        <p:spPr>
          <a:xfrm>
            <a:off x="548640" y="4983480"/>
            <a:ext cx="2743200" cy="640080"/>
          </a:xfrm>
          <a:prstGeom prst="rect">
            <a:avLst/>
          </a:prstGeom>
          <a:noFill/>
        </p:spPr>
        <p:txBody>
          <a:bodyPr wrap="square" anchor="t" lIns="0" rIns="0" tIns="0" bIns="0">
            <a:spAutoFit/>
          </a:bodyPr>
          <a:lstStyle/>
          <a:p>
            <a:pPr algn="l"/>
            <a:r>
              <a:rPr sz="3800" b="1">
                <a:solidFill>
                  <a:srgbClr val="FBBF24"/>
                </a:solidFill>
                <a:latin typeface="Arial"/>
              </a:rPr>
              <a:t>days</a:t>
            </a:r>
          </a:p>
        </p:txBody>
      </p:sp>
      <p:sp>
        <p:nvSpPr>
          <p:cNvPr id="24" name="TextBox 23"/>
          <p:cNvSpPr txBox="1"/>
          <p:nvPr/>
        </p:nvSpPr>
        <p:spPr>
          <a:xfrm>
            <a:off x="548640" y="5614416"/>
            <a:ext cx="2743200" cy="274320"/>
          </a:xfrm>
          <a:prstGeom prst="rect">
            <a:avLst/>
          </a:prstGeom>
          <a:noFill/>
        </p:spPr>
        <p:txBody>
          <a:bodyPr wrap="square" anchor="t" lIns="0" rIns="0" tIns="0" bIns="0">
            <a:spAutoFit/>
          </a:bodyPr>
          <a:lstStyle/>
          <a:p>
            <a:pPr algn="l"/>
            <a:r>
              <a:rPr sz="1200" b="0">
                <a:solidFill>
                  <a:srgbClr val="9AA8BA"/>
                </a:solidFill>
                <a:latin typeface="Calibri"/>
              </a:rPr>
              <a:t>for four sequential approvals</a:t>
            </a:r>
          </a:p>
        </p:txBody>
      </p:sp>
      <p:sp>
        <p:nvSpPr>
          <p:cNvPr id="25" name="TextBox 24"/>
          <p:cNvSpPr txBox="1"/>
          <p:nvPr/>
        </p:nvSpPr>
        <p:spPr>
          <a:xfrm>
            <a:off x="3566160" y="4983480"/>
            <a:ext cx="2743200" cy="640080"/>
          </a:xfrm>
          <a:prstGeom prst="rect">
            <a:avLst/>
          </a:prstGeom>
          <a:noFill/>
        </p:spPr>
        <p:txBody>
          <a:bodyPr wrap="square" anchor="t" lIns="0" rIns="0" tIns="0" bIns="0">
            <a:spAutoFit/>
          </a:bodyPr>
          <a:lstStyle/>
          <a:p>
            <a:pPr algn="l"/>
            <a:r>
              <a:rPr sz="3800" b="1">
                <a:solidFill>
                  <a:srgbClr val="F87171"/>
                </a:solidFill>
                <a:latin typeface="Arial"/>
              </a:rPr>
              <a:t>0</a:t>
            </a:r>
          </a:p>
        </p:txBody>
      </p:sp>
      <p:sp>
        <p:nvSpPr>
          <p:cNvPr id="26" name="TextBox 25"/>
          <p:cNvSpPr txBox="1"/>
          <p:nvPr/>
        </p:nvSpPr>
        <p:spPr>
          <a:xfrm>
            <a:off x="3566160" y="5614416"/>
            <a:ext cx="2743200" cy="274320"/>
          </a:xfrm>
          <a:prstGeom prst="rect">
            <a:avLst/>
          </a:prstGeom>
          <a:noFill/>
        </p:spPr>
        <p:txBody>
          <a:bodyPr wrap="square" anchor="t" lIns="0" rIns="0" tIns="0" bIns="0">
            <a:spAutoFit/>
          </a:bodyPr>
          <a:lstStyle/>
          <a:p>
            <a:pPr algn="l"/>
            <a:r>
              <a:rPr sz="1200" b="0">
                <a:solidFill>
                  <a:srgbClr val="9AA8BA"/>
                </a:solidFill>
                <a:latin typeface="Calibri"/>
              </a:rPr>
              <a:t>teams who check them together</a:t>
            </a:r>
          </a:p>
        </p:txBody>
      </p:sp>
      <p:sp>
        <p:nvSpPr>
          <p:cNvPr id="27" name="TextBox 26"/>
          <p:cNvSpPr txBox="1"/>
          <p:nvPr/>
        </p:nvSpPr>
        <p:spPr>
          <a:xfrm>
            <a:off x="6858000" y="4983480"/>
            <a:ext cx="4754880" cy="640080"/>
          </a:xfrm>
          <a:prstGeom prst="rect">
            <a:avLst/>
          </a:prstGeom>
          <a:noFill/>
        </p:spPr>
        <p:txBody>
          <a:bodyPr wrap="square" anchor="t" lIns="0" rIns="0" tIns="0" bIns="0">
            <a:spAutoFit/>
          </a:bodyPr>
          <a:lstStyle/>
          <a:p>
            <a:pPr algn="l"/>
            <a:r>
              <a:rPr sz="3800" b="1">
                <a:solidFill>
                  <a:srgbClr val="34D399"/>
                </a:solidFill>
                <a:latin typeface="Arial"/>
              </a:rPr>
              <a:t>~90 sec</a:t>
            </a:r>
          </a:p>
        </p:txBody>
      </p:sp>
      <p:sp>
        <p:nvSpPr>
          <p:cNvPr id="28" name="TextBox 27"/>
          <p:cNvSpPr txBox="1"/>
          <p:nvPr/>
        </p:nvSpPr>
        <p:spPr>
          <a:xfrm>
            <a:off x="6858000" y="5614416"/>
            <a:ext cx="4754880" cy="365760"/>
          </a:xfrm>
          <a:prstGeom prst="rect">
            <a:avLst/>
          </a:prstGeom>
          <a:noFill/>
        </p:spPr>
        <p:txBody>
          <a:bodyPr wrap="square" anchor="t" lIns="0" rIns="0" tIns="0" bIns="0">
            <a:spAutoFit/>
          </a:bodyPr>
          <a:lstStyle/>
          <a:p>
            <a:pPr algn="l"/>
            <a:r>
              <a:rPr sz="1200" b="0">
                <a:solidFill>
                  <a:srgbClr val="9AA8BA"/>
                </a:solidFill>
                <a:latin typeface="Calibri"/>
              </a:rPr>
              <a:t>for the same four checks, run together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319"/>
        </a:solidFill>
        <a:effectLst/>
      </p:bgPr>
    </p:bg>
    <p:spTree>
      <p:nvGrpSpPr>
        <p:cNvPr id="1" name=""/>
        <p:cNvGrpSpPr/>
        <p:nvPr/>
      </p:nvGrpSpPr>
      <p:grpSpPr/>
      <p:sp>
        <p:nvSpPr>
          <p:cNvPr id="2" name="TextBox 1"/>
          <p:cNvSpPr txBox="1"/>
          <p:nvPr/>
        </p:nvSpPr>
        <p:spPr>
          <a:xfrm>
            <a:off x="548640" y="457200"/>
            <a:ext cx="11064240" cy="585216"/>
          </a:xfrm>
          <a:prstGeom prst="rect">
            <a:avLst/>
          </a:prstGeom>
          <a:noFill/>
        </p:spPr>
        <p:txBody>
          <a:bodyPr wrap="square" anchor="t" lIns="0" rIns="0" tIns="0" bIns="0">
            <a:spAutoFit/>
          </a:bodyPr>
          <a:lstStyle/>
          <a:p>
            <a:pPr algn="l"/>
            <a:r>
              <a:rPr sz="2900" b="1">
                <a:solidFill>
                  <a:srgbClr val="EEF2F7"/>
                </a:solidFill>
                <a:latin typeface="Arial"/>
              </a:rPr>
              <a:t>What GridMind is worth</a:t>
            </a:r>
          </a:p>
        </p:txBody>
      </p:sp>
      <p:sp>
        <p:nvSpPr>
          <p:cNvPr id="3" name="Rounded Rectangle 2"/>
          <p:cNvSpPr/>
          <p:nvPr/>
        </p:nvSpPr>
        <p:spPr>
          <a:xfrm>
            <a:off x="548640" y="1572768"/>
            <a:ext cx="11064240" cy="1143000"/>
          </a:xfrm>
          <a:prstGeom prst="roundRect">
            <a:avLst>
              <a:gd name="adj" fmla="val 6000"/>
            </a:avLst>
          </a:prstGeom>
          <a:solidFill>
            <a:srgbClr val="1E2735"/>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68680" y="1773936"/>
            <a:ext cx="10424160" cy="822960"/>
          </a:xfrm>
          <a:prstGeom prst="rect">
            <a:avLst/>
          </a:prstGeom>
          <a:noFill/>
        </p:spPr>
        <p:txBody>
          <a:bodyPr wrap="square" anchor="t" lIns="0" rIns="0" tIns="0" bIns="0">
            <a:spAutoFit/>
          </a:bodyPr>
          <a:lstStyle/>
          <a:p>
            <a:pPr algn="l">
              <a:lnSpc>
                <a:spcPts val="2200"/>
              </a:lnSpc>
            </a:pPr>
            <a:r>
              <a:rPr sz="1500" b="0">
                <a:solidFill>
                  <a:srgbClr val="EEF2F7"/>
                </a:solidFill>
                <a:latin typeface="Calibri"/>
              </a:rPr>
              <a:t>For the operations team that has to place a workload, GridMind returns one plan that clears power, cooling, space and budget at the same time, in about ninety seconds instead of several days, with a report showing what every assessor was shown beside what it concluded.</a:t>
            </a:r>
          </a:p>
        </p:txBody>
      </p:sp>
      <p:sp>
        <p:nvSpPr>
          <p:cNvPr id="5" name="Rounded Rectangle 4"/>
          <p:cNvSpPr/>
          <p:nvPr/>
        </p:nvSpPr>
        <p:spPr>
          <a:xfrm>
            <a:off x="548640" y="2880360"/>
            <a:ext cx="5394960" cy="288036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3072384"/>
            <a:ext cx="4754880" cy="274320"/>
          </a:xfrm>
          <a:prstGeom prst="rect">
            <a:avLst/>
          </a:prstGeom>
          <a:noFill/>
        </p:spPr>
        <p:txBody>
          <a:bodyPr wrap="square" anchor="t" lIns="0" rIns="0" tIns="0" bIns="0">
            <a:spAutoFit/>
          </a:bodyPr>
          <a:lstStyle/>
          <a:p>
            <a:pPr algn="l"/>
            <a:r>
              <a:rPr sz="1400" b="1">
                <a:solidFill>
                  <a:srgbClr val="F87171"/>
                </a:solidFill>
                <a:latin typeface="Calibri"/>
              </a:rPr>
              <a:t>Today</a:t>
            </a:r>
          </a:p>
        </p:txBody>
      </p:sp>
      <p:sp>
        <p:nvSpPr>
          <p:cNvPr id="7" name="Oval 6"/>
          <p:cNvSpPr/>
          <p:nvPr/>
        </p:nvSpPr>
        <p:spPr>
          <a:xfrm>
            <a:off x="868680" y="3575303"/>
            <a:ext cx="100584" cy="100584"/>
          </a:xfrm>
          <a:prstGeom prst="ellipse">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24712" y="3493008"/>
            <a:ext cx="4498848" cy="438912"/>
          </a:xfrm>
          <a:prstGeom prst="rect">
            <a:avLst/>
          </a:prstGeom>
          <a:noFill/>
        </p:spPr>
        <p:txBody>
          <a:bodyPr wrap="square" anchor="t" lIns="0" rIns="0" tIns="0" bIns="0">
            <a:spAutoFit/>
          </a:bodyPr>
          <a:lstStyle/>
          <a:p>
            <a:pPr algn="l"/>
            <a:r>
              <a:rPr sz="1250" b="0">
                <a:solidFill>
                  <a:srgbClr val="9AA8BA"/>
                </a:solidFill>
                <a:latin typeface="Calibri"/>
              </a:rPr>
              <a:t>Four approvals, one team at a time</a:t>
            </a:r>
          </a:p>
        </p:txBody>
      </p:sp>
      <p:sp>
        <p:nvSpPr>
          <p:cNvPr id="9" name="Oval 8"/>
          <p:cNvSpPr/>
          <p:nvPr/>
        </p:nvSpPr>
        <p:spPr>
          <a:xfrm>
            <a:off x="868680" y="4014215"/>
            <a:ext cx="100584" cy="100584"/>
          </a:xfrm>
          <a:prstGeom prst="ellipse">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3931920"/>
            <a:ext cx="4498848" cy="438912"/>
          </a:xfrm>
          <a:prstGeom prst="rect">
            <a:avLst/>
          </a:prstGeom>
          <a:noFill/>
        </p:spPr>
        <p:txBody>
          <a:bodyPr wrap="square" anchor="t" lIns="0" rIns="0" tIns="0" bIns="0">
            <a:spAutoFit/>
          </a:bodyPr>
          <a:lstStyle/>
          <a:p>
            <a:pPr algn="l"/>
            <a:r>
              <a:rPr sz="1250" b="0">
                <a:solidFill>
                  <a:srgbClr val="9AA8BA"/>
                </a:solidFill>
                <a:latin typeface="Calibri"/>
              </a:rPr>
              <a:t>Each team sees only its own data</a:t>
            </a:r>
          </a:p>
        </p:txBody>
      </p:sp>
      <p:sp>
        <p:nvSpPr>
          <p:cNvPr id="11" name="Oval 10"/>
          <p:cNvSpPr/>
          <p:nvPr/>
        </p:nvSpPr>
        <p:spPr>
          <a:xfrm>
            <a:off x="868680" y="4453127"/>
            <a:ext cx="100584" cy="100584"/>
          </a:xfrm>
          <a:prstGeom prst="ellipse">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24712" y="4370831"/>
            <a:ext cx="4498848" cy="438912"/>
          </a:xfrm>
          <a:prstGeom prst="rect">
            <a:avLst/>
          </a:prstGeom>
          <a:noFill/>
        </p:spPr>
        <p:txBody>
          <a:bodyPr wrap="square" anchor="t" lIns="0" rIns="0" tIns="0" bIns="0">
            <a:spAutoFit/>
          </a:bodyPr>
          <a:lstStyle/>
          <a:p>
            <a:pPr algn="l"/>
            <a:r>
              <a:rPr sz="1250" b="0">
                <a:solidFill>
                  <a:srgbClr val="9AA8BA"/>
                </a:solidFill>
                <a:latin typeface="Calibri"/>
              </a:rPr>
              <a:t>Nobody computes the joint check</a:t>
            </a:r>
          </a:p>
        </p:txBody>
      </p:sp>
      <p:sp>
        <p:nvSpPr>
          <p:cNvPr id="13" name="Oval 12"/>
          <p:cNvSpPr/>
          <p:nvPr/>
        </p:nvSpPr>
        <p:spPr>
          <a:xfrm>
            <a:off x="868680" y="4892040"/>
            <a:ext cx="100584" cy="100584"/>
          </a:xfrm>
          <a:prstGeom prst="ellipse">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24712" y="4809744"/>
            <a:ext cx="4498848" cy="438912"/>
          </a:xfrm>
          <a:prstGeom prst="rect">
            <a:avLst/>
          </a:prstGeom>
          <a:noFill/>
        </p:spPr>
        <p:txBody>
          <a:bodyPr wrap="square" anchor="t" lIns="0" rIns="0" tIns="0" bIns="0">
            <a:spAutoFit/>
          </a:bodyPr>
          <a:lstStyle/>
          <a:p>
            <a:pPr algn="l"/>
            <a:r>
              <a:rPr sz="1250" b="0">
                <a:solidFill>
                  <a:srgbClr val="9AA8BA"/>
                </a:solidFill>
                <a:latin typeface="Calibri"/>
              </a:rPr>
              <a:t>Conflicts surface after the racks arrive</a:t>
            </a:r>
          </a:p>
        </p:txBody>
      </p:sp>
      <p:sp>
        <p:nvSpPr>
          <p:cNvPr id="15" name="Oval 14"/>
          <p:cNvSpPr/>
          <p:nvPr/>
        </p:nvSpPr>
        <p:spPr>
          <a:xfrm>
            <a:off x="868680" y="5330952"/>
            <a:ext cx="100584" cy="100584"/>
          </a:xfrm>
          <a:prstGeom prst="ellipse">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4712" y="5248656"/>
            <a:ext cx="4498848" cy="438912"/>
          </a:xfrm>
          <a:prstGeom prst="rect">
            <a:avLst/>
          </a:prstGeom>
          <a:noFill/>
        </p:spPr>
        <p:txBody>
          <a:bodyPr wrap="square" anchor="t" lIns="0" rIns="0" tIns="0" bIns="0">
            <a:spAutoFit/>
          </a:bodyPr>
          <a:lstStyle/>
          <a:p>
            <a:pPr algn="l"/>
            <a:r>
              <a:rPr sz="1250" b="0">
                <a:solidFill>
                  <a:srgbClr val="9AA8BA"/>
                </a:solidFill>
                <a:latin typeface="Calibri"/>
              </a:rPr>
              <a:t>The reasoning lives in someone's inbox</a:t>
            </a:r>
          </a:p>
        </p:txBody>
      </p:sp>
      <p:sp>
        <p:nvSpPr>
          <p:cNvPr id="17" name="Rounded Rectangle 16"/>
          <p:cNvSpPr/>
          <p:nvPr/>
        </p:nvSpPr>
        <p:spPr>
          <a:xfrm>
            <a:off x="6217920" y="2880360"/>
            <a:ext cx="5394960" cy="288036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37960" y="3072384"/>
            <a:ext cx="4754880" cy="274320"/>
          </a:xfrm>
          <a:prstGeom prst="rect">
            <a:avLst/>
          </a:prstGeom>
          <a:noFill/>
        </p:spPr>
        <p:txBody>
          <a:bodyPr wrap="square" anchor="t" lIns="0" rIns="0" tIns="0" bIns="0">
            <a:spAutoFit/>
          </a:bodyPr>
          <a:lstStyle/>
          <a:p>
            <a:pPr algn="l"/>
            <a:r>
              <a:rPr sz="1400" b="1">
                <a:solidFill>
                  <a:srgbClr val="34D399"/>
                </a:solidFill>
                <a:latin typeface="Calibri"/>
              </a:rPr>
              <a:t>With GridMind</a:t>
            </a:r>
          </a:p>
        </p:txBody>
      </p:sp>
      <p:sp>
        <p:nvSpPr>
          <p:cNvPr id="19" name="Oval 18"/>
          <p:cNvSpPr/>
          <p:nvPr/>
        </p:nvSpPr>
        <p:spPr>
          <a:xfrm>
            <a:off x="6537960" y="3575303"/>
            <a:ext cx="100584" cy="100584"/>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3493008"/>
            <a:ext cx="4498848" cy="438912"/>
          </a:xfrm>
          <a:prstGeom prst="rect">
            <a:avLst/>
          </a:prstGeom>
          <a:noFill/>
        </p:spPr>
        <p:txBody>
          <a:bodyPr wrap="square" anchor="t" lIns="0" rIns="0" tIns="0" bIns="0">
            <a:spAutoFit/>
          </a:bodyPr>
          <a:lstStyle/>
          <a:p>
            <a:pPr algn="l"/>
            <a:r>
              <a:rPr sz="1250" b="0">
                <a:solidFill>
                  <a:srgbClr val="9AA8BA"/>
                </a:solidFill>
                <a:latin typeface="Calibri"/>
              </a:rPr>
              <a:t>Four checks run together, in parallel</a:t>
            </a:r>
          </a:p>
        </p:txBody>
      </p:sp>
      <p:sp>
        <p:nvSpPr>
          <p:cNvPr id="21" name="Oval 20"/>
          <p:cNvSpPr/>
          <p:nvPr/>
        </p:nvSpPr>
        <p:spPr>
          <a:xfrm>
            <a:off x="6537960" y="4014215"/>
            <a:ext cx="100584" cy="100584"/>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93992" y="3931920"/>
            <a:ext cx="4498848" cy="438912"/>
          </a:xfrm>
          <a:prstGeom prst="rect">
            <a:avLst/>
          </a:prstGeom>
          <a:noFill/>
        </p:spPr>
        <p:txBody>
          <a:bodyPr wrap="square" anchor="t" lIns="0" rIns="0" tIns="0" bIns="0">
            <a:spAutoFit/>
          </a:bodyPr>
          <a:lstStyle/>
          <a:p>
            <a:pPr algn="l"/>
            <a:r>
              <a:rPr sz="1250" b="0">
                <a:solidFill>
                  <a:srgbClr val="9AA8BA"/>
                </a:solidFill>
                <a:latin typeface="Calibri"/>
              </a:rPr>
              <a:t>The orchestrator sees all four verdicts</a:t>
            </a:r>
          </a:p>
        </p:txBody>
      </p:sp>
      <p:sp>
        <p:nvSpPr>
          <p:cNvPr id="23" name="Oval 22"/>
          <p:cNvSpPr/>
          <p:nvPr/>
        </p:nvSpPr>
        <p:spPr>
          <a:xfrm>
            <a:off x="6537960" y="4453127"/>
            <a:ext cx="100584" cy="100584"/>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93992" y="4370831"/>
            <a:ext cx="4498848" cy="438912"/>
          </a:xfrm>
          <a:prstGeom prst="rect">
            <a:avLst/>
          </a:prstGeom>
          <a:noFill/>
        </p:spPr>
        <p:txBody>
          <a:bodyPr wrap="square" anchor="t" lIns="0" rIns="0" tIns="0" bIns="0">
            <a:spAutoFit/>
          </a:bodyPr>
          <a:lstStyle/>
          <a:p>
            <a:pPr algn="l"/>
            <a:r>
              <a:rPr sz="1250" b="0">
                <a:solidFill>
                  <a:srgbClr val="9AA8BA"/>
                </a:solidFill>
                <a:latin typeface="Calibri"/>
              </a:rPr>
              <a:t>It computes what all four constraints allow</a:t>
            </a:r>
          </a:p>
        </p:txBody>
      </p:sp>
      <p:sp>
        <p:nvSpPr>
          <p:cNvPr id="25" name="Oval 24"/>
          <p:cNvSpPr/>
          <p:nvPr/>
        </p:nvSpPr>
        <p:spPr>
          <a:xfrm>
            <a:off x="6537960" y="4892040"/>
            <a:ext cx="100584" cy="100584"/>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93992" y="4809744"/>
            <a:ext cx="4498848" cy="438912"/>
          </a:xfrm>
          <a:prstGeom prst="rect">
            <a:avLst/>
          </a:prstGeom>
          <a:noFill/>
        </p:spPr>
        <p:txBody>
          <a:bodyPr wrap="square" anchor="t" lIns="0" rIns="0" tIns="0" bIns="0">
            <a:spAutoFit/>
          </a:bodyPr>
          <a:lstStyle/>
          <a:p>
            <a:pPr algn="l"/>
            <a:r>
              <a:rPr sz="1250" b="0">
                <a:solidFill>
                  <a:srgbClr val="9AA8BA"/>
                </a:solidFill>
                <a:latin typeface="Calibri"/>
              </a:rPr>
              <a:t>Conflicts surface before anything is ordered</a:t>
            </a:r>
          </a:p>
        </p:txBody>
      </p:sp>
      <p:sp>
        <p:nvSpPr>
          <p:cNvPr id="27" name="Oval 26"/>
          <p:cNvSpPr/>
          <p:nvPr/>
        </p:nvSpPr>
        <p:spPr>
          <a:xfrm>
            <a:off x="6537960" y="5330952"/>
            <a:ext cx="100584" cy="100584"/>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5248656"/>
            <a:ext cx="4498848" cy="438912"/>
          </a:xfrm>
          <a:prstGeom prst="rect">
            <a:avLst/>
          </a:prstGeom>
          <a:noFill/>
        </p:spPr>
        <p:txBody>
          <a:bodyPr wrap="square" anchor="t" lIns="0" rIns="0" tIns="0" bIns="0">
            <a:spAutoFit/>
          </a:bodyPr>
          <a:lstStyle/>
          <a:p>
            <a:pPr algn="l"/>
            <a:r>
              <a:rPr sz="1250" b="0">
                <a:solidFill>
                  <a:srgbClr val="9AA8BA"/>
                </a:solidFill>
                <a:latin typeface="Calibri"/>
              </a:rPr>
              <a:t>Every decision ships with its evidence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319"/>
        </a:solidFill>
        <a:effectLst/>
      </p:bgPr>
    </p:bg>
    <p:spTree>
      <p:nvGrpSpPr>
        <p:cNvPr id="1" name=""/>
        <p:cNvGrpSpPr/>
        <p:nvPr/>
      </p:nvGrpSpPr>
      <p:grpSpPr/>
      <p:sp>
        <p:nvSpPr>
          <p:cNvPr id="2" name="TextBox 1"/>
          <p:cNvSpPr txBox="1"/>
          <p:nvPr/>
        </p:nvSpPr>
        <p:spPr>
          <a:xfrm>
            <a:off x="548640" y="457200"/>
            <a:ext cx="11064240" cy="585216"/>
          </a:xfrm>
          <a:prstGeom prst="rect">
            <a:avLst/>
          </a:prstGeom>
          <a:noFill/>
        </p:spPr>
        <p:txBody>
          <a:bodyPr wrap="square" anchor="t" lIns="0" rIns="0" tIns="0" bIns="0">
            <a:spAutoFit/>
          </a:bodyPr>
          <a:lstStyle/>
          <a:p>
            <a:pPr algn="l"/>
            <a:r>
              <a:rPr sz="2900" b="1">
                <a:solidFill>
                  <a:srgbClr val="EEF2F7"/>
                </a:solidFill>
                <a:latin typeface="Arial"/>
              </a:rPr>
              <a:t>What GridMind does</a:t>
            </a:r>
          </a:p>
        </p:txBody>
      </p:sp>
      <p:sp>
        <p:nvSpPr>
          <p:cNvPr id="3" name="TextBox 2"/>
          <p:cNvSpPr txBox="1"/>
          <p:nvPr/>
        </p:nvSpPr>
        <p:spPr>
          <a:xfrm>
            <a:off x="548640" y="1060704"/>
            <a:ext cx="11064240" cy="329184"/>
          </a:xfrm>
          <a:prstGeom prst="rect">
            <a:avLst/>
          </a:prstGeom>
          <a:noFill/>
        </p:spPr>
        <p:txBody>
          <a:bodyPr wrap="square" anchor="t" lIns="0" rIns="0" tIns="0" bIns="0">
            <a:spAutoFit/>
          </a:bodyPr>
          <a:lstStyle/>
          <a:p>
            <a:pPr algn="l"/>
            <a:r>
              <a:rPr sz="1400" b="0">
                <a:solidFill>
                  <a:srgbClr val="9AA8BA"/>
                </a:solidFill>
                <a:latin typeface="Calibri"/>
              </a:rPr>
              <a:t>A capacity request goes in. A plan the site can build comes out.</a:t>
            </a:r>
          </a:p>
        </p:txBody>
      </p:sp>
      <p:sp>
        <p:nvSpPr>
          <p:cNvPr id="4" name="Rounded Rectangle 3"/>
          <p:cNvSpPr/>
          <p:nvPr/>
        </p:nvSpPr>
        <p:spPr>
          <a:xfrm>
            <a:off x="548640" y="1600200"/>
            <a:ext cx="11064240" cy="932688"/>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Oval 4"/>
          <p:cNvSpPr/>
          <p:nvPr/>
        </p:nvSpPr>
        <p:spPr>
          <a:xfrm>
            <a:off x="841248" y="1874519"/>
            <a:ext cx="384048" cy="384048"/>
          </a:xfrm>
          <a:prstGeom prst="ellipse">
            <a:avLst/>
          </a:prstGeom>
          <a:solidFill>
            <a:srgbClr val="4D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1929384"/>
            <a:ext cx="384048" cy="292608"/>
          </a:xfrm>
          <a:prstGeom prst="rect">
            <a:avLst/>
          </a:prstGeom>
          <a:noFill/>
        </p:spPr>
        <p:txBody>
          <a:bodyPr wrap="square" anchor="t" lIns="0" rIns="0" tIns="0" bIns="0">
            <a:spAutoFit/>
          </a:bodyPr>
          <a:lstStyle/>
          <a:p>
            <a:pPr algn="ctr"/>
            <a:r>
              <a:rPr sz="1600" b="1">
                <a:solidFill>
                  <a:srgbClr val="0E1319"/>
                </a:solidFill>
                <a:latin typeface="Arial"/>
              </a:rPr>
              <a:t>1</a:t>
            </a:r>
          </a:p>
        </p:txBody>
      </p:sp>
      <p:sp>
        <p:nvSpPr>
          <p:cNvPr id="7" name="TextBox 6"/>
          <p:cNvSpPr txBox="1"/>
          <p:nvPr/>
        </p:nvSpPr>
        <p:spPr>
          <a:xfrm>
            <a:off x="1444752" y="1783080"/>
            <a:ext cx="3200400" cy="292608"/>
          </a:xfrm>
          <a:prstGeom prst="rect">
            <a:avLst/>
          </a:prstGeom>
          <a:noFill/>
        </p:spPr>
        <p:txBody>
          <a:bodyPr wrap="square" anchor="t" lIns="0" rIns="0" tIns="0" bIns="0">
            <a:spAutoFit/>
          </a:bodyPr>
          <a:lstStyle/>
          <a:p>
            <a:pPr algn="l"/>
            <a:r>
              <a:rPr sz="1500" b="1">
                <a:solidFill>
                  <a:srgbClr val="EEF2F7"/>
                </a:solidFill>
                <a:latin typeface="Calibri"/>
              </a:rPr>
              <a:t>Submit a request</a:t>
            </a:r>
          </a:p>
        </p:txBody>
      </p:sp>
      <p:sp>
        <p:nvSpPr>
          <p:cNvPr id="8" name="TextBox 7"/>
          <p:cNvSpPr txBox="1"/>
          <p:nvPr/>
        </p:nvSpPr>
        <p:spPr>
          <a:xfrm>
            <a:off x="4800600" y="1801368"/>
            <a:ext cx="6583680" cy="566928"/>
          </a:xfrm>
          <a:prstGeom prst="rect">
            <a:avLst/>
          </a:prstGeom>
          <a:noFill/>
        </p:spPr>
        <p:txBody>
          <a:bodyPr wrap="square" anchor="t" lIns="0" rIns="0" tIns="0" bIns="0">
            <a:spAutoFit/>
          </a:bodyPr>
          <a:lstStyle/>
          <a:p>
            <a:pPr algn="l">
              <a:lnSpc>
                <a:spcPts val="1700"/>
              </a:lnSpc>
            </a:pPr>
            <a:r>
              <a:rPr sz="1250" b="0">
                <a:solidFill>
                  <a:srgbClr val="9AA8BA"/>
                </a:solidFill>
                <a:latin typeface="Calibri"/>
              </a:rPr>
              <a:t>Rack count, power draw per rack, cooling type, weight, budget ceiling. A form, not free text.</a:t>
            </a:r>
          </a:p>
        </p:txBody>
      </p:sp>
      <p:sp>
        <p:nvSpPr>
          <p:cNvPr id="9" name="Rounded Rectangle 8"/>
          <p:cNvSpPr/>
          <p:nvPr/>
        </p:nvSpPr>
        <p:spPr>
          <a:xfrm>
            <a:off x="548640" y="2679191"/>
            <a:ext cx="11064240" cy="932688"/>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841248" y="2953511"/>
            <a:ext cx="384048" cy="384048"/>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008375"/>
            <a:ext cx="384048" cy="292608"/>
          </a:xfrm>
          <a:prstGeom prst="rect">
            <a:avLst/>
          </a:prstGeom>
          <a:noFill/>
        </p:spPr>
        <p:txBody>
          <a:bodyPr wrap="square" anchor="t" lIns="0" rIns="0" tIns="0" bIns="0">
            <a:spAutoFit/>
          </a:bodyPr>
          <a:lstStyle/>
          <a:p>
            <a:pPr algn="ctr"/>
            <a:r>
              <a:rPr sz="1600" b="1">
                <a:solidFill>
                  <a:srgbClr val="0E1319"/>
                </a:solidFill>
                <a:latin typeface="Arial"/>
              </a:rPr>
              <a:t>2</a:t>
            </a:r>
          </a:p>
        </p:txBody>
      </p:sp>
      <p:sp>
        <p:nvSpPr>
          <p:cNvPr id="12" name="TextBox 11"/>
          <p:cNvSpPr txBox="1"/>
          <p:nvPr/>
        </p:nvSpPr>
        <p:spPr>
          <a:xfrm>
            <a:off x="1444752" y="2862072"/>
            <a:ext cx="3200400" cy="292608"/>
          </a:xfrm>
          <a:prstGeom prst="rect">
            <a:avLst/>
          </a:prstGeom>
          <a:noFill/>
        </p:spPr>
        <p:txBody>
          <a:bodyPr wrap="square" anchor="t" lIns="0" rIns="0" tIns="0" bIns="0">
            <a:spAutoFit/>
          </a:bodyPr>
          <a:lstStyle/>
          <a:p>
            <a:pPr algn="l"/>
            <a:r>
              <a:rPr sz="1500" b="1">
                <a:solidFill>
                  <a:srgbClr val="EEF2F7"/>
                </a:solidFill>
                <a:latin typeface="Calibri"/>
              </a:rPr>
              <a:t>Four assessors run in parallel</a:t>
            </a:r>
          </a:p>
        </p:txBody>
      </p:sp>
      <p:sp>
        <p:nvSpPr>
          <p:cNvPr id="13" name="TextBox 12"/>
          <p:cNvSpPr txBox="1"/>
          <p:nvPr/>
        </p:nvSpPr>
        <p:spPr>
          <a:xfrm>
            <a:off x="4800600" y="2880360"/>
            <a:ext cx="6583680" cy="566928"/>
          </a:xfrm>
          <a:prstGeom prst="rect">
            <a:avLst/>
          </a:prstGeom>
          <a:noFill/>
        </p:spPr>
        <p:txBody>
          <a:bodyPr wrap="square" anchor="t" lIns="0" rIns="0" tIns="0" bIns="0">
            <a:spAutoFit/>
          </a:bodyPr>
          <a:lstStyle/>
          <a:p>
            <a:pPr algn="l">
              <a:lnSpc>
                <a:spcPts val="1700"/>
              </a:lnSpc>
            </a:pPr>
            <a:r>
              <a:rPr sz="1250" b="0">
                <a:solidFill>
                  <a:srgbClr val="9AA8BA"/>
                </a:solidFill>
                <a:latin typeface="Calibri"/>
              </a:rPr>
              <a:t>Power, cooling, facilities and cost. Each one reads only its own data and answers one question.</a:t>
            </a:r>
          </a:p>
        </p:txBody>
      </p:sp>
      <p:sp>
        <p:nvSpPr>
          <p:cNvPr id="14" name="Rounded Rectangle 13"/>
          <p:cNvSpPr/>
          <p:nvPr/>
        </p:nvSpPr>
        <p:spPr>
          <a:xfrm>
            <a:off x="548640" y="3758183"/>
            <a:ext cx="11064240" cy="932688"/>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41248" y="4032503"/>
            <a:ext cx="384048" cy="384048"/>
          </a:xfrm>
          <a:prstGeom prst="ellipse">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 y="4087368"/>
            <a:ext cx="384048" cy="292608"/>
          </a:xfrm>
          <a:prstGeom prst="rect">
            <a:avLst/>
          </a:prstGeom>
          <a:noFill/>
        </p:spPr>
        <p:txBody>
          <a:bodyPr wrap="square" anchor="t" lIns="0" rIns="0" tIns="0" bIns="0">
            <a:spAutoFit/>
          </a:bodyPr>
          <a:lstStyle/>
          <a:p>
            <a:pPr algn="ctr"/>
            <a:r>
              <a:rPr sz="1600" b="1">
                <a:solidFill>
                  <a:srgbClr val="0E1319"/>
                </a:solidFill>
                <a:latin typeface="Arial"/>
              </a:rPr>
              <a:t>3</a:t>
            </a:r>
          </a:p>
        </p:txBody>
      </p:sp>
      <p:sp>
        <p:nvSpPr>
          <p:cNvPr id="17" name="TextBox 16"/>
          <p:cNvSpPr txBox="1"/>
          <p:nvPr/>
        </p:nvSpPr>
        <p:spPr>
          <a:xfrm>
            <a:off x="1444752" y="3941063"/>
            <a:ext cx="3200400" cy="292608"/>
          </a:xfrm>
          <a:prstGeom prst="rect">
            <a:avLst/>
          </a:prstGeom>
          <a:noFill/>
        </p:spPr>
        <p:txBody>
          <a:bodyPr wrap="square" anchor="t" lIns="0" rIns="0" tIns="0" bIns="0">
            <a:spAutoFit/>
          </a:bodyPr>
          <a:lstStyle/>
          <a:p>
            <a:pPr algn="l"/>
            <a:r>
              <a:rPr sz="1500" b="1">
                <a:solidFill>
                  <a:srgbClr val="EEF2F7"/>
                </a:solidFill>
                <a:latin typeface="Calibri"/>
              </a:rPr>
              <a:t>The orchestrator reconciles</a:t>
            </a:r>
          </a:p>
        </p:txBody>
      </p:sp>
      <p:sp>
        <p:nvSpPr>
          <p:cNvPr id="18" name="TextBox 17"/>
          <p:cNvSpPr txBox="1"/>
          <p:nvPr/>
        </p:nvSpPr>
        <p:spPr>
          <a:xfrm>
            <a:off x="4800600" y="3959351"/>
            <a:ext cx="6583680" cy="566928"/>
          </a:xfrm>
          <a:prstGeom prst="rect">
            <a:avLst/>
          </a:prstGeom>
          <a:noFill/>
        </p:spPr>
        <p:txBody>
          <a:bodyPr wrap="square" anchor="t" lIns="0" rIns="0" tIns="0" bIns="0">
            <a:spAutoFit/>
          </a:bodyPr>
          <a:lstStyle/>
          <a:p>
            <a:pPr algn="l">
              <a:lnSpc>
                <a:spcPts val="1700"/>
              </a:lnSpc>
            </a:pPr>
            <a:r>
              <a:rPr sz="1250" b="0">
                <a:solidFill>
                  <a:srgbClr val="9AA8BA"/>
                </a:solidFill>
                <a:latin typeface="Calibri"/>
              </a:rPr>
              <a:t>It checks whether the four answers describe one buildable plan. When they do not, it opens a negotiation round.</a:t>
            </a:r>
          </a:p>
        </p:txBody>
      </p:sp>
      <p:sp>
        <p:nvSpPr>
          <p:cNvPr id="19" name="Rounded Rectangle 18"/>
          <p:cNvSpPr/>
          <p:nvPr/>
        </p:nvSpPr>
        <p:spPr>
          <a:xfrm>
            <a:off x="548640" y="4837176"/>
            <a:ext cx="11064240" cy="932688"/>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841248" y="5111496"/>
            <a:ext cx="384048" cy="384048"/>
          </a:xfrm>
          <a:prstGeom prst="ellipse">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8" y="5166360"/>
            <a:ext cx="384048" cy="292608"/>
          </a:xfrm>
          <a:prstGeom prst="rect">
            <a:avLst/>
          </a:prstGeom>
          <a:noFill/>
        </p:spPr>
        <p:txBody>
          <a:bodyPr wrap="square" anchor="t" lIns="0" rIns="0" tIns="0" bIns="0">
            <a:spAutoFit/>
          </a:bodyPr>
          <a:lstStyle/>
          <a:p>
            <a:pPr algn="ctr"/>
            <a:r>
              <a:rPr sz="1600" b="1">
                <a:solidFill>
                  <a:srgbClr val="0E1319"/>
                </a:solidFill>
                <a:latin typeface="Arial"/>
              </a:rPr>
              <a:t>4</a:t>
            </a:r>
          </a:p>
        </p:txBody>
      </p:sp>
      <p:sp>
        <p:nvSpPr>
          <p:cNvPr id="22" name="TextBox 21"/>
          <p:cNvSpPr txBox="1"/>
          <p:nvPr/>
        </p:nvSpPr>
        <p:spPr>
          <a:xfrm>
            <a:off x="1444752" y="5020056"/>
            <a:ext cx="3200400" cy="292608"/>
          </a:xfrm>
          <a:prstGeom prst="rect">
            <a:avLst/>
          </a:prstGeom>
          <a:noFill/>
        </p:spPr>
        <p:txBody>
          <a:bodyPr wrap="square" anchor="t" lIns="0" rIns="0" tIns="0" bIns="0">
            <a:spAutoFit/>
          </a:bodyPr>
          <a:lstStyle/>
          <a:p>
            <a:pPr algn="l"/>
            <a:r>
              <a:rPr sz="1500" b="1">
                <a:solidFill>
                  <a:srgbClr val="EEF2F7"/>
                </a:solidFill>
                <a:latin typeface="Calibri"/>
              </a:rPr>
              <a:t>You get a decision and a report</a:t>
            </a:r>
          </a:p>
        </p:txBody>
      </p:sp>
      <p:sp>
        <p:nvSpPr>
          <p:cNvPr id="23" name="TextBox 22"/>
          <p:cNvSpPr txBox="1"/>
          <p:nvPr/>
        </p:nvSpPr>
        <p:spPr>
          <a:xfrm>
            <a:off x="4800600" y="5038344"/>
            <a:ext cx="6583680" cy="566928"/>
          </a:xfrm>
          <a:prstGeom prst="rect">
            <a:avLst/>
          </a:prstGeom>
          <a:noFill/>
        </p:spPr>
        <p:txBody>
          <a:bodyPr wrap="square" anchor="t" lIns="0" rIns="0" tIns="0" bIns="0">
            <a:spAutoFit/>
          </a:bodyPr>
          <a:lstStyle/>
          <a:p>
            <a:pPr algn="l">
              <a:lnSpc>
                <a:spcPts val="1700"/>
              </a:lnSpc>
            </a:pPr>
            <a:r>
              <a:rPr sz="1250" b="0">
                <a:solidFill>
                  <a:srgbClr val="9AA8BA"/>
                </a:solidFill>
                <a:latin typeface="Calibri"/>
              </a:rPr>
              <a:t>Target zone, the plan to get there, and what every assessor said beside the numbers it was shown.</a:t>
            </a:r>
          </a:p>
        </p:txBody>
      </p:sp>
      <p:sp>
        <p:nvSpPr>
          <p:cNvPr id="24" name="TextBox 23"/>
          <p:cNvSpPr txBox="1"/>
          <p:nvPr/>
        </p:nvSpPr>
        <p:spPr>
          <a:xfrm>
            <a:off x="548640" y="5989320"/>
            <a:ext cx="11064240" cy="329184"/>
          </a:xfrm>
          <a:prstGeom prst="rect">
            <a:avLst/>
          </a:prstGeom>
          <a:noFill/>
        </p:spPr>
        <p:txBody>
          <a:bodyPr wrap="square" anchor="t" lIns="0" rIns="0" tIns="0" bIns="0">
            <a:spAutoFit/>
          </a:bodyPr>
          <a:lstStyle/>
          <a:p>
            <a:pPr algn="l"/>
            <a:r>
              <a:rPr sz="1300" b="0">
                <a:solidFill>
                  <a:srgbClr val="4DD6FF"/>
                </a:solidFill>
                <a:latin typeface="Calibri"/>
              </a:rPr>
              <a:t>About ninety seconds end to end. The same four checks take a site several days today.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319"/>
        </a:solidFill>
        <a:effectLst/>
      </p:bgPr>
    </p:bg>
    <p:spTree>
      <p:nvGrpSpPr>
        <p:cNvPr id="1" name=""/>
        <p:cNvGrpSpPr/>
        <p:nvPr/>
      </p:nvGrpSpPr>
      <p:grpSpPr/>
      <p:sp>
        <p:nvSpPr>
          <p:cNvPr id="2" name="TextBox 1"/>
          <p:cNvSpPr txBox="1"/>
          <p:nvPr/>
        </p:nvSpPr>
        <p:spPr>
          <a:xfrm>
            <a:off x="548640" y="457200"/>
            <a:ext cx="11064240" cy="585216"/>
          </a:xfrm>
          <a:prstGeom prst="rect">
            <a:avLst/>
          </a:prstGeom>
          <a:noFill/>
        </p:spPr>
        <p:txBody>
          <a:bodyPr wrap="square" anchor="t" lIns="0" rIns="0" tIns="0" bIns="0">
            <a:spAutoFit/>
          </a:bodyPr>
          <a:lstStyle/>
          <a:p>
            <a:pPr algn="l"/>
            <a:r>
              <a:rPr sz="2900" b="1">
                <a:solidFill>
                  <a:srgbClr val="EEF2F7"/>
                </a:solidFill>
                <a:latin typeface="Arial"/>
              </a:rPr>
              <a:t>A real run, round one</a:t>
            </a:r>
          </a:p>
        </p:txBody>
      </p:sp>
      <p:sp>
        <p:nvSpPr>
          <p:cNvPr id="3" name="TextBox 2"/>
          <p:cNvSpPr txBox="1"/>
          <p:nvPr/>
        </p:nvSpPr>
        <p:spPr>
          <a:xfrm>
            <a:off x="548640" y="1060704"/>
            <a:ext cx="11064240" cy="329184"/>
          </a:xfrm>
          <a:prstGeom prst="rect">
            <a:avLst/>
          </a:prstGeom>
          <a:noFill/>
        </p:spPr>
        <p:txBody>
          <a:bodyPr wrap="square" anchor="t" lIns="0" rIns="0" tIns="0" bIns="0">
            <a:spAutoFit/>
          </a:bodyPr>
          <a:lstStyle/>
          <a:p>
            <a:pPr algn="l"/>
            <a:r>
              <a:rPr sz="1400" b="0">
                <a:solidFill>
                  <a:srgbClr val="9AA8BA"/>
                </a:solidFill>
                <a:latin typeface="Calibri"/>
              </a:rPr>
              <a:t>Six racks of GB200 NVL72. 792 kW, liquid cooled, 1,360 kg per rack.</a:t>
            </a:r>
          </a:p>
        </p:txBody>
      </p:sp>
      <p:sp>
        <p:nvSpPr>
          <p:cNvPr id="4" name="Rounded Rectangle 3"/>
          <p:cNvSpPr/>
          <p:nvPr/>
        </p:nvSpPr>
        <p:spPr>
          <a:xfrm>
            <a:off x="548640" y="1627632"/>
            <a:ext cx="2670048" cy="173736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86384" y="1792224"/>
            <a:ext cx="2194560" cy="274320"/>
          </a:xfrm>
          <a:prstGeom prst="rect">
            <a:avLst/>
          </a:prstGeom>
          <a:noFill/>
        </p:spPr>
        <p:txBody>
          <a:bodyPr wrap="square" anchor="t" lIns="0" rIns="0" tIns="0" bIns="0">
            <a:spAutoFit/>
          </a:bodyPr>
          <a:lstStyle/>
          <a:p>
            <a:pPr algn="l"/>
            <a:r>
              <a:rPr sz="1300" b="1">
                <a:solidFill>
                  <a:srgbClr val="9AA8BA"/>
                </a:solidFill>
                <a:latin typeface="Calibri"/>
              </a:rPr>
              <a:t>Power</a:t>
            </a:r>
          </a:p>
        </p:txBody>
      </p:sp>
      <p:sp>
        <p:nvSpPr>
          <p:cNvPr id="6" name="TextBox 5"/>
          <p:cNvSpPr txBox="1"/>
          <p:nvPr/>
        </p:nvSpPr>
        <p:spPr>
          <a:xfrm>
            <a:off x="786384" y="2103120"/>
            <a:ext cx="2194560" cy="457200"/>
          </a:xfrm>
          <a:prstGeom prst="rect">
            <a:avLst/>
          </a:prstGeom>
          <a:noFill/>
        </p:spPr>
        <p:txBody>
          <a:bodyPr wrap="square" anchor="t" lIns="0" rIns="0" tIns="0" bIns="0">
            <a:spAutoFit/>
          </a:bodyPr>
          <a:lstStyle/>
          <a:p>
            <a:pPr algn="l"/>
            <a:r>
              <a:rPr sz="2500" b="1">
                <a:solidFill>
                  <a:srgbClr val="F87171"/>
                </a:solidFill>
                <a:latin typeface="Courier New"/>
              </a:rPr>
              <a:t>zone-a</a:t>
            </a:r>
          </a:p>
        </p:txBody>
      </p:sp>
      <p:sp>
        <p:nvSpPr>
          <p:cNvPr id="7" name="TextBox 6"/>
          <p:cNvSpPr txBox="1"/>
          <p:nvPr/>
        </p:nvSpPr>
        <p:spPr>
          <a:xfrm>
            <a:off x="786384" y="2633472"/>
            <a:ext cx="2212848" cy="640080"/>
          </a:xfrm>
          <a:prstGeom prst="rect">
            <a:avLst/>
          </a:prstGeom>
          <a:noFill/>
        </p:spPr>
        <p:txBody>
          <a:bodyPr wrap="square" anchor="t" lIns="0" rIns="0" tIns="0" bIns="0">
            <a:spAutoFit/>
          </a:bodyPr>
          <a:lstStyle/>
          <a:p>
            <a:pPr algn="l">
              <a:lnSpc>
                <a:spcPts val="1500"/>
              </a:lnSpc>
            </a:pPr>
            <a:r>
              <a:rPr sz="1100" b="0">
                <a:solidFill>
                  <a:srgbClr val="6B7A8D"/>
                </a:solidFill>
                <a:latin typeface="Calibri"/>
              </a:rPr>
              <a:t>most electrical headroom</a:t>
            </a:r>
          </a:p>
        </p:txBody>
      </p:sp>
      <p:sp>
        <p:nvSpPr>
          <p:cNvPr id="8" name="Rounded Rectangle 7"/>
          <p:cNvSpPr/>
          <p:nvPr/>
        </p:nvSpPr>
        <p:spPr>
          <a:xfrm>
            <a:off x="3346704" y="1627632"/>
            <a:ext cx="2670048" cy="173736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584448" y="1792224"/>
            <a:ext cx="2194560" cy="274320"/>
          </a:xfrm>
          <a:prstGeom prst="rect">
            <a:avLst/>
          </a:prstGeom>
          <a:noFill/>
        </p:spPr>
        <p:txBody>
          <a:bodyPr wrap="square" anchor="t" lIns="0" rIns="0" tIns="0" bIns="0">
            <a:spAutoFit/>
          </a:bodyPr>
          <a:lstStyle/>
          <a:p>
            <a:pPr algn="l"/>
            <a:r>
              <a:rPr sz="1300" b="1">
                <a:solidFill>
                  <a:srgbClr val="9AA8BA"/>
                </a:solidFill>
                <a:latin typeface="Calibri"/>
              </a:rPr>
              <a:t>Cooling</a:t>
            </a:r>
          </a:p>
        </p:txBody>
      </p:sp>
      <p:sp>
        <p:nvSpPr>
          <p:cNvPr id="10" name="TextBox 9"/>
          <p:cNvSpPr txBox="1"/>
          <p:nvPr/>
        </p:nvSpPr>
        <p:spPr>
          <a:xfrm>
            <a:off x="3584448" y="2103120"/>
            <a:ext cx="2194560" cy="457200"/>
          </a:xfrm>
          <a:prstGeom prst="rect">
            <a:avLst/>
          </a:prstGeom>
          <a:noFill/>
        </p:spPr>
        <p:txBody>
          <a:bodyPr wrap="square" anchor="t" lIns="0" rIns="0" tIns="0" bIns="0">
            <a:spAutoFit/>
          </a:bodyPr>
          <a:lstStyle/>
          <a:p>
            <a:pPr algn="l"/>
            <a:r>
              <a:rPr sz="2500" b="1">
                <a:solidFill>
                  <a:srgbClr val="34D399"/>
                </a:solidFill>
                <a:latin typeface="Courier New"/>
              </a:rPr>
              <a:t>zone-c</a:t>
            </a:r>
          </a:p>
        </p:txBody>
      </p:sp>
      <p:sp>
        <p:nvSpPr>
          <p:cNvPr id="11" name="TextBox 10"/>
          <p:cNvSpPr txBox="1"/>
          <p:nvPr/>
        </p:nvSpPr>
        <p:spPr>
          <a:xfrm>
            <a:off x="3584448" y="2633472"/>
            <a:ext cx="2212848" cy="640080"/>
          </a:xfrm>
          <a:prstGeom prst="rect">
            <a:avLst/>
          </a:prstGeom>
          <a:noFill/>
        </p:spPr>
        <p:txBody>
          <a:bodyPr wrap="square" anchor="t" lIns="0" rIns="0" tIns="0" bIns="0">
            <a:spAutoFit/>
          </a:bodyPr>
          <a:lstStyle/>
          <a:p>
            <a:pPr algn="l">
              <a:lnSpc>
                <a:spcPts val="1500"/>
              </a:lnSpc>
            </a:pPr>
            <a:r>
              <a:rPr sz="1100" b="0">
                <a:solidFill>
                  <a:srgbClr val="6B7A8D"/>
                </a:solidFill>
                <a:latin typeface="Calibri"/>
              </a:rPr>
              <a:t>only zone that can remove the heat</a:t>
            </a:r>
          </a:p>
        </p:txBody>
      </p:sp>
      <p:sp>
        <p:nvSpPr>
          <p:cNvPr id="12" name="Rounded Rectangle 11"/>
          <p:cNvSpPr/>
          <p:nvPr/>
        </p:nvSpPr>
        <p:spPr>
          <a:xfrm>
            <a:off x="6144768" y="1627632"/>
            <a:ext cx="2670048" cy="173736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382512" y="1792224"/>
            <a:ext cx="2194560" cy="274320"/>
          </a:xfrm>
          <a:prstGeom prst="rect">
            <a:avLst/>
          </a:prstGeom>
          <a:noFill/>
        </p:spPr>
        <p:txBody>
          <a:bodyPr wrap="square" anchor="t" lIns="0" rIns="0" tIns="0" bIns="0">
            <a:spAutoFit/>
          </a:bodyPr>
          <a:lstStyle/>
          <a:p>
            <a:pPr algn="l"/>
            <a:r>
              <a:rPr sz="1300" b="1">
                <a:solidFill>
                  <a:srgbClr val="9AA8BA"/>
                </a:solidFill>
                <a:latin typeface="Calibri"/>
              </a:rPr>
              <a:t>Facilities</a:t>
            </a:r>
          </a:p>
        </p:txBody>
      </p:sp>
      <p:sp>
        <p:nvSpPr>
          <p:cNvPr id="14" name="TextBox 13"/>
          <p:cNvSpPr txBox="1"/>
          <p:nvPr/>
        </p:nvSpPr>
        <p:spPr>
          <a:xfrm>
            <a:off x="6382512" y="2103120"/>
            <a:ext cx="2194560" cy="457200"/>
          </a:xfrm>
          <a:prstGeom prst="rect">
            <a:avLst/>
          </a:prstGeom>
          <a:noFill/>
        </p:spPr>
        <p:txBody>
          <a:bodyPr wrap="square" anchor="t" lIns="0" rIns="0" tIns="0" bIns="0">
            <a:spAutoFit/>
          </a:bodyPr>
          <a:lstStyle/>
          <a:p>
            <a:pPr algn="l"/>
            <a:r>
              <a:rPr sz="2500" b="1">
                <a:solidFill>
                  <a:srgbClr val="FBBF24"/>
                </a:solidFill>
                <a:latin typeface="Courier New"/>
              </a:rPr>
              <a:t>zone-b</a:t>
            </a:r>
          </a:p>
        </p:txBody>
      </p:sp>
      <p:sp>
        <p:nvSpPr>
          <p:cNvPr id="15" name="TextBox 14"/>
          <p:cNvSpPr txBox="1"/>
          <p:nvPr/>
        </p:nvSpPr>
        <p:spPr>
          <a:xfrm>
            <a:off x="6382512" y="2633472"/>
            <a:ext cx="2212848" cy="640080"/>
          </a:xfrm>
          <a:prstGeom prst="rect">
            <a:avLst/>
          </a:prstGeom>
          <a:noFill/>
        </p:spPr>
        <p:txBody>
          <a:bodyPr wrap="square" anchor="t" lIns="0" rIns="0" tIns="0" bIns="0">
            <a:spAutoFit/>
          </a:bodyPr>
          <a:lstStyle/>
          <a:p>
            <a:pPr algn="l">
              <a:lnSpc>
                <a:spcPts val="1500"/>
              </a:lnSpc>
            </a:pPr>
            <a:r>
              <a:rPr sz="1100" b="0">
                <a:solidFill>
                  <a:srgbClr val="6B7A8D"/>
                </a:solidFill>
                <a:latin typeface="Calibri"/>
              </a:rPr>
              <a:t>only zone with 6 free liquid racks</a:t>
            </a:r>
          </a:p>
        </p:txBody>
      </p:sp>
      <p:sp>
        <p:nvSpPr>
          <p:cNvPr id="16" name="Rounded Rectangle 15"/>
          <p:cNvSpPr/>
          <p:nvPr/>
        </p:nvSpPr>
        <p:spPr>
          <a:xfrm>
            <a:off x="8942832" y="1627632"/>
            <a:ext cx="2670048" cy="173736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80576" y="1792224"/>
            <a:ext cx="2194560" cy="274320"/>
          </a:xfrm>
          <a:prstGeom prst="rect">
            <a:avLst/>
          </a:prstGeom>
          <a:noFill/>
        </p:spPr>
        <p:txBody>
          <a:bodyPr wrap="square" anchor="t" lIns="0" rIns="0" tIns="0" bIns="0">
            <a:spAutoFit/>
          </a:bodyPr>
          <a:lstStyle/>
          <a:p>
            <a:pPr algn="l"/>
            <a:r>
              <a:rPr sz="1300" b="1">
                <a:solidFill>
                  <a:srgbClr val="9AA8BA"/>
                </a:solidFill>
                <a:latin typeface="Calibri"/>
              </a:rPr>
              <a:t>Cost</a:t>
            </a:r>
          </a:p>
        </p:txBody>
      </p:sp>
      <p:sp>
        <p:nvSpPr>
          <p:cNvPr id="18" name="TextBox 17"/>
          <p:cNvSpPr txBox="1"/>
          <p:nvPr/>
        </p:nvSpPr>
        <p:spPr>
          <a:xfrm>
            <a:off x="9180576" y="2103120"/>
            <a:ext cx="2194560" cy="457200"/>
          </a:xfrm>
          <a:prstGeom prst="rect">
            <a:avLst/>
          </a:prstGeom>
          <a:noFill/>
        </p:spPr>
        <p:txBody>
          <a:bodyPr wrap="square" anchor="t" lIns="0" rIns="0" tIns="0" bIns="0">
            <a:spAutoFit/>
          </a:bodyPr>
          <a:lstStyle/>
          <a:p>
            <a:pPr algn="l"/>
            <a:r>
              <a:rPr sz="2500" b="1">
                <a:solidFill>
                  <a:srgbClr val="FBBF24"/>
                </a:solidFill>
                <a:latin typeface="Courier New"/>
              </a:rPr>
              <a:t>zone-b</a:t>
            </a:r>
          </a:p>
        </p:txBody>
      </p:sp>
      <p:sp>
        <p:nvSpPr>
          <p:cNvPr id="19" name="TextBox 18"/>
          <p:cNvSpPr txBox="1"/>
          <p:nvPr/>
        </p:nvSpPr>
        <p:spPr>
          <a:xfrm>
            <a:off x="9180576" y="2633472"/>
            <a:ext cx="2212848" cy="640080"/>
          </a:xfrm>
          <a:prstGeom prst="rect">
            <a:avLst/>
          </a:prstGeom>
          <a:noFill/>
        </p:spPr>
        <p:txBody>
          <a:bodyPr wrap="square" anchor="t" lIns="0" rIns="0" tIns="0" bIns="0">
            <a:spAutoFit/>
          </a:bodyPr>
          <a:lstStyle/>
          <a:p>
            <a:pPr algn="l">
              <a:lnSpc>
                <a:spcPts val="1500"/>
              </a:lnSpc>
            </a:pPr>
            <a:r>
              <a:rPr sz="1100" b="0">
                <a:solidFill>
                  <a:srgbClr val="6B7A8D"/>
                </a:solidFill>
                <a:latin typeface="Calibri"/>
              </a:rPr>
              <a:t>avoids a $48k per rack retrofit</a:t>
            </a:r>
          </a:p>
        </p:txBody>
      </p:sp>
      <p:sp>
        <p:nvSpPr>
          <p:cNvPr id="20" name="Rounded Rectangle 19"/>
          <p:cNvSpPr/>
          <p:nvPr/>
        </p:nvSpPr>
        <p:spPr>
          <a:xfrm>
            <a:off x="548640" y="3657600"/>
            <a:ext cx="11064240" cy="1188720"/>
          </a:xfrm>
          <a:prstGeom prst="roundRect">
            <a:avLst>
              <a:gd name="adj" fmla="val 6000"/>
            </a:avLst>
          </a:prstGeom>
          <a:solidFill>
            <a:srgbClr val="1E2735"/>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68680" y="3840480"/>
            <a:ext cx="10424160" cy="384048"/>
          </a:xfrm>
          <a:prstGeom prst="rect">
            <a:avLst/>
          </a:prstGeom>
          <a:noFill/>
        </p:spPr>
        <p:txBody>
          <a:bodyPr wrap="square" anchor="t" lIns="0" rIns="0" tIns="0" bIns="0">
            <a:spAutoFit/>
          </a:bodyPr>
          <a:lstStyle/>
          <a:p>
            <a:pPr algn="l"/>
            <a:r>
              <a:rPr sz="1800" b="1">
                <a:solidFill>
                  <a:srgbClr val="EEF2F7"/>
                </a:solidFill>
                <a:latin typeface="Arial"/>
              </a:rPr>
              <a:t>Four correct answers. Three different rooms. No plan.</a:t>
            </a:r>
          </a:p>
        </p:txBody>
      </p:sp>
      <p:sp>
        <p:nvSpPr>
          <p:cNvPr id="22" name="TextBox 21"/>
          <p:cNvSpPr txBox="1"/>
          <p:nvPr/>
        </p:nvSpPr>
        <p:spPr>
          <a:xfrm>
            <a:off x="868680" y="4279392"/>
            <a:ext cx="10424160" cy="384048"/>
          </a:xfrm>
          <a:prstGeom prst="rect">
            <a:avLst/>
          </a:prstGeom>
          <a:noFill/>
        </p:spPr>
        <p:txBody>
          <a:bodyPr wrap="square" anchor="t" lIns="0" rIns="0" tIns="0" bIns="0">
            <a:spAutoFit/>
          </a:bodyPr>
          <a:lstStyle/>
          <a:p>
            <a:pPr algn="l"/>
            <a:r>
              <a:rPr sz="1300" b="0">
                <a:solidFill>
                  <a:srgbClr val="9AA8BA"/>
                </a:solidFill>
                <a:latin typeface="Calibri"/>
              </a:rPr>
              <a:t>A system that counted votes would see four approvals and place the order. Then the racks arrive and the room cannot cool them.</a:t>
            </a:r>
          </a:p>
        </p:txBody>
      </p:sp>
      <p:sp>
        <p:nvSpPr>
          <p:cNvPr id="23" name="TextBox 22"/>
          <p:cNvSpPr txBox="1"/>
          <p:nvPr/>
        </p:nvSpPr>
        <p:spPr>
          <a:xfrm>
            <a:off x="548640" y="5138928"/>
            <a:ext cx="11064240" cy="384048"/>
          </a:xfrm>
          <a:prstGeom prst="rect">
            <a:avLst/>
          </a:prstGeom>
          <a:noFill/>
        </p:spPr>
        <p:txBody>
          <a:bodyPr wrap="square" anchor="t" lIns="0" rIns="0" tIns="0" bIns="0">
            <a:spAutoFit/>
          </a:bodyPr>
          <a:lstStyle/>
          <a:p>
            <a:pPr algn="l"/>
            <a:r>
              <a:rPr sz="1350" b="0">
                <a:solidFill>
                  <a:srgbClr val="4DD6FF"/>
                </a:solidFill>
                <a:latin typeface="Calibri"/>
              </a:rPr>
              <a:t>This is the failure we built for. Not assessors contradicting each other, but assessors all being right and still adding up to nothing.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319"/>
        </a:solidFill>
        <a:effectLst/>
      </p:bgPr>
    </p:bg>
    <p:spTree>
      <p:nvGrpSpPr>
        <p:cNvPr id="1" name=""/>
        <p:cNvGrpSpPr/>
        <p:nvPr/>
      </p:nvGrpSpPr>
      <p:grpSpPr/>
      <p:sp>
        <p:nvSpPr>
          <p:cNvPr id="2" name="TextBox 1"/>
          <p:cNvSpPr txBox="1"/>
          <p:nvPr/>
        </p:nvSpPr>
        <p:spPr>
          <a:xfrm>
            <a:off x="548640" y="457200"/>
            <a:ext cx="11064240" cy="585216"/>
          </a:xfrm>
          <a:prstGeom prst="rect">
            <a:avLst/>
          </a:prstGeom>
          <a:noFill/>
        </p:spPr>
        <p:txBody>
          <a:bodyPr wrap="square" anchor="t" lIns="0" rIns="0" tIns="0" bIns="0">
            <a:spAutoFit/>
          </a:bodyPr>
          <a:lstStyle/>
          <a:p>
            <a:pPr algn="l"/>
            <a:r>
              <a:rPr sz="2900" b="1">
                <a:solidFill>
                  <a:srgbClr val="EEF2F7"/>
                </a:solidFill>
                <a:latin typeface="Arial"/>
              </a:rPr>
              <a:t>How the disagreement gets resolved</a:t>
            </a:r>
          </a:p>
        </p:txBody>
      </p:sp>
      <p:sp>
        <p:nvSpPr>
          <p:cNvPr id="3" name="TextBox 2"/>
          <p:cNvSpPr txBox="1"/>
          <p:nvPr/>
        </p:nvSpPr>
        <p:spPr>
          <a:xfrm>
            <a:off x="548640" y="1060704"/>
            <a:ext cx="11064240" cy="329184"/>
          </a:xfrm>
          <a:prstGeom prst="rect">
            <a:avLst/>
          </a:prstGeom>
          <a:noFill/>
        </p:spPr>
        <p:txBody>
          <a:bodyPr wrap="square" anchor="t" lIns="0" rIns="0" tIns="0" bIns="0">
            <a:spAutoFit/>
          </a:bodyPr>
          <a:lstStyle/>
          <a:p>
            <a:pPr algn="l"/>
            <a:r>
              <a:rPr sz="1400" b="0">
                <a:solidFill>
                  <a:srgbClr val="9AA8BA"/>
                </a:solidFill>
                <a:latin typeface="Calibri"/>
              </a:rPr>
              <a:t>Bounded negotiation, and an intersection no single assessor could compute</a:t>
            </a:r>
          </a:p>
        </p:txBody>
      </p:sp>
      <p:sp>
        <p:nvSpPr>
          <p:cNvPr id="4" name="Rounded Rectangle 3"/>
          <p:cNvSpPr/>
          <p:nvPr/>
        </p:nvSpPr>
        <p:spPr>
          <a:xfrm>
            <a:off x="548640" y="1572768"/>
            <a:ext cx="5760720" cy="1133856"/>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22960" y="1709928"/>
            <a:ext cx="1188720" cy="256032"/>
          </a:xfrm>
          <a:prstGeom prst="rect">
            <a:avLst/>
          </a:prstGeom>
          <a:noFill/>
        </p:spPr>
        <p:txBody>
          <a:bodyPr wrap="square" anchor="t" lIns="0" rIns="0" tIns="0" bIns="0">
            <a:spAutoFit/>
          </a:bodyPr>
          <a:lstStyle/>
          <a:p>
            <a:pPr algn="l"/>
            <a:r>
              <a:rPr sz="1400" b="1">
                <a:solidFill>
                  <a:srgbClr val="F87171"/>
                </a:solidFill>
                <a:latin typeface="Calibri"/>
              </a:rPr>
              <a:t>Round 1</a:t>
            </a:r>
          </a:p>
        </p:txBody>
      </p:sp>
      <p:sp>
        <p:nvSpPr>
          <p:cNvPr id="6" name="TextBox 5"/>
          <p:cNvSpPr txBox="1"/>
          <p:nvPr/>
        </p:nvSpPr>
        <p:spPr>
          <a:xfrm>
            <a:off x="2057400" y="1719072"/>
            <a:ext cx="2377440" cy="237744"/>
          </a:xfrm>
          <a:prstGeom prst="rect">
            <a:avLst/>
          </a:prstGeom>
          <a:noFill/>
        </p:spPr>
        <p:txBody>
          <a:bodyPr wrap="square" anchor="t" lIns="0" rIns="0" tIns="0" bIns="0">
            <a:spAutoFit/>
          </a:bodyPr>
          <a:lstStyle/>
          <a:p>
            <a:pPr algn="l"/>
            <a:r>
              <a:rPr sz="1200" b="1">
                <a:solidFill>
                  <a:srgbClr val="EEF2F7"/>
                </a:solidFill>
                <a:latin typeface="Calibri"/>
              </a:rPr>
              <a:t>Four independent verdicts</a:t>
            </a:r>
          </a:p>
        </p:txBody>
      </p:sp>
      <p:sp>
        <p:nvSpPr>
          <p:cNvPr id="7" name="TextBox 6"/>
          <p:cNvSpPr txBox="1"/>
          <p:nvPr/>
        </p:nvSpPr>
        <p:spPr>
          <a:xfrm>
            <a:off x="4526280" y="1719072"/>
            <a:ext cx="1554480" cy="237744"/>
          </a:xfrm>
          <a:prstGeom prst="rect">
            <a:avLst/>
          </a:prstGeom>
          <a:noFill/>
        </p:spPr>
        <p:txBody>
          <a:bodyPr wrap="square" anchor="t" lIns="0" rIns="0" tIns="0" bIns="0">
            <a:spAutoFit/>
          </a:bodyPr>
          <a:lstStyle/>
          <a:p>
            <a:pPr algn="r"/>
            <a:r>
              <a:rPr sz="1000" b="1">
                <a:solidFill>
                  <a:srgbClr val="F87171"/>
                </a:solidFill>
                <a:latin typeface="Calibri"/>
              </a:rPr>
              <a:t>conflict: zone_mismatch</a:t>
            </a:r>
          </a:p>
        </p:txBody>
      </p:sp>
      <p:sp>
        <p:nvSpPr>
          <p:cNvPr id="8" name="TextBox 7"/>
          <p:cNvSpPr txBox="1"/>
          <p:nvPr/>
        </p:nvSpPr>
        <p:spPr>
          <a:xfrm>
            <a:off x="822960" y="2029967"/>
            <a:ext cx="5257800" cy="640080"/>
          </a:xfrm>
          <a:prstGeom prst="rect">
            <a:avLst/>
          </a:prstGeom>
          <a:noFill/>
        </p:spPr>
        <p:txBody>
          <a:bodyPr wrap="square" anchor="t" lIns="0" rIns="0" tIns="0" bIns="0">
            <a:spAutoFit/>
          </a:bodyPr>
          <a:lstStyle/>
          <a:p>
            <a:pPr algn="l">
              <a:lnSpc>
                <a:spcPts val="1500"/>
              </a:lnSpc>
            </a:pPr>
            <a:r>
              <a:rPr sz="1100" b="0">
                <a:solidFill>
                  <a:srgbClr val="9AA8BA"/>
                </a:solidFill>
                <a:latin typeface="Calibri"/>
              </a:rPr>
              <a:t>Each assessor reads only its own data and cannot see what the others said.</a:t>
            </a:r>
          </a:p>
        </p:txBody>
      </p:sp>
      <p:sp>
        <p:nvSpPr>
          <p:cNvPr id="9" name="Rounded Rectangle 8"/>
          <p:cNvSpPr/>
          <p:nvPr/>
        </p:nvSpPr>
        <p:spPr>
          <a:xfrm>
            <a:off x="548640" y="2834639"/>
            <a:ext cx="5760720" cy="1133856"/>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60" y="2971799"/>
            <a:ext cx="1188720" cy="256032"/>
          </a:xfrm>
          <a:prstGeom prst="rect">
            <a:avLst/>
          </a:prstGeom>
          <a:noFill/>
        </p:spPr>
        <p:txBody>
          <a:bodyPr wrap="square" anchor="t" lIns="0" rIns="0" tIns="0" bIns="0">
            <a:spAutoFit/>
          </a:bodyPr>
          <a:lstStyle/>
          <a:p>
            <a:pPr algn="l"/>
            <a:r>
              <a:rPr sz="1400" b="1">
                <a:solidFill>
                  <a:srgbClr val="34D399"/>
                </a:solidFill>
                <a:latin typeface="Calibri"/>
              </a:rPr>
              <a:t>Round 2</a:t>
            </a:r>
          </a:p>
        </p:txBody>
      </p:sp>
      <p:sp>
        <p:nvSpPr>
          <p:cNvPr id="11" name="TextBox 10"/>
          <p:cNvSpPr txBox="1"/>
          <p:nvPr/>
        </p:nvSpPr>
        <p:spPr>
          <a:xfrm>
            <a:off x="2057400" y="2980944"/>
            <a:ext cx="2377440" cy="237744"/>
          </a:xfrm>
          <a:prstGeom prst="rect">
            <a:avLst/>
          </a:prstGeom>
          <a:noFill/>
        </p:spPr>
        <p:txBody>
          <a:bodyPr wrap="square" anchor="t" lIns="0" rIns="0" tIns="0" bIns="0">
            <a:spAutoFit/>
          </a:bodyPr>
          <a:lstStyle/>
          <a:p>
            <a:pPr algn="l"/>
            <a:r>
              <a:rPr sz="1200" b="1">
                <a:solidFill>
                  <a:srgbClr val="EEF2F7"/>
                </a:solidFill>
                <a:latin typeface="Calibri"/>
              </a:rPr>
              <a:t>Positions attached</a:t>
            </a:r>
          </a:p>
        </p:txBody>
      </p:sp>
      <p:sp>
        <p:nvSpPr>
          <p:cNvPr id="12" name="TextBox 11"/>
          <p:cNvSpPr txBox="1"/>
          <p:nvPr/>
        </p:nvSpPr>
        <p:spPr>
          <a:xfrm>
            <a:off x="4526280" y="2980944"/>
            <a:ext cx="1554480" cy="237744"/>
          </a:xfrm>
          <a:prstGeom prst="rect">
            <a:avLst/>
          </a:prstGeom>
          <a:noFill/>
        </p:spPr>
        <p:txBody>
          <a:bodyPr wrap="square" anchor="t" lIns="0" rIns="0" tIns="0" bIns="0">
            <a:spAutoFit/>
          </a:bodyPr>
          <a:lstStyle/>
          <a:p>
            <a:pPr algn="r"/>
            <a:r>
              <a:rPr sz="1000" b="1">
                <a:solidFill>
                  <a:srgbClr val="34D399"/>
                </a:solidFill>
                <a:latin typeface="Calibri"/>
              </a:rPr>
              <a:t>consistent, ends here</a:t>
            </a:r>
          </a:p>
        </p:txBody>
      </p:sp>
      <p:sp>
        <p:nvSpPr>
          <p:cNvPr id="13" name="TextBox 12"/>
          <p:cNvSpPr txBox="1"/>
          <p:nvPr/>
        </p:nvSpPr>
        <p:spPr>
          <a:xfrm>
            <a:off x="822960" y="3291839"/>
            <a:ext cx="5257800" cy="640080"/>
          </a:xfrm>
          <a:prstGeom prst="rect">
            <a:avLst/>
          </a:prstGeom>
          <a:noFill/>
        </p:spPr>
        <p:txBody>
          <a:bodyPr wrap="square" anchor="t" lIns="0" rIns="0" tIns="0" bIns="0">
            <a:spAutoFit/>
          </a:bodyPr>
          <a:lstStyle/>
          <a:p>
            <a:pPr algn="l">
              <a:lnSpc>
                <a:spcPts val="1500"/>
              </a:lnSpc>
            </a:pPr>
            <a:r>
              <a:rPr sz="1100" b="0">
                <a:solidFill>
                  <a:srgbClr val="9AA8BA"/>
                </a:solidFill>
                <a:latin typeface="Calibri"/>
              </a:rPr>
              <a:t>Each assessor is asked again with the others' positions attached. Facilities volunteers a retrofit it had not mentioned. Cost re-prices one rack, not six.</a:t>
            </a:r>
          </a:p>
        </p:txBody>
      </p:sp>
      <p:sp>
        <p:nvSpPr>
          <p:cNvPr id="14" name="Rounded Rectangle 13"/>
          <p:cNvSpPr/>
          <p:nvPr/>
        </p:nvSpPr>
        <p:spPr>
          <a:xfrm>
            <a:off x="548640" y="4096511"/>
            <a:ext cx="5760720" cy="1133856"/>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2960" y="4233672"/>
            <a:ext cx="1188720" cy="256032"/>
          </a:xfrm>
          <a:prstGeom prst="rect">
            <a:avLst/>
          </a:prstGeom>
          <a:noFill/>
        </p:spPr>
        <p:txBody>
          <a:bodyPr wrap="square" anchor="t" lIns="0" rIns="0" tIns="0" bIns="0">
            <a:spAutoFit/>
          </a:bodyPr>
          <a:lstStyle/>
          <a:p>
            <a:pPr algn="l"/>
            <a:r>
              <a:rPr sz="1400" b="1">
                <a:solidFill>
                  <a:srgbClr val="FBBF24"/>
                </a:solidFill>
                <a:latin typeface="Calibri"/>
              </a:rPr>
              <a:t>Round 3</a:t>
            </a:r>
          </a:p>
        </p:txBody>
      </p:sp>
      <p:sp>
        <p:nvSpPr>
          <p:cNvPr id="16" name="TextBox 15"/>
          <p:cNvSpPr txBox="1"/>
          <p:nvPr/>
        </p:nvSpPr>
        <p:spPr>
          <a:xfrm>
            <a:off x="2057400" y="4242816"/>
            <a:ext cx="2377440" cy="237744"/>
          </a:xfrm>
          <a:prstGeom prst="rect">
            <a:avLst/>
          </a:prstGeom>
          <a:noFill/>
        </p:spPr>
        <p:txBody>
          <a:bodyPr wrap="square" anchor="t" lIns="0" rIns="0" tIns="0" bIns="0">
            <a:spAutoFit/>
          </a:bodyPr>
          <a:lstStyle/>
          <a:p>
            <a:pPr algn="l"/>
            <a:r>
              <a:rPr sz="1200" b="1">
                <a:solidFill>
                  <a:srgbClr val="EEF2F7"/>
                </a:solidFill>
                <a:latin typeface="Calibri"/>
              </a:rPr>
              <a:t>The hard limit</a:t>
            </a:r>
          </a:p>
        </p:txBody>
      </p:sp>
      <p:sp>
        <p:nvSpPr>
          <p:cNvPr id="17" name="TextBox 16"/>
          <p:cNvSpPr txBox="1"/>
          <p:nvPr/>
        </p:nvSpPr>
        <p:spPr>
          <a:xfrm>
            <a:off x="4526280" y="4242816"/>
            <a:ext cx="1554480" cy="237744"/>
          </a:xfrm>
          <a:prstGeom prst="rect">
            <a:avLst/>
          </a:prstGeom>
          <a:noFill/>
        </p:spPr>
        <p:txBody>
          <a:bodyPr wrap="square" anchor="t" lIns="0" rIns="0" tIns="0" bIns="0">
            <a:spAutoFit/>
          </a:bodyPr>
          <a:lstStyle/>
          <a:p>
            <a:pPr algn="r"/>
            <a:r>
              <a:rPr sz="1000" b="1">
                <a:solidFill>
                  <a:srgbClr val="FBBF24"/>
                </a:solidFill>
                <a:latin typeface="Calibri"/>
              </a:rPr>
              <a:t>3 rounds, then a human</a:t>
            </a:r>
          </a:p>
        </p:txBody>
      </p:sp>
      <p:sp>
        <p:nvSpPr>
          <p:cNvPr id="18" name="TextBox 17"/>
          <p:cNvSpPr txBox="1"/>
          <p:nvPr/>
        </p:nvSpPr>
        <p:spPr>
          <a:xfrm>
            <a:off x="822960" y="4553712"/>
            <a:ext cx="5257800" cy="640080"/>
          </a:xfrm>
          <a:prstGeom prst="rect">
            <a:avLst/>
          </a:prstGeom>
          <a:noFill/>
        </p:spPr>
        <p:txBody>
          <a:bodyPr wrap="square" anchor="t" lIns="0" rIns="0" tIns="0" bIns="0">
            <a:spAutoFit/>
          </a:bodyPr>
          <a:lstStyle/>
          <a:p>
            <a:pPr algn="l">
              <a:lnSpc>
                <a:spcPts val="1500"/>
              </a:lnSpc>
            </a:pPr>
            <a:r>
              <a:rPr sz="1100" b="0">
                <a:solidFill>
                  <a:srgbClr val="9AA8BA"/>
                </a:solidFill>
                <a:latin typeface="Calibri"/>
              </a:rPr>
              <a:t>If the verdicts still do not describe one plan, it stops and escalates with the whole disagreement attached. It never picks a winner.</a:t>
            </a:r>
          </a:p>
        </p:txBody>
      </p:sp>
      <p:sp>
        <p:nvSpPr>
          <p:cNvPr id="19" name="TextBox 18"/>
          <p:cNvSpPr txBox="1"/>
          <p:nvPr/>
        </p:nvSpPr>
        <p:spPr>
          <a:xfrm>
            <a:off x="548640" y="5468112"/>
            <a:ext cx="5760720" cy="640080"/>
          </a:xfrm>
          <a:prstGeom prst="rect">
            <a:avLst/>
          </a:prstGeom>
          <a:noFill/>
        </p:spPr>
        <p:txBody>
          <a:bodyPr wrap="square" anchor="t" lIns="0" rIns="0" tIns="0" bIns="0">
            <a:spAutoFit/>
          </a:bodyPr>
          <a:lstStyle/>
          <a:p>
            <a:pPr algn="l">
              <a:lnSpc>
                <a:spcPts val="1600"/>
              </a:lnSpc>
            </a:pPr>
            <a:r>
              <a:rPr sz="1150" b="0">
                <a:solidFill>
                  <a:srgbClr val="4DD6FF"/>
                </a:solidFill>
                <a:latin typeface="Calibri"/>
              </a:rPr>
              <a:t>Conflict detection is ordinary code, not a model and not a vote. Whether two zone ids differ is not a judgement call.</a:t>
            </a:r>
          </a:p>
        </p:txBody>
      </p:sp>
      <p:sp>
        <p:nvSpPr>
          <p:cNvPr id="20" name="Rounded Rectangle 19"/>
          <p:cNvSpPr/>
          <p:nvPr/>
        </p:nvSpPr>
        <p:spPr>
          <a:xfrm>
            <a:off x="6583680" y="1572768"/>
            <a:ext cx="5029200" cy="4526280"/>
          </a:xfrm>
          <a:prstGeom prst="roundRect">
            <a:avLst>
              <a:gd name="adj" fmla="val 6000"/>
            </a:avLst>
          </a:prstGeom>
          <a:solidFill>
            <a:srgbClr val="1E2735"/>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903720" y="1783080"/>
            <a:ext cx="4389120" cy="274320"/>
          </a:xfrm>
          <a:prstGeom prst="rect">
            <a:avLst/>
          </a:prstGeom>
          <a:noFill/>
        </p:spPr>
        <p:txBody>
          <a:bodyPr wrap="square" anchor="t" lIns="0" rIns="0" tIns="0" bIns="0">
            <a:spAutoFit/>
          </a:bodyPr>
          <a:lstStyle/>
          <a:p>
            <a:pPr algn="l"/>
            <a:r>
              <a:rPr sz="1300" b="1">
                <a:solidFill>
                  <a:srgbClr val="EEF2F7"/>
                </a:solidFill>
                <a:latin typeface="Calibri"/>
              </a:rPr>
              <a:t>Each assessor also reports what it rules out</a:t>
            </a:r>
          </a:p>
        </p:txBody>
      </p:sp>
      <p:sp>
        <p:nvSpPr>
          <p:cNvPr id="22" name="TextBox 21"/>
          <p:cNvSpPr txBox="1"/>
          <p:nvPr/>
        </p:nvSpPr>
        <p:spPr>
          <a:xfrm>
            <a:off x="6903720" y="2212848"/>
            <a:ext cx="1371600" cy="274320"/>
          </a:xfrm>
          <a:prstGeom prst="rect">
            <a:avLst/>
          </a:prstGeom>
          <a:noFill/>
        </p:spPr>
        <p:txBody>
          <a:bodyPr wrap="square" anchor="t" lIns="0" rIns="0" tIns="0" bIns="0">
            <a:spAutoFit/>
          </a:bodyPr>
          <a:lstStyle/>
          <a:p>
            <a:pPr algn="l"/>
            <a:r>
              <a:rPr sz="1200" b="0">
                <a:solidFill>
                  <a:srgbClr val="9AA8BA"/>
                </a:solidFill>
                <a:latin typeface="Calibri"/>
              </a:rPr>
              <a:t>Cooling</a:t>
            </a:r>
          </a:p>
        </p:txBody>
      </p:sp>
      <p:sp>
        <p:nvSpPr>
          <p:cNvPr id="23" name="TextBox 22"/>
          <p:cNvSpPr txBox="1"/>
          <p:nvPr/>
        </p:nvSpPr>
        <p:spPr>
          <a:xfrm>
            <a:off x="8458200" y="2212848"/>
            <a:ext cx="2926080" cy="274320"/>
          </a:xfrm>
          <a:prstGeom prst="rect">
            <a:avLst/>
          </a:prstGeom>
          <a:noFill/>
        </p:spPr>
        <p:txBody>
          <a:bodyPr wrap="square" anchor="t" lIns="0" rIns="0" tIns="0" bIns="0">
            <a:spAutoFit/>
          </a:bodyPr>
          <a:lstStyle/>
          <a:p>
            <a:pPr algn="l"/>
            <a:r>
              <a:rPr sz="1200" b="0">
                <a:solidFill>
                  <a:srgbClr val="F87171"/>
                </a:solidFill>
                <a:latin typeface="Courier New"/>
              </a:rPr>
              <a:t>zone-a  zone-b  zone-d</a:t>
            </a:r>
          </a:p>
        </p:txBody>
      </p:sp>
      <p:sp>
        <p:nvSpPr>
          <p:cNvPr id="24" name="TextBox 23"/>
          <p:cNvSpPr txBox="1"/>
          <p:nvPr/>
        </p:nvSpPr>
        <p:spPr>
          <a:xfrm>
            <a:off x="6903720" y="2615184"/>
            <a:ext cx="1371600" cy="274320"/>
          </a:xfrm>
          <a:prstGeom prst="rect">
            <a:avLst/>
          </a:prstGeom>
          <a:noFill/>
        </p:spPr>
        <p:txBody>
          <a:bodyPr wrap="square" anchor="t" lIns="0" rIns="0" tIns="0" bIns="0">
            <a:spAutoFit/>
          </a:bodyPr>
          <a:lstStyle/>
          <a:p>
            <a:pPr algn="l"/>
            <a:r>
              <a:rPr sz="1200" b="0">
                <a:solidFill>
                  <a:srgbClr val="9AA8BA"/>
                </a:solidFill>
                <a:latin typeface="Calibri"/>
              </a:rPr>
              <a:t>Power</a:t>
            </a:r>
          </a:p>
        </p:txBody>
      </p:sp>
      <p:sp>
        <p:nvSpPr>
          <p:cNvPr id="25" name="TextBox 24"/>
          <p:cNvSpPr txBox="1"/>
          <p:nvPr/>
        </p:nvSpPr>
        <p:spPr>
          <a:xfrm>
            <a:off x="8458200" y="2615184"/>
            <a:ext cx="2926080" cy="274320"/>
          </a:xfrm>
          <a:prstGeom prst="rect">
            <a:avLst/>
          </a:prstGeom>
          <a:noFill/>
        </p:spPr>
        <p:txBody>
          <a:bodyPr wrap="square" anchor="t" lIns="0" rIns="0" tIns="0" bIns="0">
            <a:spAutoFit/>
          </a:bodyPr>
          <a:lstStyle/>
          <a:p>
            <a:pPr algn="l"/>
            <a:r>
              <a:rPr sz="1200" b="0">
                <a:solidFill>
                  <a:srgbClr val="F87171"/>
                </a:solidFill>
                <a:latin typeface="Courier New"/>
              </a:rPr>
              <a:t>zone-b  zone-d</a:t>
            </a:r>
          </a:p>
        </p:txBody>
      </p:sp>
      <p:sp>
        <p:nvSpPr>
          <p:cNvPr id="26" name="TextBox 25"/>
          <p:cNvSpPr txBox="1"/>
          <p:nvPr/>
        </p:nvSpPr>
        <p:spPr>
          <a:xfrm>
            <a:off x="6903720" y="3017520"/>
            <a:ext cx="1371600" cy="274320"/>
          </a:xfrm>
          <a:prstGeom prst="rect">
            <a:avLst/>
          </a:prstGeom>
          <a:noFill/>
        </p:spPr>
        <p:txBody>
          <a:bodyPr wrap="square" anchor="t" lIns="0" rIns="0" tIns="0" bIns="0">
            <a:spAutoFit/>
          </a:bodyPr>
          <a:lstStyle/>
          <a:p>
            <a:pPr algn="l"/>
            <a:r>
              <a:rPr sz="1200" b="0">
                <a:solidFill>
                  <a:srgbClr val="9AA8BA"/>
                </a:solidFill>
                <a:latin typeface="Calibri"/>
              </a:rPr>
              <a:t>Facilities</a:t>
            </a:r>
          </a:p>
        </p:txBody>
      </p:sp>
      <p:sp>
        <p:nvSpPr>
          <p:cNvPr id="27" name="TextBox 26"/>
          <p:cNvSpPr txBox="1"/>
          <p:nvPr/>
        </p:nvSpPr>
        <p:spPr>
          <a:xfrm>
            <a:off x="8458200" y="3017520"/>
            <a:ext cx="2926080" cy="274320"/>
          </a:xfrm>
          <a:prstGeom prst="rect">
            <a:avLst/>
          </a:prstGeom>
          <a:noFill/>
        </p:spPr>
        <p:txBody>
          <a:bodyPr wrap="square" anchor="t" lIns="0" rIns="0" tIns="0" bIns="0">
            <a:spAutoFit/>
          </a:bodyPr>
          <a:lstStyle/>
          <a:p>
            <a:pPr algn="l"/>
            <a:r>
              <a:rPr sz="1200" b="0">
                <a:solidFill>
                  <a:srgbClr val="F87171"/>
                </a:solidFill>
                <a:latin typeface="Courier New"/>
              </a:rPr>
              <a:t>zone-a  zone-d</a:t>
            </a:r>
          </a:p>
        </p:txBody>
      </p:sp>
      <p:sp>
        <p:nvSpPr>
          <p:cNvPr id="28" name="TextBox 27"/>
          <p:cNvSpPr txBox="1"/>
          <p:nvPr/>
        </p:nvSpPr>
        <p:spPr>
          <a:xfrm>
            <a:off x="6903720" y="3419856"/>
            <a:ext cx="1371600" cy="274320"/>
          </a:xfrm>
          <a:prstGeom prst="rect">
            <a:avLst/>
          </a:prstGeom>
          <a:noFill/>
        </p:spPr>
        <p:txBody>
          <a:bodyPr wrap="square" anchor="t" lIns="0" rIns="0" tIns="0" bIns="0">
            <a:spAutoFit/>
          </a:bodyPr>
          <a:lstStyle/>
          <a:p>
            <a:pPr algn="l"/>
            <a:r>
              <a:rPr sz="1200" b="0">
                <a:solidFill>
                  <a:srgbClr val="9AA8BA"/>
                </a:solidFill>
                <a:latin typeface="Calibri"/>
              </a:rPr>
              <a:t>Cost</a:t>
            </a:r>
          </a:p>
        </p:txBody>
      </p:sp>
      <p:sp>
        <p:nvSpPr>
          <p:cNvPr id="29" name="TextBox 28"/>
          <p:cNvSpPr txBox="1"/>
          <p:nvPr/>
        </p:nvSpPr>
        <p:spPr>
          <a:xfrm>
            <a:off x="8458200" y="3419856"/>
            <a:ext cx="2926080" cy="274320"/>
          </a:xfrm>
          <a:prstGeom prst="rect">
            <a:avLst/>
          </a:prstGeom>
          <a:noFill/>
        </p:spPr>
        <p:txBody>
          <a:bodyPr wrap="square" anchor="t" lIns="0" rIns="0" tIns="0" bIns="0">
            <a:spAutoFit/>
          </a:bodyPr>
          <a:lstStyle/>
          <a:p>
            <a:pPr algn="l"/>
            <a:r>
              <a:rPr sz="1200" b="0">
                <a:solidFill>
                  <a:srgbClr val="F87171"/>
                </a:solidFill>
                <a:latin typeface="Courier New"/>
              </a:rPr>
              <a:t>zone-a  zone-d</a:t>
            </a:r>
          </a:p>
        </p:txBody>
      </p:sp>
      <p:sp>
        <p:nvSpPr>
          <p:cNvPr id="30" name="Rectangle 29"/>
          <p:cNvSpPr/>
          <p:nvPr/>
        </p:nvSpPr>
        <p:spPr>
          <a:xfrm>
            <a:off x="8458200" y="3895344"/>
            <a:ext cx="2377440" cy="15240"/>
          </a:xfrm>
          <a:prstGeom prst="rect">
            <a:avLst/>
          </a:prstGeom>
          <a:solidFill>
            <a:srgbClr val="2A35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903720" y="4059936"/>
            <a:ext cx="1463040" cy="274320"/>
          </a:xfrm>
          <a:prstGeom prst="rect">
            <a:avLst/>
          </a:prstGeom>
          <a:noFill/>
        </p:spPr>
        <p:txBody>
          <a:bodyPr wrap="square" anchor="t" lIns="0" rIns="0" tIns="0" bIns="0">
            <a:spAutoFit/>
          </a:bodyPr>
          <a:lstStyle/>
          <a:p>
            <a:pPr algn="l"/>
            <a:r>
              <a:rPr sz="1200" b="1">
                <a:solidFill>
                  <a:srgbClr val="EEF2F7"/>
                </a:solidFill>
                <a:latin typeface="Calibri"/>
              </a:rPr>
              <a:t>survives</a:t>
            </a:r>
          </a:p>
        </p:txBody>
      </p:sp>
      <p:sp>
        <p:nvSpPr>
          <p:cNvPr id="32" name="TextBox 31"/>
          <p:cNvSpPr txBox="1"/>
          <p:nvPr/>
        </p:nvSpPr>
        <p:spPr>
          <a:xfrm>
            <a:off x="8458200" y="4005072"/>
            <a:ext cx="2926080" cy="365760"/>
          </a:xfrm>
          <a:prstGeom prst="rect">
            <a:avLst/>
          </a:prstGeom>
          <a:noFill/>
        </p:spPr>
        <p:txBody>
          <a:bodyPr wrap="square" anchor="t" lIns="0" rIns="0" tIns="0" bIns="0">
            <a:spAutoFit/>
          </a:bodyPr>
          <a:lstStyle/>
          <a:p>
            <a:pPr algn="l"/>
            <a:r>
              <a:rPr sz="1800" b="1">
                <a:solidFill>
                  <a:srgbClr val="34D399"/>
                </a:solidFill>
                <a:latin typeface="Courier New"/>
              </a:rPr>
              <a:t>zone-c</a:t>
            </a:r>
          </a:p>
        </p:txBody>
      </p:sp>
      <p:sp>
        <p:nvSpPr>
          <p:cNvPr id="33" name="TextBox 32"/>
          <p:cNvSpPr txBox="1"/>
          <p:nvPr/>
        </p:nvSpPr>
        <p:spPr>
          <a:xfrm>
            <a:off x="6903720" y="4590288"/>
            <a:ext cx="4389120" cy="1371600"/>
          </a:xfrm>
          <a:prstGeom prst="rect">
            <a:avLst/>
          </a:prstGeom>
          <a:noFill/>
        </p:spPr>
        <p:txBody>
          <a:bodyPr wrap="square" anchor="t" lIns="0" rIns="0" tIns="0" bIns="0">
            <a:spAutoFit/>
          </a:bodyPr>
          <a:lstStyle/>
          <a:p>
            <a:pPr algn="l">
              <a:lnSpc>
                <a:spcPts val="1600"/>
              </a:lnSpc>
            </a:pPr>
            <a:r>
              <a:rPr sz="1150" b="0">
                <a:solidFill>
                  <a:srgbClr val="9AA8BA"/>
                </a:solidFill>
                <a:latin typeface="Calibri"/>
              </a:rPr>
              <a:t>In round one, not one assessor had picked zone-c. It only appears when you intersect four independent exclusion lists, which is exactly what no team can do from inside its own silo.</a:t>
            </a:r>
          </a:p>
          <a:p>
            <a:pPr algn="l">
              <a:lnSpc>
                <a:spcPts val="1600"/>
              </a:lnSpc>
            </a:pPr>
            <a:r>
              <a:rPr sz="1150" b="0">
                <a:solidFill>
                  <a:srgbClr val="9AA8BA"/>
                </a:solidFill>
                <a:latin typeface="Calibri"/>
              </a:rPr>
              <a:t/>
            </a:r>
          </a:p>
          <a:p>
            <a:pPr algn="l">
              <a:lnSpc>
                <a:spcPts val="1600"/>
              </a:lnSpc>
            </a:pPr>
            <a:r>
              <a:rPr sz="1150" b="0">
                <a:solidFill>
                  <a:srgbClr val="9AA8BA"/>
                </a:solidFill>
                <a:latin typeface="Calibri"/>
              </a:rPr>
              <a:t>Final plan: zone-c, five liquid-ready racks plus one retrofit, fourteen hours of delay, $48,000 rather than $288,000.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319"/>
        </a:solidFill>
        <a:effectLst/>
      </p:bgPr>
    </p:bg>
    <p:spTree>
      <p:nvGrpSpPr>
        <p:cNvPr id="1" name=""/>
        <p:cNvGrpSpPr/>
        <p:nvPr/>
      </p:nvGrpSpPr>
      <p:grpSpPr/>
      <p:sp>
        <p:nvSpPr>
          <p:cNvPr id="2" name="TextBox 1"/>
          <p:cNvSpPr txBox="1"/>
          <p:nvPr/>
        </p:nvSpPr>
        <p:spPr>
          <a:xfrm>
            <a:off x="548640" y="457200"/>
            <a:ext cx="11064240" cy="585216"/>
          </a:xfrm>
          <a:prstGeom prst="rect">
            <a:avLst/>
          </a:prstGeom>
          <a:noFill/>
        </p:spPr>
        <p:txBody>
          <a:bodyPr wrap="square" anchor="t" lIns="0" rIns="0" tIns="0" bIns="0">
            <a:spAutoFit/>
          </a:bodyPr>
          <a:lstStyle/>
          <a:p>
            <a:pPr algn="l"/>
            <a:r>
              <a:rPr sz="2900" b="1">
                <a:solidFill>
                  <a:srgbClr val="EEF2F7"/>
                </a:solidFill>
                <a:latin typeface="Arial"/>
              </a:rPr>
              <a:t>Under the hood</a:t>
            </a:r>
          </a:p>
        </p:txBody>
      </p:sp>
      <p:sp>
        <p:nvSpPr>
          <p:cNvPr id="3" name="TextBox 2"/>
          <p:cNvSpPr txBox="1"/>
          <p:nvPr/>
        </p:nvSpPr>
        <p:spPr>
          <a:xfrm>
            <a:off x="548640" y="1060704"/>
            <a:ext cx="11064240" cy="329184"/>
          </a:xfrm>
          <a:prstGeom prst="rect">
            <a:avLst/>
          </a:prstGeom>
          <a:noFill/>
        </p:spPr>
        <p:txBody>
          <a:bodyPr wrap="square" anchor="t" lIns="0" rIns="0" tIns="0" bIns="0">
            <a:spAutoFit/>
          </a:bodyPr>
          <a:lstStyle/>
          <a:p>
            <a:pPr algn="l"/>
            <a:r>
              <a:rPr sz="1400" b="0">
                <a:solidFill>
                  <a:srgbClr val="9AA8BA"/>
                </a:solidFill>
                <a:latin typeface="Calibri"/>
              </a:rPr>
              <a:t>Seven Cloud Run services, seven identities, five databases</a:t>
            </a:r>
          </a:p>
        </p:txBody>
      </p:sp>
      <p:sp>
        <p:nvSpPr>
          <p:cNvPr id="4" name="Rounded Rectangle 3"/>
          <p:cNvSpPr/>
          <p:nvPr/>
        </p:nvSpPr>
        <p:spPr>
          <a:xfrm>
            <a:off x="548640" y="1481328"/>
            <a:ext cx="11064240" cy="658368"/>
          </a:xfrm>
          <a:prstGeom prst="roundRect">
            <a:avLst>
              <a:gd name="adj" fmla="val 4000"/>
            </a:avLst>
          </a:prstGeom>
          <a:solidFill>
            <a:srgbClr val="141B25"/>
          </a:solidFill>
          <a:ln w="12700">
            <a:solidFill>
              <a:srgbClr val="6B7A8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138160" y="1536192"/>
            <a:ext cx="3383280" cy="219456"/>
          </a:xfrm>
          <a:prstGeom prst="rect">
            <a:avLst/>
          </a:prstGeom>
          <a:noFill/>
        </p:spPr>
        <p:txBody>
          <a:bodyPr wrap="square" anchor="t" lIns="0" rIns="0" tIns="0" bIns="0">
            <a:spAutoFit/>
          </a:bodyPr>
          <a:lstStyle/>
          <a:p>
            <a:pPr algn="r"/>
            <a:r>
              <a:rPr sz="950" b="1">
                <a:solidFill>
                  <a:srgbClr val="6B7A8D"/>
                </a:solidFill>
                <a:latin typeface="Calibri"/>
              </a:rPr>
              <a:t>PUBLIC</a:t>
            </a:r>
          </a:p>
        </p:txBody>
      </p:sp>
      <p:sp>
        <p:nvSpPr>
          <p:cNvPr id="6" name="Rounded Rectangle 5"/>
          <p:cNvSpPr/>
          <p:nvPr/>
        </p:nvSpPr>
        <p:spPr>
          <a:xfrm>
            <a:off x="777240" y="1591056"/>
            <a:ext cx="2834640" cy="438912"/>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1673352"/>
            <a:ext cx="2560320" cy="237744"/>
          </a:xfrm>
          <a:prstGeom prst="rect">
            <a:avLst/>
          </a:prstGeom>
          <a:noFill/>
        </p:spPr>
        <p:txBody>
          <a:bodyPr wrap="square" anchor="t" lIns="0" rIns="0" tIns="0" bIns="0">
            <a:spAutoFit/>
          </a:bodyPr>
          <a:lstStyle/>
          <a:p>
            <a:pPr algn="l"/>
            <a:r>
              <a:rPr sz="1150" b="1">
                <a:solidFill>
                  <a:srgbClr val="4DD6FF"/>
                </a:solidFill>
                <a:latin typeface="Calibri"/>
              </a:rPr>
              <a:t>gridmind, web tier</a:t>
            </a:r>
          </a:p>
        </p:txBody>
      </p:sp>
      <p:sp>
        <p:nvSpPr>
          <p:cNvPr id="8" name="TextBox 7"/>
          <p:cNvSpPr txBox="1"/>
          <p:nvPr/>
        </p:nvSpPr>
        <p:spPr>
          <a:xfrm>
            <a:off x="3886200" y="1700784"/>
            <a:ext cx="4023360" cy="274320"/>
          </a:xfrm>
          <a:prstGeom prst="rect">
            <a:avLst/>
          </a:prstGeom>
          <a:noFill/>
        </p:spPr>
        <p:txBody>
          <a:bodyPr wrap="square" anchor="t" lIns="0" rIns="0" tIns="0" bIns="0">
            <a:spAutoFit/>
          </a:bodyPr>
          <a:lstStyle/>
          <a:p>
            <a:pPr algn="l"/>
            <a:r>
              <a:rPr sz="1100" b="0">
                <a:solidFill>
                  <a:srgbClr val="6B7A8D"/>
                </a:solidFill>
                <a:latin typeface="Calibri"/>
              </a:rPr>
              <a:t>read only, no model access</a:t>
            </a:r>
          </a:p>
        </p:txBody>
      </p:sp>
      <p:sp>
        <p:nvSpPr>
          <p:cNvPr id="9" name="Rounded Rectangle 8"/>
          <p:cNvSpPr/>
          <p:nvPr/>
        </p:nvSpPr>
        <p:spPr>
          <a:xfrm>
            <a:off x="548640" y="2249424"/>
            <a:ext cx="11064240" cy="1188720"/>
          </a:xfrm>
          <a:prstGeom prst="roundRect">
            <a:avLst>
              <a:gd name="adj" fmla="val 4000"/>
            </a:avLst>
          </a:prstGeom>
          <a:solidFill>
            <a:srgbClr val="141B25"/>
          </a:solidFill>
          <a:ln w="12700">
            <a:solidFill>
              <a:srgbClr val="A78BF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138160" y="2304288"/>
            <a:ext cx="3383280" cy="219456"/>
          </a:xfrm>
          <a:prstGeom prst="rect">
            <a:avLst/>
          </a:prstGeom>
          <a:noFill/>
        </p:spPr>
        <p:txBody>
          <a:bodyPr wrap="square" anchor="t" lIns="0" rIns="0" tIns="0" bIns="0">
            <a:spAutoFit/>
          </a:bodyPr>
          <a:lstStyle/>
          <a:p>
            <a:pPr algn="r"/>
            <a:r>
              <a:rPr sz="950" b="1">
                <a:solidFill>
                  <a:srgbClr val="A78BFA"/>
                </a:solidFill>
                <a:latin typeface="Calibri"/>
              </a:rPr>
              <a:t>PRIVATE VPC, ingress=internal, 404 from the internet</a:t>
            </a:r>
          </a:p>
        </p:txBody>
      </p:sp>
      <p:sp>
        <p:nvSpPr>
          <p:cNvPr id="11" name="Rounded Rectangle 10"/>
          <p:cNvSpPr/>
          <p:nvPr/>
        </p:nvSpPr>
        <p:spPr>
          <a:xfrm>
            <a:off x="777240" y="2395728"/>
            <a:ext cx="3383280" cy="566928"/>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60120" y="2459736"/>
            <a:ext cx="3017520" cy="237744"/>
          </a:xfrm>
          <a:prstGeom prst="rect">
            <a:avLst/>
          </a:prstGeom>
          <a:noFill/>
        </p:spPr>
        <p:txBody>
          <a:bodyPr wrap="square" anchor="t" lIns="0" rIns="0" tIns="0" bIns="0">
            <a:spAutoFit/>
          </a:bodyPr>
          <a:lstStyle/>
          <a:p>
            <a:pPr algn="l"/>
            <a:r>
              <a:rPr sz="1200" b="1">
                <a:solidFill>
                  <a:srgbClr val="4DD6FF"/>
                </a:solidFill>
                <a:latin typeface="Calibri"/>
              </a:rPr>
              <a:t>Orchestrator</a:t>
            </a:r>
          </a:p>
        </p:txBody>
      </p:sp>
      <p:sp>
        <p:nvSpPr>
          <p:cNvPr id="13" name="TextBox 12"/>
          <p:cNvSpPr txBox="1"/>
          <p:nvPr/>
        </p:nvSpPr>
        <p:spPr>
          <a:xfrm>
            <a:off x="960120" y="2688336"/>
            <a:ext cx="3017520" cy="219456"/>
          </a:xfrm>
          <a:prstGeom prst="rect">
            <a:avLst/>
          </a:prstGeom>
          <a:noFill/>
        </p:spPr>
        <p:txBody>
          <a:bodyPr wrap="square" anchor="t" lIns="0" rIns="0" tIns="0" bIns="0">
            <a:spAutoFit/>
          </a:bodyPr>
          <a:lstStyle/>
          <a:p>
            <a:pPr algn="l"/>
            <a:r>
              <a:rPr sz="1000" b="0">
                <a:solidFill>
                  <a:srgbClr val="6B7A8D"/>
                </a:solidFill>
                <a:latin typeface="Calibri"/>
              </a:rPr>
              <a:t>shared store only</a:t>
            </a:r>
          </a:p>
        </p:txBody>
      </p:sp>
      <p:sp>
        <p:nvSpPr>
          <p:cNvPr id="14" name="Rounded Rectangle 13"/>
          <p:cNvSpPr/>
          <p:nvPr/>
        </p:nvSpPr>
        <p:spPr>
          <a:xfrm>
            <a:off x="4389120" y="2395728"/>
            <a:ext cx="3383280" cy="566928"/>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2000" y="2459736"/>
            <a:ext cx="3017520" cy="237744"/>
          </a:xfrm>
          <a:prstGeom prst="rect">
            <a:avLst/>
          </a:prstGeom>
          <a:noFill/>
        </p:spPr>
        <p:txBody>
          <a:bodyPr wrap="square" anchor="t" lIns="0" rIns="0" tIns="0" bIns="0">
            <a:spAutoFit/>
          </a:bodyPr>
          <a:lstStyle/>
          <a:p>
            <a:pPr algn="l"/>
            <a:r>
              <a:rPr sz="1200" b="1">
                <a:solidFill>
                  <a:srgbClr val="FBBF24"/>
                </a:solidFill>
                <a:latin typeface="Calibri"/>
              </a:rPr>
              <a:t>Gateway</a:t>
            </a:r>
          </a:p>
        </p:txBody>
      </p:sp>
      <p:sp>
        <p:nvSpPr>
          <p:cNvPr id="16" name="TextBox 15"/>
          <p:cNvSpPr txBox="1"/>
          <p:nvPr/>
        </p:nvSpPr>
        <p:spPr>
          <a:xfrm>
            <a:off x="4572000" y="2688336"/>
            <a:ext cx="3017520" cy="219456"/>
          </a:xfrm>
          <a:prstGeom prst="rect">
            <a:avLst/>
          </a:prstGeom>
          <a:noFill/>
        </p:spPr>
        <p:txBody>
          <a:bodyPr wrap="square" anchor="t" lIns="0" rIns="0" tIns="0" bIns="0">
            <a:spAutoFit/>
          </a:bodyPr>
          <a:lstStyle/>
          <a:p>
            <a:pPr algn="l"/>
            <a:r>
              <a:rPr sz="1000" b="0">
                <a:solidFill>
                  <a:srgbClr val="6B7A8D"/>
                </a:solidFill>
                <a:latin typeface="Calibri"/>
              </a:rPr>
              <a:t>identity, routing, Model Armor</a:t>
            </a:r>
          </a:p>
        </p:txBody>
      </p:sp>
      <p:sp>
        <p:nvSpPr>
          <p:cNvPr id="17" name="Rounded Rectangle 16"/>
          <p:cNvSpPr/>
          <p:nvPr/>
        </p:nvSpPr>
        <p:spPr>
          <a:xfrm>
            <a:off x="8001000" y="2395728"/>
            <a:ext cx="3383280" cy="566928"/>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83879" y="2459736"/>
            <a:ext cx="3017520" cy="237744"/>
          </a:xfrm>
          <a:prstGeom prst="rect">
            <a:avLst/>
          </a:prstGeom>
          <a:noFill/>
        </p:spPr>
        <p:txBody>
          <a:bodyPr wrap="square" anchor="t" lIns="0" rIns="0" tIns="0" bIns="0">
            <a:spAutoFit/>
          </a:bodyPr>
          <a:lstStyle/>
          <a:p>
            <a:pPr algn="l"/>
            <a:r>
              <a:rPr sz="1200" b="1">
                <a:solidFill>
                  <a:srgbClr val="34D399"/>
                </a:solidFill>
                <a:latin typeface="Calibri"/>
              </a:rPr>
              <a:t>Four assessors</a:t>
            </a:r>
          </a:p>
        </p:txBody>
      </p:sp>
      <p:sp>
        <p:nvSpPr>
          <p:cNvPr id="19" name="TextBox 18"/>
          <p:cNvSpPr txBox="1"/>
          <p:nvPr/>
        </p:nvSpPr>
        <p:spPr>
          <a:xfrm>
            <a:off x="8183879" y="2688336"/>
            <a:ext cx="3017520" cy="219456"/>
          </a:xfrm>
          <a:prstGeom prst="rect">
            <a:avLst/>
          </a:prstGeom>
          <a:noFill/>
        </p:spPr>
        <p:txBody>
          <a:bodyPr wrap="square" anchor="t" lIns="0" rIns="0" tIns="0" bIns="0">
            <a:spAutoFit/>
          </a:bodyPr>
          <a:lstStyle/>
          <a:p>
            <a:pPr algn="l"/>
            <a:r>
              <a:rPr sz="1000" b="0">
                <a:solidFill>
                  <a:srgbClr val="6B7A8D"/>
                </a:solidFill>
                <a:latin typeface="Calibri"/>
              </a:rPr>
              <a:t>one store each</a:t>
            </a:r>
          </a:p>
        </p:txBody>
      </p:sp>
      <p:sp>
        <p:nvSpPr>
          <p:cNvPr id="20" name="TextBox 19"/>
          <p:cNvSpPr txBox="1"/>
          <p:nvPr/>
        </p:nvSpPr>
        <p:spPr>
          <a:xfrm>
            <a:off x="777240" y="3054096"/>
            <a:ext cx="10607040" cy="274320"/>
          </a:xfrm>
          <a:prstGeom prst="rect">
            <a:avLst/>
          </a:prstGeom>
          <a:noFill/>
        </p:spPr>
        <p:txBody>
          <a:bodyPr wrap="square" anchor="t" lIns="0" rIns="0" tIns="0" bIns="0">
            <a:spAutoFit/>
          </a:bodyPr>
          <a:lstStyle/>
          <a:p>
            <a:pPr algn="l"/>
            <a:r>
              <a:rPr sz="1050" b="0">
                <a:solidFill>
                  <a:srgbClr val="A78BFA"/>
                </a:solidFill>
                <a:latin typeface="Calibri"/>
              </a:rPr>
              <a:t>Gemini 3.5 on Vertex AI. flash-lite per assessor, flash with a 4,096-token thinking budget for reconciliation.</a:t>
            </a:r>
          </a:p>
        </p:txBody>
      </p:sp>
      <p:sp>
        <p:nvSpPr>
          <p:cNvPr id="21" name="Rounded Rectangle 20"/>
          <p:cNvSpPr/>
          <p:nvPr/>
        </p:nvSpPr>
        <p:spPr>
          <a:xfrm>
            <a:off x="548640" y="3547872"/>
            <a:ext cx="11064240" cy="640080"/>
          </a:xfrm>
          <a:prstGeom prst="roundRect">
            <a:avLst>
              <a:gd name="adj" fmla="val 4000"/>
            </a:avLst>
          </a:prstGeom>
          <a:solidFill>
            <a:srgbClr val="141B25"/>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138160" y="3602736"/>
            <a:ext cx="3383280" cy="219456"/>
          </a:xfrm>
          <a:prstGeom prst="rect">
            <a:avLst/>
          </a:prstGeom>
          <a:noFill/>
        </p:spPr>
        <p:txBody>
          <a:bodyPr wrap="square" anchor="t" lIns="0" rIns="0" tIns="0" bIns="0">
            <a:spAutoFit/>
          </a:bodyPr>
          <a:lstStyle/>
          <a:p>
            <a:pPr algn="r"/>
            <a:r>
              <a:rPr sz="950" b="1">
                <a:solidFill>
                  <a:srgbClr val="34D399"/>
                </a:solidFill>
                <a:latin typeface="Calibri"/>
              </a:rPr>
              <a:t>DATA</a:t>
            </a:r>
          </a:p>
        </p:txBody>
      </p:sp>
      <p:sp>
        <p:nvSpPr>
          <p:cNvPr id="23" name="Rounded Rectangle 22"/>
          <p:cNvSpPr/>
          <p:nvPr/>
        </p:nvSpPr>
        <p:spPr>
          <a:xfrm>
            <a:off x="777240" y="3657600"/>
            <a:ext cx="1975104" cy="420624"/>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77240" y="3739896"/>
            <a:ext cx="1975104" cy="237744"/>
          </a:xfrm>
          <a:prstGeom prst="rect">
            <a:avLst/>
          </a:prstGeom>
          <a:noFill/>
        </p:spPr>
        <p:txBody>
          <a:bodyPr wrap="square" anchor="t" lIns="0" rIns="0" tIns="0" bIns="0">
            <a:spAutoFit/>
          </a:bodyPr>
          <a:lstStyle/>
          <a:p>
            <a:pPr algn="ctr"/>
            <a:r>
              <a:rPr sz="1050" b="1">
                <a:solidFill>
                  <a:srgbClr val="34D399"/>
                </a:solidFill>
                <a:latin typeface="Courier New"/>
              </a:rPr>
              <a:t>power-db</a:t>
            </a:r>
          </a:p>
        </p:txBody>
      </p:sp>
      <p:sp>
        <p:nvSpPr>
          <p:cNvPr id="25" name="Rounded Rectangle 24"/>
          <p:cNvSpPr/>
          <p:nvPr/>
        </p:nvSpPr>
        <p:spPr>
          <a:xfrm>
            <a:off x="2935224" y="3657600"/>
            <a:ext cx="1975104" cy="420624"/>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2935224" y="3739896"/>
            <a:ext cx="1975104" cy="237744"/>
          </a:xfrm>
          <a:prstGeom prst="rect">
            <a:avLst/>
          </a:prstGeom>
          <a:noFill/>
        </p:spPr>
        <p:txBody>
          <a:bodyPr wrap="square" anchor="t" lIns="0" rIns="0" tIns="0" bIns="0">
            <a:spAutoFit/>
          </a:bodyPr>
          <a:lstStyle/>
          <a:p>
            <a:pPr algn="ctr"/>
            <a:r>
              <a:rPr sz="1050" b="1">
                <a:solidFill>
                  <a:srgbClr val="34D399"/>
                </a:solidFill>
                <a:latin typeface="Courier New"/>
              </a:rPr>
              <a:t>cooling-db</a:t>
            </a:r>
          </a:p>
        </p:txBody>
      </p:sp>
      <p:sp>
        <p:nvSpPr>
          <p:cNvPr id="27" name="Rounded Rectangle 26"/>
          <p:cNvSpPr/>
          <p:nvPr/>
        </p:nvSpPr>
        <p:spPr>
          <a:xfrm>
            <a:off x="5093207" y="3657600"/>
            <a:ext cx="1975104" cy="420624"/>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93207" y="3739896"/>
            <a:ext cx="1975104" cy="237744"/>
          </a:xfrm>
          <a:prstGeom prst="rect">
            <a:avLst/>
          </a:prstGeom>
          <a:noFill/>
        </p:spPr>
        <p:txBody>
          <a:bodyPr wrap="square" anchor="t" lIns="0" rIns="0" tIns="0" bIns="0">
            <a:spAutoFit/>
          </a:bodyPr>
          <a:lstStyle/>
          <a:p>
            <a:pPr algn="ctr"/>
            <a:r>
              <a:rPr sz="1050" b="1">
                <a:solidFill>
                  <a:srgbClr val="34D399"/>
                </a:solidFill>
                <a:latin typeface="Courier New"/>
              </a:rPr>
              <a:t>facilities-db</a:t>
            </a:r>
          </a:p>
        </p:txBody>
      </p:sp>
      <p:sp>
        <p:nvSpPr>
          <p:cNvPr id="29" name="Rounded Rectangle 28"/>
          <p:cNvSpPr/>
          <p:nvPr/>
        </p:nvSpPr>
        <p:spPr>
          <a:xfrm>
            <a:off x="7251192" y="3657600"/>
            <a:ext cx="1975104" cy="420624"/>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251192" y="3739896"/>
            <a:ext cx="1975104" cy="237744"/>
          </a:xfrm>
          <a:prstGeom prst="rect">
            <a:avLst/>
          </a:prstGeom>
          <a:noFill/>
        </p:spPr>
        <p:txBody>
          <a:bodyPr wrap="square" anchor="t" lIns="0" rIns="0" tIns="0" bIns="0">
            <a:spAutoFit/>
          </a:bodyPr>
          <a:lstStyle/>
          <a:p>
            <a:pPr algn="ctr"/>
            <a:r>
              <a:rPr sz="1050" b="1">
                <a:solidFill>
                  <a:srgbClr val="34D399"/>
                </a:solidFill>
                <a:latin typeface="Courier New"/>
              </a:rPr>
              <a:t>cost-db</a:t>
            </a:r>
          </a:p>
        </p:txBody>
      </p:sp>
      <p:sp>
        <p:nvSpPr>
          <p:cNvPr id="31" name="Rounded Rectangle 30"/>
          <p:cNvSpPr/>
          <p:nvPr/>
        </p:nvSpPr>
        <p:spPr>
          <a:xfrm>
            <a:off x="9409176" y="3657600"/>
            <a:ext cx="1975104" cy="420624"/>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9409176" y="3739896"/>
            <a:ext cx="1975104" cy="237744"/>
          </a:xfrm>
          <a:prstGeom prst="rect">
            <a:avLst/>
          </a:prstGeom>
          <a:noFill/>
        </p:spPr>
        <p:txBody>
          <a:bodyPr wrap="square" anchor="t" lIns="0" rIns="0" tIns="0" bIns="0">
            <a:spAutoFit/>
          </a:bodyPr>
          <a:lstStyle/>
          <a:p>
            <a:pPr algn="ctr"/>
            <a:r>
              <a:rPr sz="1050" b="1">
                <a:solidFill>
                  <a:srgbClr val="34D399"/>
                </a:solidFill>
                <a:latin typeface="Courier New"/>
              </a:rPr>
              <a:t>shared-db</a:t>
            </a:r>
          </a:p>
        </p:txBody>
      </p:sp>
      <p:sp>
        <p:nvSpPr>
          <p:cNvPr id="33" name="Rounded Rectangle 32"/>
          <p:cNvSpPr/>
          <p:nvPr/>
        </p:nvSpPr>
        <p:spPr>
          <a:xfrm>
            <a:off x="548640" y="4370832"/>
            <a:ext cx="3566160" cy="77724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768096" y="4517136"/>
            <a:ext cx="146304" cy="146304"/>
          </a:xfrm>
          <a:prstGeom prst="ellipse">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24128" y="4471416"/>
            <a:ext cx="2926080" cy="237744"/>
          </a:xfrm>
          <a:prstGeom prst="rect">
            <a:avLst/>
          </a:prstGeom>
          <a:noFill/>
        </p:spPr>
        <p:txBody>
          <a:bodyPr wrap="square" anchor="t" lIns="0" rIns="0" tIns="0" bIns="0">
            <a:spAutoFit/>
          </a:bodyPr>
          <a:lstStyle/>
          <a:p>
            <a:pPr algn="l"/>
            <a:r>
              <a:rPr sz="1150" b="1">
                <a:solidFill>
                  <a:srgbClr val="EEF2F7"/>
                </a:solidFill>
                <a:latin typeface="Calibri"/>
              </a:rPr>
              <a:t>Data isolation</a:t>
            </a:r>
          </a:p>
        </p:txBody>
      </p:sp>
      <p:sp>
        <p:nvSpPr>
          <p:cNvPr id="36" name="TextBox 35"/>
          <p:cNvSpPr txBox="1"/>
          <p:nvPr/>
        </p:nvSpPr>
        <p:spPr>
          <a:xfrm>
            <a:off x="768096" y="4736592"/>
            <a:ext cx="3154680" cy="365760"/>
          </a:xfrm>
          <a:prstGeom prst="rect">
            <a:avLst/>
          </a:prstGeom>
          <a:noFill/>
        </p:spPr>
        <p:txBody>
          <a:bodyPr wrap="square" anchor="t" lIns="0" rIns="0" tIns="0" bIns="0">
            <a:spAutoFit/>
          </a:bodyPr>
          <a:lstStyle/>
          <a:p>
            <a:pPr algn="l">
              <a:lnSpc>
                <a:spcPts val="1300"/>
              </a:lnSpc>
            </a:pPr>
            <a:r>
              <a:rPr sz="950" b="0">
                <a:solidFill>
                  <a:srgbClr val="9AA8BA"/>
                </a:solidFill>
                <a:latin typeface="Calibri"/>
              </a:rPr>
              <a:t>IAM conditions on resource.name. A cross-domain read gets 403 from Firestore, before our code runs.</a:t>
            </a:r>
          </a:p>
        </p:txBody>
      </p:sp>
      <p:sp>
        <p:nvSpPr>
          <p:cNvPr id="37" name="Rounded Rectangle 36"/>
          <p:cNvSpPr/>
          <p:nvPr/>
        </p:nvSpPr>
        <p:spPr>
          <a:xfrm>
            <a:off x="4251959" y="4370832"/>
            <a:ext cx="3566160" cy="77724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4471416" y="4517136"/>
            <a:ext cx="146304" cy="146304"/>
          </a:xfrm>
          <a:prstGeom prst="ellipse">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727448" y="4471416"/>
            <a:ext cx="2926080" cy="237744"/>
          </a:xfrm>
          <a:prstGeom prst="rect">
            <a:avLst/>
          </a:prstGeom>
          <a:noFill/>
        </p:spPr>
        <p:txBody>
          <a:bodyPr wrap="square" anchor="t" lIns="0" rIns="0" tIns="0" bIns="0">
            <a:spAutoFit/>
          </a:bodyPr>
          <a:lstStyle/>
          <a:p>
            <a:pPr algn="l"/>
            <a:r>
              <a:rPr sz="1150" b="1">
                <a:solidFill>
                  <a:srgbClr val="EEF2F7"/>
                </a:solidFill>
                <a:latin typeface="Calibri"/>
              </a:rPr>
              <a:t>Guardrails</a:t>
            </a:r>
          </a:p>
        </p:txBody>
      </p:sp>
      <p:sp>
        <p:nvSpPr>
          <p:cNvPr id="40" name="TextBox 39"/>
          <p:cNvSpPr txBox="1"/>
          <p:nvPr/>
        </p:nvSpPr>
        <p:spPr>
          <a:xfrm>
            <a:off x="4471416" y="4736592"/>
            <a:ext cx="3154680" cy="365760"/>
          </a:xfrm>
          <a:prstGeom prst="rect">
            <a:avLst/>
          </a:prstGeom>
          <a:noFill/>
        </p:spPr>
        <p:txBody>
          <a:bodyPr wrap="square" anchor="t" lIns="0" rIns="0" tIns="0" bIns="0">
            <a:spAutoFit/>
          </a:bodyPr>
          <a:lstStyle/>
          <a:p>
            <a:pPr algn="l">
              <a:lnSpc>
                <a:spcPts val="1300"/>
              </a:lnSpc>
            </a:pPr>
            <a:r>
              <a:rPr sz="950" b="0">
                <a:solidFill>
                  <a:srgbClr val="9AA8BA"/>
                </a:solidFill>
                <a:latin typeface="Calibri"/>
              </a:rPr>
              <a:t>Every verdict re-checked against the figures it was given. Ordinary code. Six of six bad verdicts blocked.</a:t>
            </a:r>
          </a:p>
        </p:txBody>
      </p:sp>
      <p:sp>
        <p:nvSpPr>
          <p:cNvPr id="41" name="Rounded Rectangle 40"/>
          <p:cNvSpPr/>
          <p:nvPr/>
        </p:nvSpPr>
        <p:spPr>
          <a:xfrm>
            <a:off x="7955279" y="4370832"/>
            <a:ext cx="3566160" cy="77724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8174736" y="4517136"/>
            <a:ext cx="146304" cy="146304"/>
          </a:xfrm>
          <a:prstGeom prst="ellipse">
            <a:avLst/>
          </a:prstGeom>
          <a:solidFill>
            <a:srgbClr val="4DD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430767" y="4471416"/>
            <a:ext cx="2926080" cy="237744"/>
          </a:xfrm>
          <a:prstGeom prst="rect">
            <a:avLst/>
          </a:prstGeom>
          <a:noFill/>
        </p:spPr>
        <p:txBody>
          <a:bodyPr wrap="square" anchor="t" lIns="0" rIns="0" tIns="0" bIns="0">
            <a:spAutoFit/>
          </a:bodyPr>
          <a:lstStyle/>
          <a:p>
            <a:pPr algn="l"/>
            <a:r>
              <a:rPr sz="1150" b="1">
                <a:solidFill>
                  <a:srgbClr val="EEF2F7"/>
                </a:solidFill>
                <a:latin typeface="Calibri"/>
              </a:rPr>
              <a:t>Retry, then refuse</a:t>
            </a:r>
          </a:p>
        </p:txBody>
      </p:sp>
      <p:sp>
        <p:nvSpPr>
          <p:cNvPr id="44" name="TextBox 43"/>
          <p:cNvSpPr txBox="1"/>
          <p:nvPr/>
        </p:nvSpPr>
        <p:spPr>
          <a:xfrm>
            <a:off x="8174736" y="4736592"/>
            <a:ext cx="3154680" cy="365760"/>
          </a:xfrm>
          <a:prstGeom prst="rect">
            <a:avLst/>
          </a:prstGeom>
          <a:noFill/>
        </p:spPr>
        <p:txBody>
          <a:bodyPr wrap="square" anchor="t" lIns="0" rIns="0" tIns="0" bIns="0">
            <a:spAutoFit/>
          </a:bodyPr>
          <a:lstStyle/>
          <a:p>
            <a:pPr algn="l">
              <a:lnSpc>
                <a:spcPts val="1300"/>
              </a:lnSpc>
            </a:pPr>
            <a:r>
              <a:rPr sz="950" b="0">
                <a:solidFill>
                  <a:srgbClr val="9AA8BA"/>
                </a:solidFill>
                <a:latin typeface="Calibri"/>
              </a:rPr>
              <a:t>Three attempts with the violation fed back, then infeasible and escalate. Never a guess.</a:t>
            </a:r>
          </a:p>
        </p:txBody>
      </p:sp>
      <p:sp>
        <p:nvSpPr>
          <p:cNvPr id="45" name="Rounded Rectangle 44"/>
          <p:cNvSpPr/>
          <p:nvPr/>
        </p:nvSpPr>
        <p:spPr>
          <a:xfrm>
            <a:off x="548640" y="5239512"/>
            <a:ext cx="3566160" cy="77724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Oval 45"/>
          <p:cNvSpPr/>
          <p:nvPr/>
        </p:nvSpPr>
        <p:spPr>
          <a:xfrm>
            <a:off x="768096" y="5385816"/>
            <a:ext cx="146304" cy="146304"/>
          </a:xfrm>
          <a:prstGeom prst="ellipse">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24128" y="5340096"/>
            <a:ext cx="2926080" cy="237744"/>
          </a:xfrm>
          <a:prstGeom prst="rect">
            <a:avLst/>
          </a:prstGeom>
          <a:noFill/>
        </p:spPr>
        <p:txBody>
          <a:bodyPr wrap="square" anchor="t" lIns="0" rIns="0" tIns="0" bIns="0">
            <a:spAutoFit/>
          </a:bodyPr>
          <a:lstStyle/>
          <a:p>
            <a:pPr algn="l"/>
            <a:r>
              <a:rPr sz="1150" b="1">
                <a:solidFill>
                  <a:srgbClr val="EEF2F7"/>
                </a:solidFill>
                <a:latin typeface="Calibri"/>
              </a:rPr>
              <a:t>Model Armor</a:t>
            </a:r>
          </a:p>
        </p:txBody>
      </p:sp>
      <p:sp>
        <p:nvSpPr>
          <p:cNvPr id="48" name="TextBox 47"/>
          <p:cNvSpPr txBox="1"/>
          <p:nvPr/>
        </p:nvSpPr>
        <p:spPr>
          <a:xfrm>
            <a:off x="768096" y="5605272"/>
            <a:ext cx="3154680" cy="365760"/>
          </a:xfrm>
          <a:prstGeom prst="rect">
            <a:avLst/>
          </a:prstGeom>
          <a:noFill/>
        </p:spPr>
        <p:txBody>
          <a:bodyPr wrap="square" anchor="t" lIns="0" rIns="0" tIns="0" bIns="0">
            <a:spAutoFit/>
          </a:bodyPr>
          <a:lstStyle/>
          <a:p>
            <a:pPr algn="l">
              <a:lnSpc>
                <a:spcPts val="1300"/>
              </a:lnSpc>
            </a:pPr>
            <a:r>
              <a:rPr sz="950" b="0">
                <a:solidFill>
                  <a:srgbClr val="9AA8BA"/>
                </a:solidFill>
                <a:latin typeface="Calibri"/>
              </a:rPr>
              <a:t>Screens traffic between agents on the way in and out. Fails closed.</a:t>
            </a:r>
          </a:p>
        </p:txBody>
      </p:sp>
      <p:sp>
        <p:nvSpPr>
          <p:cNvPr id="49" name="Rounded Rectangle 48"/>
          <p:cNvSpPr/>
          <p:nvPr/>
        </p:nvSpPr>
        <p:spPr>
          <a:xfrm>
            <a:off x="4251959" y="5239512"/>
            <a:ext cx="3566160" cy="77724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Oval 49"/>
          <p:cNvSpPr/>
          <p:nvPr/>
        </p:nvSpPr>
        <p:spPr>
          <a:xfrm>
            <a:off x="4471416" y="5385816"/>
            <a:ext cx="146304" cy="146304"/>
          </a:xfrm>
          <a:prstGeom prst="ellipse">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727448" y="5340096"/>
            <a:ext cx="2926080" cy="237744"/>
          </a:xfrm>
          <a:prstGeom prst="rect">
            <a:avLst/>
          </a:prstGeom>
          <a:noFill/>
        </p:spPr>
        <p:txBody>
          <a:bodyPr wrap="square" anchor="t" lIns="0" rIns="0" tIns="0" bIns="0">
            <a:spAutoFit/>
          </a:bodyPr>
          <a:lstStyle/>
          <a:p>
            <a:pPr algn="l"/>
            <a:r>
              <a:rPr sz="1150" b="1">
                <a:solidFill>
                  <a:srgbClr val="EEF2F7"/>
                </a:solidFill>
                <a:latin typeface="Calibri"/>
              </a:rPr>
              <a:t>Memory Bank</a:t>
            </a:r>
          </a:p>
        </p:txBody>
      </p:sp>
      <p:sp>
        <p:nvSpPr>
          <p:cNvPr id="52" name="TextBox 51"/>
          <p:cNvSpPr txBox="1"/>
          <p:nvPr/>
        </p:nvSpPr>
        <p:spPr>
          <a:xfrm>
            <a:off x="4471416" y="5605272"/>
            <a:ext cx="3154680" cy="365760"/>
          </a:xfrm>
          <a:prstGeom prst="rect">
            <a:avLst/>
          </a:prstGeom>
          <a:noFill/>
        </p:spPr>
        <p:txBody>
          <a:bodyPr wrap="square" anchor="t" lIns="0" rIns="0" tIns="0" bIns="0">
            <a:spAutoFit/>
          </a:bodyPr>
          <a:lstStyle/>
          <a:p>
            <a:pPr algn="l">
              <a:lnSpc>
                <a:spcPts val="1300"/>
              </a:lnSpc>
            </a:pPr>
            <a:r>
              <a:rPr sz="950" b="0">
                <a:solidFill>
                  <a:srgbClr val="9AA8BA"/>
                </a:solidFill>
                <a:latin typeface="Calibri"/>
              </a:rPr>
              <a:t>Precedent for this conflict type is recalled before reconciling, and written back after.</a:t>
            </a:r>
          </a:p>
        </p:txBody>
      </p:sp>
      <p:sp>
        <p:nvSpPr>
          <p:cNvPr id="53" name="Rounded Rectangle 52"/>
          <p:cNvSpPr/>
          <p:nvPr/>
        </p:nvSpPr>
        <p:spPr>
          <a:xfrm>
            <a:off x="7955279" y="5239512"/>
            <a:ext cx="3566160" cy="777240"/>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Oval 53"/>
          <p:cNvSpPr/>
          <p:nvPr/>
        </p:nvSpPr>
        <p:spPr>
          <a:xfrm>
            <a:off x="8174736" y="5385816"/>
            <a:ext cx="146304" cy="146304"/>
          </a:xfrm>
          <a:prstGeom prst="ellipse">
            <a:avLst/>
          </a:prstGeom>
          <a:solidFill>
            <a:srgbClr val="6B7A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430767" y="5340096"/>
            <a:ext cx="2926080" cy="237744"/>
          </a:xfrm>
          <a:prstGeom prst="rect">
            <a:avLst/>
          </a:prstGeom>
          <a:noFill/>
        </p:spPr>
        <p:txBody>
          <a:bodyPr wrap="square" anchor="t" lIns="0" rIns="0" tIns="0" bIns="0">
            <a:spAutoFit/>
          </a:bodyPr>
          <a:lstStyle/>
          <a:p>
            <a:pPr algn="l"/>
            <a:r>
              <a:rPr sz="1150" b="1">
                <a:solidFill>
                  <a:srgbClr val="EEF2F7"/>
                </a:solidFill>
                <a:latin typeface="Calibri"/>
              </a:rPr>
              <a:t>Audit</a:t>
            </a:r>
          </a:p>
        </p:txBody>
      </p:sp>
      <p:sp>
        <p:nvSpPr>
          <p:cNvPr id="56" name="TextBox 55"/>
          <p:cNvSpPr txBox="1"/>
          <p:nvPr/>
        </p:nvSpPr>
        <p:spPr>
          <a:xfrm>
            <a:off x="8174736" y="5605272"/>
            <a:ext cx="3154680" cy="365760"/>
          </a:xfrm>
          <a:prstGeom prst="rect">
            <a:avLst/>
          </a:prstGeom>
          <a:noFill/>
        </p:spPr>
        <p:txBody>
          <a:bodyPr wrap="square" anchor="t" lIns="0" rIns="0" tIns="0" bIns="0">
            <a:spAutoFit/>
          </a:bodyPr>
          <a:lstStyle/>
          <a:p>
            <a:pPr algn="l">
              <a:lnSpc>
                <a:spcPts val="1300"/>
              </a:lnSpc>
            </a:pPr>
            <a:r>
              <a:rPr sz="950" b="0">
                <a:solidFill>
                  <a:srgbClr val="9AA8BA"/>
                </a:solidFill>
                <a:latin typeface="Calibri"/>
              </a:rPr>
              <a:t>One correlation id threads every model call, guardrail and routing decision.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319"/>
        </a:solidFill>
        <a:effectLst/>
      </p:bgPr>
    </p:bg>
    <p:spTree>
      <p:nvGrpSpPr>
        <p:cNvPr id="1" name=""/>
        <p:cNvGrpSpPr/>
        <p:nvPr/>
      </p:nvGrpSpPr>
      <p:grpSpPr/>
      <p:sp>
        <p:nvSpPr>
          <p:cNvPr id="2" name="TextBox 1"/>
          <p:cNvSpPr txBox="1"/>
          <p:nvPr/>
        </p:nvSpPr>
        <p:spPr>
          <a:xfrm>
            <a:off x="548640" y="457200"/>
            <a:ext cx="11064240" cy="585216"/>
          </a:xfrm>
          <a:prstGeom prst="rect">
            <a:avLst/>
          </a:prstGeom>
          <a:noFill/>
        </p:spPr>
        <p:txBody>
          <a:bodyPr wrap="square" anchor="t" lIns="0" rIns="0" tIns="0" bIns="0">
            <a:spAutoFit/>
          </a:bodyPr>
          <a:lstStyle/>
          <a:p>
            <a:pPr algn="l"/>
            <a:r>
              <a:rPr sz="2900" b="1">
                <a:solidFill>
                  <a:srgbClr val="EEF2F7"/>
                </a:solidFill>
                <a:latin typeface="Arial"/>
              </a:rPr>
              <a:t>It is deployed, and you can check it yourself</a:t>
            </a:r>
          </a:p>
        </p:txBody>
      </p:sp>
      <p:sp>
        <p:nvSpPr>
          <p:cNvPr id="3" name="TextBox 2"/>
          <p:cNvSpPr txBox="1"/>
          <p:nvPr/>
        </p:nvSpPr>
        <p:spPr>
          <a:xfrm>
            <a:off x="548640" y="1060704"/>
            <a:ext cx="11064240" cy="329184"/>
          </a:xfrm>
          <a:prstGeom prst="rect">
            <a:avLst/>
          </a:prstGeom>
          <a:noFill/>
        </p:spPr>
        <p:txBody>
          <a:bodyPr wrap="square" anchor="t" lIns="0" rIns="0" tIns="0" bIns="0">
            <a:spAutoFit/>
          </a:bodyPr>
          <a:lstStyle/>
          <a:p>
            <a:pPr algn="l"/>
            <a:r>
              <a:rPr sz="1400" b="0">
                <a:solidFill>
                  <a:srgbClr val="9AA8BA"/>
                </a:solidFill>
                <a:latin typeface="Calibri"/>
              </a:rPr>
              <a:t>Every denial below is produced by Google Cloud, not by our application code</a:t>
            </a:r>
          </a:p>
        </p:txBody>
      </p:sp>
      <p:sp>
        <p:nvSpPr>
          <p:cNvPr id="4" name="Rounded Rectangle 3"/>
          <p:cNvSpPr/>
          <p:nvPr/>
        </p:nvSpPr>
        <p:spPr>
          <a:xfrm>
            <a:off x="548640" y="1600200"/>
            <a:ext cx="6949440" cy="2240280"/>
          </a:xfrm>
          <a:prstGeom prst="roundRect">
            <a:avLst>
              <a:gd name="adj" fmla="val 6000"/>
            </a:avLst>
          </a:prstGeom>
          <a:solidFill>
            <a:srgbClr val="1E2735"/>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868680" y="1792224"/>
            <a:ext cx="6309360" cy="274320"/>
          </a:xfrm>
          <a:prstGeom prst="rect">
            <a:avLst/>
          </a:prstGeom>
          <a:noFill/>
        </p:spPr>
        <p:txBody>
          <a:bodyPr wrap="square" anchor="t" lIns="0" rIns="0" tIns="0" bIns="0">
            <a:spAutoFit/>
          </a:bodyPr>
          <a:lstStyle/>
          <a:p>
            <a:pPr algn="l"/>
            <a:r>
              <a:rPr sz="1300" b="1">
                <a:solidFill>
                  <a:srgbClr val="EEF2F7"/>
                </a:solidFill>
                <a:latin typeface="Calibri"/>
              </a:rPr>
              <a:t>Run these against the live system</a:t>
            </a:r>
          </a:p>
        </p:txBody>
      </p:sp>
      <p:sp>
        <p:nvSpPr>
          <p:cNvPr id="6" name="TextBox 5"/>
          <p:cNvSpPr txBox="1"/>
          <p:nvPr/>
        </p:nvSpPr>
        <p:spPr>
          <a:xfrm>
            <a:off x="868680" y="2194560"/>
            <a:ext cx="6309360" cy="1280160"/>
          </a:xfrm>
          <a:prstGeom prst="rect">
            <a:avLst/>
          </a:prstGeom>
          <a:noFill/>
        </p:spPr>
        <p:txBody>
          <a:bodyPr wrap="square" anchor="t" lIns="0" rIns="0" tIns="0" bIns="0">
            <a:spAutoFit/>
          </a:bodyPr>
          <a:lstStyle/>
          <a:p>
            <a:pPr algn="l">
              <a:lnSpc>
                <a:spcPts val="2200"/>
              </a:lnSpc>
            </a:pPr>
            <a:r>
              <a:rPr sz="1150" b="0">
                <a:solidFill>
                  <a:srgbClr val="34D399"/>
                </a:solidFill>
                <a:latin typeface="Courier New"/>
              </a:rPr>
              <a:t>bash infra/iam/03_verify_isolation.sh    14 isolation checks</a:t>
            </a:r>
          </a:p>
          <a:p>
            <a:pPr algn="l">
              <a:lnSpc>
                <a:spcPts val="2200"/>
              </a:lnSpc>
            </a:pPr>
            <a:r>
              <a:rPr sz="1150" b="0">
                <a:solidFill>
                  <a:srgbClr val="34D399"/>
                </a:solidFill>
                <a:latin typeface="Courier New"/>
              </a:rPr>
              <a:t>bash scripts/demo_denial.sh              7 live denials, every layer</a:t>
            </a:r>
          </a:p>
          <a:p>
            <a:pPr algn="l">
              <a:lnSpc>
                <a:spcPts val="2200"/>
              </a:lnSpc>
            </a:pPr>
            <a:r>
              <a:rPr sz="1150" b="0">
                <a:solidFill>
                  <a:srgbClr val="34D399"/>
                </a:solidFill>
                <a:latin typeface="Courier New"/>
              </a:rPr>
              <a:t>python -m scripts.demo_guardrails        6 guardrail assertions</a:t>
            </a:r>
          </a:p>
        </p:txBody>
      </p:sp>
      <p:sp>
        <p:nvSpPr>
          <p:cNvPr id="7" name="TextBox 6"/>
          <p:cNvSpPr txBox="1"/>
          <p:nvPr/>
        </p:nvSpPr>
        <p:spPr>
          <a:xfrm>
            <a:off x="868680" y="3493008"/>
            <a:ext cx="6309360" cy="274320"/>
          </a:xfrm>
          <a:prstGeom prst="rect">
            <a:avLst/>
          </a:prstGeom>
          <a:noFill/>
        </p:spPr>
        <p:txBody>
          <a:bodyPr wrap="square" anchor="t" lIns="0" rIns="0" tIns="0" bIns="0">
            <a:spAutoFit/>
          </a:bodyPr>
          <a:lstStyle/>
          <a:p>
            <a:pPr algn="l"/>
            <a:r>
              <a:rPr sz="1100" b="0">
                <a:solidFill>
                  <a:srgbClr val="6B7A8D"/>
                </a:solidFill>
                <a:latin typeface="Calibri"/>
              </a:rPr>
              <a:t>The orchestrator is incapable of reading facility data. That is a platform property.</a:t>
            </a:r>
          </a:p>
        </p:txBody>
      </p:sp>
      <p:sp>
        <p:nvSpPr>
          <p:cNvPr id="8" name="Rounded Rectangle 7"/>
          <p:cNvSpPr/>
          <p:nvPr/>
        </p:nvSpPr>
        <p:spPr>
          <a:xfrm>
            <a:off x="7772400" y="1600200"/>
            <a:ext cx="3840480" cy="658368"/>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0" y="1783080"/>
            <a:ext cx="1828800" cy="292608"/>
          </a:xfrm>
          <a:prstGeom prst="rect">
            <a:avLst/>
          </a:prstGeom>
          <a:noFill/>
        </p:spPr>
        <p:txBody>
          <a:bodyPr wrap="square" anchor="t" lIns="0" rIns="0" tIns="0" bIns="0">
            <a:spAutoFit/>
          </a:bodyPr>
          <a:lstStyle/>
          <a:p>
            <a:pPr algn="l"/>
            <a:r>
              <a:rPr sz="1150" b="0">
                <a:solidFill>
                  <a:srgbClr val="9AA8BA"/>
                </a:solidFill>
                <a:latin typeface="Calibri"/>
              </a:rPr>
              <a:t>Cloud Run services</a:t>
            </a:r>
          </a:p>
        </p:txBody>
      </p:sp>
      <p:sp>
        <p:nvSpPr>
          <p:cNvPr id="10" name="TextBox 9"/>
          <p:cNvSpPr txBox="1"/>
          <p:nvPr/>
        </p:nvSpPr>
        <p:spPr>
          <a:xfrm>
            <a:off x="10058400" y="1728216"/>
            <a:ext cx="1280160" cy="384048"/>
          </a:xfrm>
          <a:prstGeom prst="rect">
            <a:avLst/>
          </a:prstGeom>
          <a:noFill/>
        </p:spPr>
        <p:txBody>
          <a:bodyPr wrap="square" anchor="t" lIns="0" rIns="0" tIns="0" bIns="0">
            <a:spAutoFit/>
          </a:bodyPr>
          <a:lstStyle/>
          <a:p>
            <a:pPr algn="r"/>
            <a:r>
              <a:rPr sz="1900" b="1">
                <a:solidFill>
                  <a:srgbClr val="4DD6FF"/>
                </a:solidFill>
                <a:latin typeface="Arial"/>
              </a:rPr>
              <a:t>7</a:t>
            </a:r>
          </a:p>
        </p:txBody>
      </p:sp>
      <p:sp>
        <p:nvSpPr>
          <p:cNvPr id="11" name="Rounded Rectangle 10"/>
          <p:cNvSpPr/>
          <p:nvPr/>
        </p:nvSpPr>
        <p:spPr>
          <a:xfrm>
            <a:off x="7772400" y="2368296"/>
            <a:ext cx="3840480" cy="658368"/>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046720" y="2551176"/>
            <a:ext cx="1828800" cy="292608"/>
          </a:xfrm>
          <a:prstGeom prst="rect">
            <a:avLst/>
          </a:prstGeom>
          <a:noFill/>
        </p:spPr>
        <p:txBody>
          <a:bodyPr wrap="square" anchor="t" lIns="0" rIns="0" tIns="0" bIns="0">
            <a:spAutoFit/>
          </a:bodyPr>
          <a:lstStyle/>
          <a:p>
            <a:pPr algn="l"/>
            <a:r>
              <a:rPr sz="1150" b="0">
                <a:solidFill>
                  <a:srgbClr val="9AA8BA"/>
                </a:solidFill>
                <a:latin typeface="Calibri"/>
              </a:rPr>
              <a:t>Security checks passing</a:t>
            </a:r>
          </a:p>
        </p:txBody>
      </p:sp>
      <p:sp>
        <p:nvSpPr>
          <p:cNvPr id="13" name="TextBox 12"/>
          <p:cNvSpPr txBox="1"/>
          <p:nvPr/>
        </p:nvSpPr>
        <p:spPr>
          <a:xfrm>
            <a:off x="10058400" y="2496312"/>
            <a:ext cx="1280160" cy="384048"/>
          </a:xfrm>
          <a:prstGeom prst="rect">
            <a:avLst/>
          </a:prstGeom>
          <a:noFill/>
        </p:spPr>
        <p:txBody>
          <a:bodyPr wrap="square" anchor="t" lIns="0" rIns="0" tIns="0" bIns="0">
            <a:spAutoFit/>
          </a:bodyPr>
          <a:lstStyle/>
          <a:p>
            <a:pPr algn="r"/>
            <a:r>
              <a:rPr sz="1900" b="1">
                <a:solidFill>
                  <a:srgbClr val="34D399"/>
                </a:solidFill>
                <a:latin typeface="Arial"/>
              </a:rPr>
              <a:t>21</a:t>
            </a:r>
          </a:p>
        </p:txBody>
      </p:sp>
      <p:sp>
        <p:nvSpPr>
          <p:cNvPr id="14" name="Rounded Rectangle 13"/>
          <p:cNvSpPr/>
          <p:nvPr/>
        </p:nvSpPr>
        <p:spPr>
          <a:xfrm>
            <a:off x="7772400" y="3136391"/>
            <a:ext cx="3840480" cy="658368"/>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046720" y="3319272"/>
            <a:ext cx="1828800" cy="292608"/>
          </a:xfrm>
          <a:prstGeom prst="rect">
            <a:avLst/>
          </a:prstGeom>
          <a:noFill/>
        </p:spPr>
        <p:txBody>
          <a:bodyPr wrap="square" anchor="t" lIns="0" rIns="0" tIns="0" bIns="0">
            <a:spAutoFit/>
          </a:bodyPr>
          <a:lstStyle/>
          <a:p>
            <a:pPr algn="l"/>
            <a:r>
              <a:rPr sz="1150" b="0">
                <a:solidFill>
                  <a:srgbClr val="9AA8BA"/>
                </a:solidFill>
                <a:latin typeface="Calibri"/>
              </a:rPr>
              <a:t>GEAP capabilities built</a:t>
            </a:r>
          </a:p>
        </p:txBody>
      </p:sp>
      <p:sp>
        <p:nvSpPr>
          <p:cNvPr id="16" name="TextBox 15"/>
          <p:cNvSpPr txBox="1"/>
          <p:nvPr/>
        </p:nvSpPr>
        <p:spPr>
          <a:xfrm>
            <a:off x="10058400" y="3264408"/>
            <a:ext cx="1280160" cy="384048"/>
          </a:xfrm>
          <a:prstGeom prst="rect">
            <a:avLst/>
          </a:prstGeom>
          <a:noFill/>
        </p:spPr>
        <p:txBody>
          <a:bodyPr wrap="square" anchor="t" lIns="0" rIns="0" tIns="0" bIns="0">
            <a:spAutoFit/>
          </a:bodyPr>
          <a:lstStyle/>
          <a:p>
            <a:pPr algn="r"/>
            <a:r>
              <a:rPr sz="1900" b="1">
                <a:solidFill>
                  <a:srgbClr val="A78BFA"/>
                </a:solidFill>
                <a:latin typeface="Arial"/>
              </a:rPr>
              <a:t>6 of 7</a:t>
            </a:r>
          </a:p>
        </p:txBody>
      </p:sp>
      <p:sp>
        <p:nvSpPr>
          <p:cNvPr id="17" name="Rounded Rectangle 16"/>
          <p:cNvSpPr/>
          <p:nvPr/>
        </p:nvSpPr>
        <p:spPr>
          <a:xfrm>
            <a:off x="548640" y="4069080"/>
            <a:ext cx="11064240" cy="1874519"/>
          </a:xfrm>
          <a:prstGeom prst="roundRect">
            <a:avLst>
              <a:gd name="adj" fmla="val 6000"/>
            </a:avLst>
          </a:prstGeom>
          <a:solidFill>
            <a:srgbClr val="18202C"/>
          </a:solidFill>
          <a:ln w="12700">
            <a:solidFill>
              <a:srgbClr val="2A354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8680" y="4261104"/>
            <a:ext cx="10424160" cy="274320"/>
          </a:xfrm>
          <a:prstGeom prst="rect">
            <a:avLst/>
          </a:prstGeom>
          <a:noFill/>
        </p:spPr>
        <p:txBody>
          <a:bodyPr wrap="square" anchor="t" lIns="0" rIns="0" tIns="0" bIns="0">
            <a:spAutoFit/>
          </a:bodyPr>
          <a:lstStyle/>
          <a:p>
            <a:pPr algn="l"/>
            <a:r>
              <a:rPr sz="1200" b="0">
                <a:solidFill>
                  <a:srgbClr val="6B7A8D"/>
                </a:solidFill>
                <a:latin typeface="Calibri"/>
              </a:rPr>
              <a:t>Stated plainly</a:t>
            </a:r>
          </a:p>
        </p:txBody>
      </p:sp>
      <p:sp>
        <p:nvSpPr>
          <p:cNvPr id="19" name="TextBox 18"/>
          <p:cNvSpPr txBox="1"/>
          <p:nvPr/>
        </p:nvSpPr>
        <p:spPr>
          <a:xfrm>
            <a:off x="868680" y="4590288"/>
            <a:ext cx="5120640" cy="1188720"/>
          </a:xfrm>
          <a:prstGeom prst="rect">
            <a:avLst/>
          </a:prstGeom>
          <a:noFill/>
        </p:spPr>
        <p:txBody>
          <a:bodyPr wrap="square" anchor="t" lIns="0" rIns="0" tIns="0" bIns="0">
            <a:spAutoFit/>
          </a:bodyPr>
          <a:lstStyle/>
          <a:p>
            <a:pPr algn="l">
              <a:lnSpc>
                <a:spcPts val="1700"/>
              </a:lnSpc>
            </a:pPr>
            <a:r>
              <a:rPr sz="1200" b="0">
                <a:solidFill>
                  <a:srgbClr val="9AA8BA"/>
                </a:solidFill>
                <a:latin typeface="Calibri"/>
              </a:rPr>
              <a:t>The facility is simulated. The agents, the infrastructure, the isolation and every denial shown are real. The data center is generated from published engineering figures, physically consistent, reproducible from a fixed seed.</a:t>
            </a:r>
          </a:p>
        </p:txBody>
      </p:sp>
      <p:sp>
        <p:nvSpPr>
          <p:cNvPr id="20" name="TextBox 19"/>
          <p:cNvSpPr txBox="1"/>
          <p:nvPr/>
        </p:nvSpPr>
        <p:spPr>
          <a:xfrm>
            <a:off x="6309360" y="4590288"/>
            <a:ext cx="5029200" cy="1188720"/>
          </a:xfrm>
          <a:prstGeom prst="rect">
            <a:avLst/>
          </a:prstGeom>
          <a:noFill/>
        </p:spPr>
        <p:txBody>
          <a:bodyPr wrap="square" anchor="t" lIns="0" rIns="0" tIns="0" bIns="0">
            <a:spAutoFit/>
          </a:bodyPr>
          <a:lstStyle/>
          <a:p>
            <a:pPr algn="l">
              <a:lnSpc>
                <a:spcPts val="1700"/>
              </a:lnSpc>
            </a:pPr>
            <a:r>
              <a:rPr sz="1200" b="0">
                <a:solidFill>
                  <a:srgbClr val="9AA8BA"/>
                </a:solidFill>
                <a:latin typeface="Calibri"/>
              </a:rPr>
              <a:t>How these decisions actually get made inside an operations team is something we would need to learn by shadowing one, not by writing a seed file. That is the honest boundary of what we built.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319"/>
        </a:solidFill>
        <a:effectLst/>
      </p:bgPr>
    </p:bg>
    <p:spTree>
      <p:nvGrpSpPr>
        <p:cNvPr id="1" name=""/>
        <p:cNvGrpSpPr/>
        <p:nvPr/>
      </p:nvGrpSpPr>
      <p:grpSpPr/>
      <p:sp>
        <p:nvSpPr>
          <p:cNvPr id="2" name="TextBox 1"/>
          <p:cNvSpPr txBox="1"/>
          <p:nvPr/>
        </p:nvSpPr>
        <p:spPr>
          <a:xfrm>
            <a:off x="822960" y="2103120"/>
            <a:ext cx="10515600" cy="1280160"/>
          </a:xfrm>
          <a:prstGeom prst="rect">
            <a:avLst/>
          </a:prstGeom>
          <a:noFill/>
        </p:spPr>
        <p:txBody>
          <a:bodyPr wrap="square" anchor="t" lIns="0" rIns="0" tIns="0" bIns="0">
            <a:spAutoFit/>
          </a:bodyPr>
          <a:lstStyle/>
          <a:p>
            <a:pPr algn="l">
              <a:lnSpc>
                <a:spcPts val="4200"/>
              </a:lnSpc>
            </a:pPr>
            <a:r>
              <a:rPr sz="2900" b="1">
                <a:solidFill>
                  <a:srgbClr val="EEF2F7"/>
                </a:solidFill>
                <a:latin typeface="Arial"/>
              </a:rPr>
              <a:t>Four correct answers still add up to nothing</a:t>
            </a:r>
          </a:p>
          <a:p>
            <a:pPr algn="l">
              <a:lnSpc>
                <a:spcPts val="4200"/>
              </a:lnSpc>
            </a:pPr>
            <a:r>
              <a:rPr sz="2900" b="1">
                <a:solidFill>
                  <a:srgbClr val="EEF2F7"/>
                </a:solidFill>
                <a:latin typeface="Arial"/>
              </a:rPr>
              <a:t>unless something checks them together.</a:t>
            </a:r>
          </a:p>
        </p:txBody>
      </p:sp>
      <p:sp>
        <p:nvSpPr>
          <p:cNvPr id="3" name="TextBox 2"/>
          <p:cNvSpPr txBox="1"/>
          <p:nvPr/>
        </p:nvSpPr>
        <p:spPr>
          <a:xfrm>
            <a:off x="868680" y="3611880"/>
            <a:ext cx="10424160" cy="365760"/>
          </a:xfrm>
          <a:prstGeom prst="rect">
            <a:avLst/>
          </a:prstGeom>
          <a:noFill/>
        </p:spPr>
        <p:txBody>
          <a:bodyPr wrap="square" anchor="t" lIns="0" rIns="0" tIns="0" bIns="0">
            <a:spAutoFit/>
          </a:bodyPr>
          <a:lstStyle/>
          <a:p>
            <a:pPr algn="l"/>
            <a:r>
              <a:rPr sz="1600" b="0">
                <a:solidFill>
                  <a:srgbClr val="4DD6FF"/>
                </a:solidFill>
                <a:latin typeface="Calibri"/>
              </a:rPr>
              <a:t>GridMind, capacity planning for high-density data centers</a:t>
            </a:r>
          </a:p>
        </p:txBody>
      </p:sp>
      <p:sp>
        <p:nvSpPr>
          <p:cNvPr id="4" name="TextBox 3"/>
          <p:cNvSpPr txBox="1"/>
          <p:nvPr/>
        </p:nvSpPr>
        <p:spPr>
          <a:xfrm>
            <a:off x="822960" y="4526280"/>
            <a:ext cx="3383280" cy="256032"/>
          </a:xfrm>
          <a:prstGeom prst="rect">
            <a:avLst/>
          </a:prstGeom>
          <a:noFill/>
        </p:spPr>
        <p:txBody>
          <a:bodyPr wrap="square" anchor="t" lIns="0" rIns="0" tIns="0" bIns="0">
            <a:spAutoFit/>
          </a:bodyPr>
          <a:lstStyle/>
          <a:p>
            <a:pPr algn="l"/>
            <a:r>
              <a:rPr sz="1100" b="0">
                <a:solidFill>
                  <a:srgbClr val="6B7A8D"/>
                </a:solidFill>
                <a:latin typeface="Calibri"/>
              </a:rPr>
              <a:t>Live</a:t>
            </a:r>
          </a:p>
        </p:txBody>
      </p:sp>
      <p:sp>
        <p:nvSpPr>
          <p:cNvPr id="5" name="TextBox 4"/>
          <p:cNvSpPr txBox="1"/>
          <p:nvPr/>
        </p:nvSpPr>
        <p:spPr>
          <a:xfrm>
            <a:off x="822960" y="4773168"/>
            <a:ext cx="3474720" cy="292608"/>
          </a:xfrm>
          <a:prstGeom prst="rect">
            <a:avLst/>
          </a:prstGeom>
          <a:noFill/>
        </p:spPr>
        <p:txBody>
          <a:bodyPr wrap="square" anchor="t" lIns="0" rIns="0" tIns="0" bIns="0">
            <a:spAutoFit/>
          </a:bodyPr>
          <a:lstStyle/>
          <a:p>
            <a:pPr algn="l"/>
            <a:r>
              <a:rPr sz="1300" b="1">
                <a:solidFill>
                  <a:srgbClr val="EEF2F7"/>
                </a:solidFill>
                <a:latin typeface="Calibri"/>
              </a:rPr>
              <a:t>gridmind-wuvfpvopoq-uk.a.run.app</a:t>
            </a:r>
          </a:p>
        </p:txBody>
      </p:sp>
      <p:sp>
        <p:nvSpPr>
          <p:cNvPr id="6" name="TextBox 5"/>
          <p:cNvSpPr txBox="1"/>
          <p:nvPr/>
        </p:nvSpPr>
        <p:spPr>
          <a:xfrm>
            <a:off x="4480560" y="4526280"/>
            <a:ext cx="3383280" cy="256032"/>
          </a:xfrm>
          <a:prstGeom prst="rect">
            <a:avLst/>
          </a:prstGeom>
          <a:noFill/>
        </p:spPr>
        <p:txBody>
          <a:bodyPr wrap="square" anchor="t" lIns="0" rIns="0" tIns="0" bIns="0">
            <a:spAutoFit/>
          </a:bodyPr>
          <a:lstStyle/>
          <a:p>
            <a:pPr algn="l"/>
            <a:r>
              <a:rPr sz="1100" b="0">
                <a:solidFill>
                  <a:srgbClr val="6B7A8D"/>
                </a:solidFill>
                <a:latin typeface="Calibri"/>
              </a:rPr>
              <a:t>Code</a:t>
            </a:r>
          </a:p>
        </p:txBody>
      </p:sp>
      <p:sp>
        <p:nvSpPr>
          <p:cNvPr id="7" name="TextBox 6"/>
          <p:cNvSpPr txBox="1"/>
          <p:nvPr/>
        </p:nvSpPr>
        <p:spPr>
          <a:xfrm>
            <a:off x="4480560" y="4773168"/>
            <a:ext cx="3474720" cy="292608"/>
          </a:xfrm>
          <a:prstGeom prst="rect">
            <a:avLst/>
          </a:prstGeom>
          <a:noFill/>
        </p:spPr>
        <p:txBody>
          <a:bodyPr wrap="square" anchor="t" lIns="0" rIns="0" tIns="0" bIns="0">
            <a:spAutoFit/>
          </a:bodyPr>
          <a:lstStyle/>
          <a:p>
            <a:pPr algn="l"/>
            <a:r>
              <a:rPr sz="1300" b="1">
                <a:solidFill>
                  <a:srgbClr val="EEF2F7"/>
                </a:solidFill>
                <a:latin typeface="Calibri"/>
              </a:rPr>
              <a:t>github.com/PRACHIT27/GridMindAI</a:t>
            </a:r>
          </a:p>
        </p:txBody>
      </p:sp>
      <p:sp>
        <p:nvSpPr>
          <p:cNvPr id="8" name="TextBox 7"/>
          <p:cNvSpPr txBox="1"/>
          <p:nvPr/>
        </p:nvSpPr>
        <p:spPr>
          <a:xfrm>
            <a:off x="8138160" y="4526280"/>
            <a:ext cx="3383280" cy="256032"/>
          </a:xfrm>
          <a:prstGeom prst="rect">
            <a:avLst/>
          </a:prstGeom>
          <a:noFill/>
        </p:spPr>
        <p:txBody>
          <a:bodyPr wrap="square" anchor="t" lIns="0" rIns="0" tIns="0" bIns="0">
            <a:spAutoFit/>
          </a:bodyPr>
          <a:lstStyle/>
          <a:p>
            <a:pPr algn="l"/>
            <a:r>
              <a:rPr sz="1100" b="0">
                <a:solidFill>
                  <a:srgbClr val="6B7A8D"/>
                </a:solidFill>
                <a:latin typeface="Calibri"/>
              </a:rPr>
              <a:t>Track</a:t>
            </a:r>
          </a:p>
        </p:txBody>
      </p:sp>
      <p:sp>
        <p:nvSpPr>
          <p:cNvPr id="9" name="TextBox 8"/>
          <p:cNvSpPr txBox="1"/>
          <p:nvPr/>
        </p:nvSpPr>
        <p:spPr>
          <a:xfrm>
            <a:off x="8138160" y="4773168"/>
            <a:ext cx="3474720" cy="292608"/>
          </a:xfrm>
          <a:prstGeom prst="rect">
            <a:avLst/>
          </a:prstGeom>
          <a:noFill/>
        </p:spPr>
        <p:txBody>
          <a:bodyPr wrap="square" anchor="t" lIns="0" rIns="0" tIns="0" bIns="0">
            <a:spAutoFit/>
          </a:bodyPr>
          <a:lstStyle/>
          <a:p>
            <a:pPr algn="l"/>
            <a:r>
              <a:rPr sz="1300" b="1">
                <a:solidFill>
                  <a:srgbClr val="EEF2F7"/>
                </a:solidFill>
                <a:latin typeface="Calibri"/>
              </a:rPr>
              <a:t>The Fortified Enterprise Fleet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